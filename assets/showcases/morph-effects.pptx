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698fd1a2f9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本册将八类对象模式示例合并为四组双栏状态对，每组仅在结果页设置一次原生 byObject Morph；两栏对象在同一转场内同时移动。词语与字符匹配由整页转场选项决定，分别保留独立状态对。共十四页、十类效果、六次原生 Morph 转场。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全局与局部 · 聚焦窗口。初始状态。两栏在同一次 byObject Morph 中并行变化。原始形状均以 !!名称成对保留；文字与布局按双栏观看尺寸重排。六个模块形成整体关系。 窗口标出左上观察区域。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全局与局部 · 聚焦窗口。结果状态。两栏在同一次 byObject Morph 中并行变化。原始形状均以 !!名称成对保留；文字与布局按双栏观看尺寸重排。模块 6 放大，其他模块仍可定位。 窗口移到右下，底层网格保持不动。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分层视差 · 卡片轮播。初始状态。两栏在同一次 byObject Morph 中并行变化。原始形状均以 !!名称成对保留；文字与布局按双栏观看尺寸重排。远、中、近景位于不同层次。 第三张卡片处于焦点。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分层视差 · 卡片轮播。结果状态。两栏在同一次 byObject Morph 中并行变化。原始形状均以 !!名称成对保留；文字与布局按双栏观看尺寸重排。近景位移大，远景位移小。 第四张卡片放大，焦点随之转移。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形状旋转 · 层叠分解。初始状态。两栏在同一次 byObject Morph 中并行变化。原始形状均以 !!名称成对保留；文字与布局按双栏观看尺寸重排。方形与箭头处于初始状态。 三个平面叠放，层名保持可读。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形状旋转 · 层叠分解。结果状态。两栏在同一次 byObject Morph 中并行变化。原始形状均以 !!名称成对保留；文字与布局按双栏观看尺寸重排。方形转为椭圆，箭头旋转半周。 输入、变换、输出三层依次分开。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公式移项 · 数据标记。初始状态。两栏在同一次 byObject Morph 中并行变化。原始形状均以 !!名称成对保留；文字与布局按双栏观看尺寸重排。等式为 y = wx + b。 演示值为 40、55、70。 公式由六个独立可编辑的符号文本框组成，展示对象移项，不是 Office Math 对象或公式求解器。 柱形为独立形状；演示值不是原生图表数据插值。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公式移项 · 数据标记。结果状态。两栏在同一次 byObject Morph 中并行变化。原始形状均以 !!名称成对保留；文字与布局按双栏观看尺寸重排。等式重排为 y − b = wx。 演示值更新为 65、80、58。 公式由六个独立可编辑的符号文本框组成，展示对象移项，不是 Office Math 对象或公式求解器。 柱形为独立形状；演示值不是原生图表数据插值。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词语重排。初始状态。整页原生 Morph 选项为 byWord。主文本框保留原始 !!身份与原文；页面其余文字两端保持稳定，不另复制英文演示词或字母。句子仅含三个词语；停靠状态用于阅读，运动途中可能交叉。 本例不能证明无空格中文的自动分词行为。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词语重排。结果状态。整页原生 Morph 选项为 byWord。主文本框保留原始 !!身份与原文；页面其余文字两端保持稳定，不另复制英文演示词或字母。句子仅含三个词语；停靠状态用于阅读，运动途中可能交叉。 本例不能证明无空格中文的自动分词行为。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字符重排。初始状态。整页原生 Morph 选项为 byChar。主文本框保留原始 !!身份与原文；页面其余文字两端保持稳定，不另复制英文演示词或字母。字符集合保持一致；重复字符和断行需要在目标播放器中单独检查。 本例使用不重复的六个拉丁字母，不能证明重复字符可被唯一对应。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字符重排。结果状态。整页原生 Morph 选项为 byChar。主文本框保留原始 !!身份与原文；页面其余文字两端保持稳定，不另复制英文演示词或字母。字符集合保持一致；重复字符和断行需要在目标播放器中单独检查。 本例使用不重复的六个拉丁字母，不能证明重复字符可被唯一对应。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十四页紧凑版保留十类原生效果。词语与字符模式的路径由播放器计算，中途可能交叠；静态页面无法替代放映验收。对象对应依赖跨页一致的 !!名称；页内数值 ID 仅用于本页对象引用。参考来源沿用原22页文件中的微软官方链接。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原始22页参考的几何与文字已提取为 semantic baseline.json；本册按阅读尺度重排，不以缩小整页实现压缩。全部示例对象保持可编辑。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https://support.microsoft.com/en-us/powerpoint/use-the-morph-transition-in-powerpoint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/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https://support.microsoft.com/en-us/powerpoint/morph-transition-tips-and-tricks</a:t>
            </a:r>
            <a:endParaRPr lang="zh-CN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84ec0427e41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e28f12df44d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0a29960eb4d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6b5459ceb49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fcdf88b784a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01118aac7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CE4551-8081-4FAF-8D01-5DC39E49A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39391F-A1B1-479B-B764-3FBB2C9D3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1C21D5-64B6-4184-B99A-AF41B86D7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05D146-56C6-431F-A172-320A7F412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131817-153A-4FB9-B1A7-9E2117AEF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31F556-B4E3-4B8B-AAF0-D1794B172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4F2A0C-0E08-452B-BE84-C0C555283A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2899F0-6EF3-4D86-A45D-5AFEA0044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FB00F-2ADC-489B-B48C-07A7BC269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3A49A2-F061-40D3-92F3-EE081622B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1204dd6e14f92" /><Relationship Type="http://schemas.openxmlformats.org/officeDocument/2006/relationships/slideLayout" Target="/ppt/slideLayouts/slideLayout1.xml" Id="R4c9fbff4d154488c" /><Relationship Type="http://schemas.openxmlformats.org/officeDocument/2006/relationships/slideLayout" Target="/ppt/slideLayouts/slideLayout2.xml" Id="R0aea2a2bc593403e" /><Relationship Type="http://schemas.openxmlformats.org/officeDocument/2006/relationships/slideLayout" Target="/ppt/slideLayouts/slideLayout3.xml" Id="R3f3d61f5a0c24e61" /><Relationship Type="http://schemas.openxmlformats.org/officeDocument/2006/relationships/slideLayout" Target="/ppt/slideLayouts/slideLayout4.xml" Id="Rd142328ac1214ff9" /><Relationship Type="http://schemas.openxmlformats.org/officeDocument/2006/relationships/slideLayout" Target="/ppt/slideLayouts/slideLayout5.xml" Id="Rfbd490c750d34d48" /><Relationship Type="http://schemas.openxmlformats.org/officeDocument/2006/relationships/slideLayout" Target="/ppt/slideLayouts/slideLayout6.xml" Id="Rfbca71729b7348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fbff4d154488c"/>
    <p:sldLayoutId xmlns:r="http://schemas.openxmlformats.org/officeDocument/2006/relationships" id="2147483650" r:id="R0aea2a2bc593403e"/>
    <p:sldLayoutId xmlns:r="http://schemas.openxmlformats.org/officeDocument/2006/relationships" id="2147483651" r:id="R3f3d61f5a0c24e61"/>
    <p:sldLayoutId xmlns:r="http://schemas.openxmlformats.org/officeDocument/2006/relationships" id="2147483652" r:id="Rd142328ac1214ff9"/>
    <p:sldLayoutId xmlns:r="http://schemas.openxmlformats.org/officeDocument/2006/relationships" id="2147483653" r:id="Rfbd490c750d34d48"/>
    <p:sldLayoutId xmlns:r="http://schemas.openxmlformats.org/officeDocument/2006/relationships" id="2147483654" r:id="Rfbca71729b7348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compactSource1" Type="http://schemas.openxmlformats.org/officeDocument/2006/relationships/hyperlink" Target="https://support.microsoft.com/en-us/powerpoint/use-the-morph-transition-in-powerpoint" TargetMode="External"/><Relationship Id="compactSource2" Type="http://schemas.openxmlformats.org/officeDocument/2006/relationships/hyperlink" Target="https://support.microsoft.com/en-us/powerpoint/morph-transition-tips-and-tri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1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2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1</a:t>
            </a:r>
            <a:endParaRPr lang="zh-CN"/>
          </a:p>
        </p:txBody>
      </p:sp>
      <p:sp>
        <p:nvSpPr>
          <p:cNvPr id="4" name="header.gradient.3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4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十类平滑效果</a:t>
            </a:r>
            <a:endParaRPr lang="zh-CN"/>
          </a:p>
        </p:txBody>
      </p:sp>
      <p:sp>
        <p:nvSpPr>
          <p:cNvPr id="6" name="header.library.5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info.lead.6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7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8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9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同类效果共用一组前后状态；从初始页翻到结果页，两栏同时完成变化。</a:t>
            </a:r>
            <a:endParaRPr lang="zh-CN"/>
          </a:p>
        </p:txBody>
      </p:sp>
      <p:sp>
        <p:nvSpPr>
          <p:cNvPr id="11" name="region.reading-map.frame"/>
          <p:cNvSpPr/>
          <p:nvPr/>
        </p:nvSpPr>
        <p:spPr>
          <a:xfrm>
            <a:off x="609600" y="1809750"/>
            <a:ext cx="10972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map.band.0"/>
          <p:cNvSpPr/>
          <p:nvPr/>
        </p:nvSpPr>
        <p:spPr>
          <a:xfrm>
            <a:off x="723900" y="1933575"/>
            <a:ext cx="10744200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text.12.10"/>
          <p:cNvSpPr txBox="1"/>
          <p:nvPr/>
        </p:nvSpPr>
        <p:spPr>
          <a:xfrm>
            <a:off x="781050" y="2028825"/>
            <a:ext cx="2714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观察与聚焦</a:t>
            </a:r>
            <a:endParaRPr lang="zh-CN"/>
          </a:p>
        </p:txBody>
      </p:sp>
      <p:sp>
        <p:nvSpPr>
          <p:cNvPr id="14" name="text.13.11"/>
          <p:cNvSpPr txBox="1"/>
          <p:nvPr/>
        </p:nvSpPr>
        <p:spPr>
          <a:xfrm>
            <a:off x="3562350" y="2028825"/>
            <a:ext cx="628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全局与局部　＋　聚焦窗口</a:t>
            </a:r>
            <a:endParaRPr lang="zh-CN"/>
          </a:p>
        </p:txBody>
      </p:sp>
      <p:sp>
        <p:nvSpPr>
          <p:cNvPr id="15" name="text.14.12"/>
          <p:cNvSpPr txBox="1"/>
          <p:nvPr/>
        </p:nvSpPr>
        <p:spPr>
          <a:xfrm>
            <a:off x="9677400" y="20288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2–3 页</a:t>
            </a:r>
            <a:endParaRPr lang="zh-CN"/>
          </a:p>
        </p:txBody>
      </p:sp>
      <p:sp>
        <p:nvSpPr>
          <p:cNvPr id="16" name="map.band.1"/>
          <p:cNvSpPr/>
          <p:nvPr/>
        </p:nvSpPr>
        <p:spPr>
          <a:xfrm>
            <a:off x="723900" y="2724150"/>
            <a:ext cx="10744200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text.16.13"/>
          <p:cNvSpPr txBox="1"/>
          <p:nvPr/>
        </p:nvSpPr>
        <p:spPr>
          <a:xfrm>
            <a:off x="781050" y="2819400"/>
            <a:ext cx="2714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位移与焦点</a:t>
            </a:r>
            <a:endParaRPr lang="zh-CN"/>
          </a:p>
        </p:txBody>
      </p:sp>
      <p:sp>
        <p:nvSpPr>
          <p:cNvPr id="18" name="text.17.14"/>
          <p:cNvSpPr txBox="1"/>
          <p:nvPr/>
        </p:nvSpPr>
        <p:spPr>
          <a:xfrm>
            <a:off x="3562350" y="2819400"/>
            <a:ext cx="628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分层视差　＋　卡片轮播</a:t>
            </a:r>
            <a:endParaRPr lang="zh-CN"/>
          </a:p>
        </p:txBody>
      </p:sp>
      <p:sp>
        <p:nvSpPr>
          <p:cNvPr id="19" name="text.18.15"/>
          <p:cNvSpPr txBox="1"/>
          <p:nvPr/>
        </p:nvSpPr>
        <p:spPr>
          <a:xfrm>
            <a:off x="9677400" y="2819400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4–5 页</a:t>
            </a:r>
            <a:endParaRPr lang="zh-CN"/>
          </a:p>
        </p:txBody>
      </p:sp>
      <p:sp>
        <p:nvSpPr>
          <p:cNvPr id="20" name="map.band.2"/>
          <p:cNvSpPr/>
          <p:nvPr/>
        </p:nvSpPr>
        <p:spPr>
          <a:xfrm>
            <a:off x="723900" y="3514725"/>
            <a:ext cx="10744200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text.20.16"/>
          <p:cNvSpPr txBox="1"/>
          <p:nvPr/>
        </p:nvSpPr>
        <p:spPr>
          <a:xfrm>
            <a:off x="781050" y="3609975"/>
            <a:ext cx="2714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形状与结构</a:t>
            </a:r>
            <a:endParaRPr lang="zh-CN"/>
          </a:p>
        </p:txBody>
      </p:sp>
      <p:sp>
        <p:nvSpPr>
          <p:cNvPr id="22" name="text.21.17"/>
          <p:cNvSpPr txBox="1"/>
          <p:nvPr/>
        </p:nvSpPr>
        <p:spPr>
          <a:xfrm>
            <a:off x="3562350" y="3609975"/>
            <a:ext cx="628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形状旋转　＋　层叠分解</a:t>
            </a:r>
            <a:endParaRPr lang="zh-CN"/>
          </a:p>
        </p:txBody>
      </p:sp>
      <p:sp>
        <p:nvSpPr>
          <p:cNvPr id="23" name="text.22.18"/>
          <p:cNvSpPr txBox="1"/>
          <p:nvPr/>
        </p:nvSpPr>
        <p:spPr>
          <a:xfrm>
            <a:off x="9677400" y="360997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6–7 页</a:t>
            </a:r>
            <a:endParaRPr lang="zh-CN"/>
          </a:p>
        </p:txBody>
      </p:sp>
      <p:sp>
        <p:nvSpPr>
          <p:cNvPr id="24" name="map.band.3"/>
          <p:cNvSpPr/>
          <p:nvPr/>
        </p:nvSpPr>
        <p:spPr>
          <a:xfrm>
            <a:off x="723900" y="4305300"/>
            <a:ext cx="10744200" cy="666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text.24.19"/>
          <p:cNvSpPr txBox="1"/>
          <p:nvPr/>
        </p:nvSpPr>
        <p:spPr>
          <a:xfrm>
            <a:off x="781050" y="4400550"/>
            <a:ext cx="2714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符号与数值</a:t>
            </a:r>
            <a:endParaRPr lang="zh-CN"/>
          </a:p>
        </p:txBody>
      </p:sp>
      <p:sp>
        <p:nvSpPr>
          <p:cNvPr id="26" name="text.25.20"/>
          <p:cNvSpPr txBox="1"/>
          <p:nvPr/>
        </p:nvSpPr>
        <p:spPr>
          <a:xfrm>
            <a:off x="3562350" y="4400550"/>
            <a:ext cx="628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公式移项　＋　数据标记</a:t>
            </a:r>
            <a:endParaRPr lang="zh-CN"/>
          </a:p>
        </p:txBody>
      </p:sp>
      <p:sp>
        <p:nvSpPr>
          <p:cNvPr id="27" name="text.26.21"/>
          <p:cNvSpPr txBox="1"/>
          <p:nvPr/>
        </p:nvSpPr>
        <p:spPr>
          <a:xfrm>
            <a:off x="9677400" y="4400550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8–9 页</a:t>
            </a:r>
            <a:endParaRPr lang="zh-CN"/>
          </a:p>
        </p:txBody>
      </p:sp>
      <p:sp>
        <p:nvSpPr>
          <p:cNvPr id="28" name="map.band.4"/>
          <p:cNvSpPr/>
          <p:nvPr/>
        </p:nvSpPr>
        <p:spPr>
          <a:xfrm>
            <a:off x="723900" y="5095875"/>
            <a:ext cx="10744200" cy="666750"/>
          </a:xfrm>
          <a:prstGeom prst="rect">
            <a:avLst/>
          </a:prstGeom>
          <a:solidFill>
            <a:srgbClr val="F2F7FB"/>
          </a:solidFill>
          <a:ln w="0">
            <a:noFill/>
            <a:prstDash val="solid"/>
          </a:ln>
        </p:spPr>
      </p:sp>
      <p:sp>
        <p:nvSpPr>
          <p:cNvPr id="29" name="text.28.22"/>
          <p:cNvSpPr txBox="1"/>
          <p:nvPr/>
        </p:nvSpPr>
        <p:spPr>
          <a:xfrm>
            <a:off x="781050" y="5191125"/>
            <a:ext cx="2714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文字的匹配单位</a:t>
            </a:r>
            <a:endParaRPr lang="zh-CN"/>
          </a:p>
        </p:txBody>
      </p:sp>
      <p:sp>
        <p:nvSpPr>
          <p:cNvPr id="30" name="text.29.23"/>
          <p:cNvSpPr txBox="1"/>
          <p:nvPr/>
        </p:nvSpPr>
        <p:spPr>
          <a:xfrm>
            <a:off x="3562350" y="5191125"/>
            <a:ext cx="628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词语重排　10–11 页　｜　字符重排　12–13 页</a:t>
            </a:r>
            <a:endParaRPr lang="zh-CN"/>
          </a:p>
        </p:txBody>
      </p:sp>
      <p:sp>
        <p:nvSpPr>
          <p:cNvPr id="31" name="text.30.24"/>
          <p:cNvSpPr txBox="1"/>
          <p:nvPr/>
        </p:nvSpPr>
        <p:spPr>
          <a:xfrm>
            <a:off x="9677400" y="51911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独立页面模式</a:t>
            </a:r>
            <a:endParaRPr lang="zh-CN"/>
          </a:p>
        </p:txBody>
      </p:sp>
      <p:sp>
        <p:nvSpPr>
          <p:cNvPr id="32" name="text.31.25"/>
          <p:cNvSpPr txBox="1"/>
          <p:nvPr/>
        </p:nvSpPr>
        <p:spPr>
          <a:xfrm>
            <a:off x="762000" y="6105525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14 页保留十类效果；放映时共有 6 次原生平滑转场。</a:t>
            </a:r>
            <a:endParaRPr lang="zh-CN"/>
          </a:p>
        </p:txBody>
      </p:sp>
      <p:sp>
        <p:nvSpPr>
          <p:cNvPr id="33" name="footer.rule.201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34" name="footer.label.202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35" name="footer.page.203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 / 14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2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2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2.1</a:t>
            </a:r>
            <a:endParaRPr lang="zh-CN"/>
          </a:p>
        </p:txBody>
      </p:sp>
      <p:sp>
        <p:nvSpPr>
          <p:cNvPr id="4" name="!!chrome.pair2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2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全局与局部 · 聚焦窗口</a:t>
            </a:r>
            <a:endParaRPr lang="zh-CN"/>
          </a:p>
        </p:txBody>
      </p:sp>
      <p:sp>
        <p:nvSpPr>
          <p:cNvPr id="6" name="!!chrome.pair2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2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2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2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2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左栏改变对象尺寸，右栏移动观察窗口；两种方法都保留原来的对象身份。</a:t>
            </a:r>
            <a:endParaRPr lang="zh-CN"/>
          </a:p>
        </p:txBody>
      </p:sp>
      <p:sp>
        <p:nvSpPr>
          <p:cNvPr id="11" name="!!chrome.pair2.region.zoom.frame"/>
          <p:cNvSpPr/>
          <p:nvPr/>
        </p:nvSpPr>
        <p:spPr>
          <a:xfrm>
            <a:off x="59055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2.text.11"/>
          <p:cNvSpPr txBox="1"/>
          <p:nvPr/>
        </p:nvSpPr>
        <p:spPr>
          <a:xfrm>
            <a:off x="70485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全局与局部</a:t>
            </a:r>
            <a:endParaRPr lang="zh-CN"/>
          </a:p>
        </p:txBody>
      </p:sp>
      <p:sp>
        <p:nvSpPr>
          <p:cNvPr id="13" name="!!zoom.module.0"/>
          <p:cNvSpPr/>
          <p:nvPr/>
        </p:nvSpPr>
        <p:spPr>
          <a:xfrm>
            <a:off x="790575" y="3133725"/>
            <a:ext cx="1476375" cy="8382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1</a:t>
            </a:r>
            <a:endParaRPr lang="zh-CN"/>
          </a:p>
        </p:txBody>
      </p:sp>
      <p:sp>
        <p:nvSpPr>
          <p:cNvPr id="14" name="!!zoom.module.1"/>
          <p:cNvSpPr/>
          <p:nvPr/>
        </p:nvSpPr>
        <p:spPr>
          <a:xfrm>
            <a:off x="2457450" y="3133725"/>
            <a:ext cx="1476375" cy="8382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2</a:t>
            </a:r>
            <a:endParaRPr lang="zh-CN"/>
          </a:p>
        </p:txBody>
      </p:sp>
      <p:sp>
        <p:nvSpPr>
          <p:cNvPr id="15" name="!!zoom.module.2"/>
          <p:cNvSpPr/>
          <p:nvPr/>
        </p:nvSpPr>
        <p:spPr>
          <a:xfrm>
            <a:off x="4124325" y="3133725"/>
            <a:ext cx="1476375" cy="8382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3</a:t>
            </a:r>
            <a:endParaRPr lang="zh-CN"/>
          </a:p>
        </p:txBody>
      </p:sp>
      <p:sp>
        <p:nvSpPr>
          <p:cNvPr id="16" name="!!zoom.module.3"/>
          <p:cNvSpPr/>
          <p:nvPr/>
        </p:nvSpPr>
        <p:spPr>
          <a:xfrm>
            <a:off x="790575" y="4324350"/>
            <a:ext cx="1476375" cy="8382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4</a:t>
            </a:r>
            <a:endParaRPr lang="zh-CN"/>
          </a:p>
        </p:txBody>
      </p:sp>
      <p:sp>
        <p:nvSpPr>
          <p:cNvPr id="17" name="!!zoom.module.4"/>
          <p:cNvSpPr/>
          <p:nvPr/>
        </p:nvSpPr>
        <p:spPr>
          <a:xfrm>
            <a:off x="2457450" y="4324350"/>
            <a:ext cx="1476375" cy="8382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5</a:t>
            </a:r>
            <a:endParaRPr lang="zh-CN"/>
          </a:p>
        </p:txBody>
      </p:sp>
      <p:sp>
        <p:nvSpPr>
          <p:cNvPr id="18" name="!!zoom.module.5"/>
          <p:cNvSpPr/>
          <p:nvPr/>
        </p:nvSpPr>
        <p:spPr>
          <a:xfrm>
            <a:off x="4124325" y="4324350"/>
            <a:ext cx="1476375" cy="838200"/>
          </a:xfrm>
          <a:prstGeom prst="rect">
            <a:avLst/>
          </a:prstGeom>
          <a:solidFill>
            <a:srgbClr val="0759BE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模块 6</a:t>
            </a:r>
            <a:endParaRPr lang="zh-CN"/>
          </a:p>
        </p:txBody>
      </p:sp>
      <p:sp>
        <p:nvSpPr>
          <p:cNvPr id="19" name="!!chrome.pair2.text.18"/>
          <p:cNvSpPr txBox="1"/>
          <p:nvPr/>
        </p:nvSpPr>
        <p:spPr>
          <a:xfrm>
            <a:off x="68580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六个模块形成整体关系。</a:t>
            </a:r>
            <a:endParaRPr lang="zh-CN"/>
          </a:p>
        </p:txBody>
      </p:sp>
      <p:sp>
        <p:nvSpPr>
          <p:cNvPr id="20" name="!!chrome.pair2.region.spotlight.frame"/>
          <p:cNvSpPr/>
          <p:nvPr/>
        </p:nvSpPr>
        <p:spPr>
          <a:xfrm>
            <a:off x="632460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!!chrome.pair2.text.20"/>
          <p:cNvSpPr txBox="1"/>
          <p:nvPr/>
        </p:nvSpPr>
        <p:spPr>
          <a:xfrm>
            <a:off x="643890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聚焦窗口</a:t>
            </a:r>
            <a:endParaRPr lang="zh-CN"/>
          </a:p>
        </p:txBody>
      </p:sp>
      <p:sp>
        <p:nvSpPr>
          <p:cNvPr id="22" name="!!spotlight.cell.0"/>
          <p:cNvSpPr/>
          <p:nvPr/>
        </p:nvSpPr>
        <p:spPr>
          <a:xfrm>
            <a:off x="65722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23" name="!!spotlight.point.0"/>
          <p:cNvSpPr/>
          <p:nvPr/>
        </p:nvSpPr>
        <p:spPr>
          <a:xfrm>
            <a:off x="68103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4" name="!!spotlight.cell.1"/>
          <p:cNvSpPr/>
          <p:nvPr/>
        </p:nvSpPr>
        <p:spPr>
          <a:xfrm>
            <a:off x="73723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25" name="!!spotlight.point.1"/>
          <p:cNvSpPr/>
          <p:nvPr/>
        </p:nvSpPr>
        <p:spPr>
          <a:xfrm>
            <a:off x="76104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6" name="!!spotlight.cell.2"/>
          <p:cNvSpPr/>
          <p:nvPr/>
        </p:nvSpPr>
        <p:spPr>
          <a:xfrm>
            <a:off x="81724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27" name="!!spotlight.point.2"/>
          <p:cNvSpPr/>
          <p:nvPr/>
        </p:nvSpPr>
        <p:spPr>
          <a:xfrm>
            <a:off x="84105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8" name="!!spotlight.cell.3"/>
          <p:cNvSpPr/>
          <p:nvPr/>
        </p:nvSpPr>
        <p:spPr>
          <a:xfrm>
            <a:off x="89725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29" name="!!spotlight.point.3"/>
          <p:cNvSpPr/>
          <p:nvPr/>
        </p:nvSpPr>
        <p:spPr>
          <a:xfrm>
            <a:off x="92106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0" name="!!spotlight.cell.4"/>
          <p:cNvSpPr/>
          <p:nvPr/>
        </p:nvSpPr>
        <p:spPr>
          <a:xfrm>
            <a:off x="97726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1" name="!!spotlight.point.4"/>
          <p:cNvSpPr/>
          <p:nvPr/>
        </p:nvSpPr>
        <p:spPr>
          <a:xfrm>
            <a:off x="100107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2" name="!!spotlight.cell.5"/>
          <p:cNvSpPr/>
          <p:nvPr/>
        </p:nvSpPr>
        <p:spPr>
          <a:xfrm>
            <a:off x="105727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3" name="!!spotlight.point.5"/>
          <p:cNvSpPr/>
          <p:nvPr/>
        </p:nvSpPr>
        <p:spPr>
          <a:xfrm>
            <a:off x="10810875" y="2905125"/>
            <a:ext cx="142875" cy="142875"/>
          </a:xfrm>
          <a:prstGeom prst="ellipse">
            <a:avLst/>
          </a:prstGeom>
          <a:solidFill>
            <a:srgbClr val="AF3438"/>
          </a:solidFill>
          <a:ln w="0">
            <a:noFill/>
            <a:prstDash val="solid"/>
          </a:ln>
        </p:spPr>
      </p:sp>
      <p:sp>
        <p:nvSpPr>
          <p:cNvPr id="34" name="!!spotlight.cell.6"/>
          <p:cNvSpPr/>
          <p:nvPr/>
        </p:nvSpPr>
        <p:spPr>
          <a:xfrm>
            <a:off x="65722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5" name="!!spotlight.point.6"/>
          <p:cNvSpPr/>
          <p:nvPr/>
        </p:nvSpPr>
        <p:spPr>
          <a:xfrm>
            <a:off x="68103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6" name="!!spotlight.cell.7"/>
          <p:cNvSpPr/>
          <p:nvPr/>
        </p:nvSpPr>
        <p:spPr>
          <a:xfrm>
            <a:off x="73723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7" name="!!spotlight.point.7"/>
          <p:cNvSpPr/>
          <p:nvPr/>
        </p:nvSpPr>
        <p:spPr>
          <a:xfrm>
            <a:off x="76104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8" name="!!spotlight.cell.8"/>
          <p:cNvSpPr/>
          <p:nvPr/>
        </p:nvSpPr>
        <p:spPr>
          <a:xfrm>
            <a:off x="81724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9" name="!!spotlight.point.8"/>
          <p:cNvSpPr/>
          <p:nvPr/>
        </p:nvSpPr>
        <p:spPr>
          <a:xfrm>
            <a:off x="84105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0" name="!!spotlight.cell.9"/>
          <p:cNvSpPr/>
          <p:nvPr/>
        </p:nvSpPr>
        <p:spPr>
          <a:xfrm>
            <a:off x="89725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1" name="!!spotlight.point.9"/>
          <p:cNvSpPr/>
          <p:nvPr/>
        </p:nvSpPr>
        <p:spPr>
          <a:xfrm>
            <a:off x="92106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2" name="!!spotlight.cell.10"/>
          <p:cNvSpPr/>
          <p:nvPr/>
        </p:nvSpPr>
        <p:spPr>
          <a:xfrm>
            <a:off x="97726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3" name="!!spotlight.point.10"/>
          <p:cNvSpPr/>
          <p:nvPr/>
        </p:nvSpPr>
        <p:spPr>
          <a:xfrm>
            <a:off x="100107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4" name="!!spotlight.cell.11"/>
          <p:cNvSpPr/>
          <p:nvPr/>
        </p:nvSpPr>
        <p:spPr>
          <a:xfrm>
            <a:off x="105727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5" name="!!spotlight.point.11"/>
          <p:cNvSpPr/>
          <p:nvPr/>
        </p:nvSpPr>
        <p:spPr>
          <a:xfrm>
            <a:off x="108108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6" name="!!spotlight.cell.12"/>
          <p:cNvSpPr/>
          <p:nvPr/>
        </p:nvSpPr>
        <p:spPr>
          <a:xfrm>
            <a:off x="65722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7" name="!!spotlight.point.12"/>
          <p:cNvSpPr/>
          <p:nvPr/>
        </p:nvSpPr>
        <p:spPr>
          <a:xfrm>
            <a:off x="68103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8" name="!!spotlight.cell.13"/>
          <p:cNvSpPr/>
          <p:nvPr/>
        </p:nvSpPr>
        <p:spPr>
          <a:xfrm>
            <a:off x="73723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9" name="!!spotlight.point.13"/>
          <p:cNvSpPr/>
          <p:nvPr/>
        </p:nvSpPr>
        <p:spPr>
          <a:xfrm>
            <a:off x="76104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" name="!!spotlight.cell.14"/>
          <p:cNvSpPr/>
          <p:nvPr/>
        </p:nvSpPr>
        <p:spPr>
          <a:xfrm>
            <a:off x="81724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1" name="!!spotlight.point.14"/>
          <p:cNvSpPr/>
          <p:nvPr/>
        </p:nvSpPr>
        <p:spPr>
          <a:xfrm>
            <a:off x="84105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2" name="!!spotlight.cell.15"/>
          <p:cNvSpPr/>
          <p:nvPr/>
        </p:nvSpPr>
        <p:spPr>
          <a:xfrm>
            <a:off x="89725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3" name="!!spotlight.point.15"/>
          <p:cNvSpPr/>
          <p:nvPr/>
        </p:nvSpPr>
        <p:spPr>
          <a:xfrm>
            <a:off x="92106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4" name="!!spotlight.cell.16"/>
          <p:cNvSpPr/>
          <p:nvPr/>
        </p:nvSpPr>
        <p:spPr>
          <a:xfrm>
            <a:off x="97726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5" name="!!spotlight.point.16"/>
          <p:cNvSpPr/>
          <p:nvPr/>
        </p:nvSpPr>
        <p:spPr>
          <a:xfrm>
            <a:off x="100107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6" name="!!spotlight.cell.17"/>
          <p:cNvSpPr/>
          <p:nvPr/>
        </p:nvSpPr>
        <p:spPr>
          <a:xfrm>
            <a:off x="105727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7" name="!!spotlight.point.17"/>
          <p:cNvSpPr/>
          <p:nvPr/>
        </p:nvSpPr>
        <p:spPr>
          <a:xfrm>
            <a:off x="108108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8" name="!!spotlight.cell.18"/>
          <p:cNvSpPr/>
          <p:nvPr/>
        </p:nvSpPr>
        <p:spPr>
          <a:xfrm>
            <a:off x="65722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9" name="!!spotlight.point.18"/>
          <p:cNvSpPr/>
          <p:nvPr/>
        </p:nvSpPr>
        <p:spPr>
          <a:xfrm>
            <a:off x="6810375" y="4876800"/>
            <a:ext cx="142875" cy="142875"/>
          </a:xfrm>
          <a:prstGeom prst="ellipse">
            <a:avLst/>
          </a:prstGeom>
          <a:solidFill>
            <a:srgbClr val="AF3438"/>
          </a:solidFill>
          <a:ln w="0">
            <a:noFill/>
            <a:prstDash val="solid"/>
          </a:ln>
        </p:spPr>
      </p:sp>
      <p:sp>
        <p:nvSpPr>
          <p:cNvPr id="60" name="!!spotlight.cell.19"/>
          <p:cNvSpPr/>
          <p:nvPr/>
        </p:nvSpPr>
        <p:spPr>
          <a:xfrm>
            <a:off x="73723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1" name="!!spotlight.point.19"/>
          <p:cNvSpPr/>
          <p:nvPr/>
        </p:nvSpPr>
        <p:spPr>
          <a:xfrm>
            <a:off x="76104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2" name="!!spotlight.cell.20"/>
          <p:cNvSpPr/>
          <p:nvPr/>
        </p:nvSpPr>
        <p:spPr>
          <a:xfrm>
            <a:off x="81724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3" name="!!spotlight.point.20"/>
          <p:cNvSpPr/>
          <p:nvPr/>
        </p:nvSpPr>
        <p:spPr>
          <a:xfrm>
            <a:off x="84105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4" name="!!spotlight.cell.21"/>
          <p:cNvSpPr/>
          <p:nvPr/>
        </p:nvSpPr>
        <p:spPr>
          <a:xfrm>
            <a:off x="89725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5" name="!!spotlight.point.21"/>
          <p:cNvSpPr/>
          <p:nvPr/>
        </p:nvSpPr>
        <p:spPr>
          <a:xfrm>
            <a:off x="92106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6" name="!!spotlight.cell.22"/>
          <p:cNvSpPr/>
          <p:nvPr/>
        </p:nvSpPr>
        <p:spPr>
          <a:xfrm>
            <a:off x="97726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7" name="!!spotlight.point.22"/>
          <p:cNvSpPr/>
          <p:nvPr/>
        </p:nvSpPr>
        <p:spPr>
          <a:xfrm>
            <a:off x="100107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8" name="!!spotlight.cell.23"/>
          <p:cNvSpPr/>
          <p:nvPr/>
        </p:nvSpPr>
        <p:spPr>
          <a:xfrm>
            <a:off x="105727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9" name="!!spotlight.point.23"/>
          <p:cNvSpPr/>
          <p:nvPr/>
        </p:nvSpPr>
        <p:spPr>
          <a:xfrm>
            <a:off x="108108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70" name="!!spotlight.shade.top"/>
          <p:cNvSpPr/>
          <p:nvPr/>
        </p:nvSpPr>
        <p:spPr>
          <a:xfrm>
            <a:off x="6477000" y="2609850"/>
            <a:ext cx="4895850" cy="85725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71" name="!!spotlight.shade.bottom"/>
          <p:cNvSpPr/>
          <p:nvPr/>
        </p:nvSpPr>
        <p:spPr>
          <a:xfrm>
            <a:off x="6477000" y="4057650"/>
            <a:ext cx="4895850" cy="1276350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72" name="!!spotlight.shade.left"/>
          <p:cNvSpPr/>
          <p:nvPr/>
        </p:nvSpPr>
        <p:spPr>
          <a:xfrm>
            <a:off x="6477000" y="2695575"/>
            <a:ext cx="95250" cy="1362075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73" name="!!spotlight.shade.right"/>
          <p:cNvSpPr/>
          <p:nvPr/>
        </p:nvSpPr>
        <p:spPr>
          <a:xfrm>
            <a:off x="8191500" y="2695575"/>
            <a:ext cx="3181350" cy="1362075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74" name="!!spotlight.window"/>
          <p:cNvSpPr/>
          <p:nvPr/>
        </p:nvSpPr>
        <p:spPr>
          <a:xfrm>
            <a:off x="6572250" y="2695575"/>
            <a:ext cx="1619250" cy="1362075"/>
          </a:xfrm>
          <a:prstGeom prst="rect">
            <a:avLst/>
          </a:prstGeom>
          <a:noFill/>
          <a:ln w="19050">
            <a:solidFill>
              <a:srgbClr val="AF3438"/>
            </a:solidFill>
            <a:prstDash val="solid"/>
          </a:ln>
        </p:spPr>
      </p:sp>
      <p:sp>
        <p:nvSpPr>
          <p:cNvPr id="75" name="!!chrome.pair2.text.74"/>
          <p:cNvSpPr txBox="1"/>
          <p:nvPr/>
        </p:nvSpPr>
        <p:spPr>
          <a:xfrm>
            <a:off x="641985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窗口标出左上观察区域。</a:t>
            </a:r>
            <a:endParaRPr lang="zh-CN"/>
          </a:p>
        </p:txBody>
      </p:sp>
      <p:sp>
        <p:nvSpPr>
          <p:cNvPr id="76" name="!!chrome.pair2.text.75"/>
          <p:cNvSpPr txBox="1"/>
          <p:nvPr/>
        </p:nvSpPr>
        <p:spPr>
          <a:xfrm>
            <a:off x="9810750" y="1924050"/>
            <a:ext cx="1619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初始状态</a:t>
            </a:r>
            <a:endParaRPr lang="zh-CN"/>
          </a:p>
        </p:txBody>
      </p:sp>
      <p:sp>
        <p:nvSpPr>
          <p:cNvPr id="77" name="footer.rule.204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8" name="footer.label.205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79" name="footer.page.206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2 / 14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2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2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2.1</a:t>
            </a:r>
            <a:endParaRPr lang="zh-CN"/>
          </a:p>
        </p:txBody>
      </p:sp>
      <p:sp>
        <p:nvSpPr>
          <p:cNvPr id="4" name="!!chrome.pair2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2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全局与局部 · 聚焦窗口</a:t>
            </a:r>
            <a:endParaRPr lang="zh-CN"/>
          </a:p>
        </p:txBody>
      </p:sp>
      <p:sp>
        <p:nvSpPr>
          <p:cNvPr id="6" name="!!chrome.pair2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2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2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2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2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左栏改变对象尺寸，右栏移动观察窗口；两种方法都保留原来的对象身份。</a:t>
            </a:r>
            <a:endParaRPr lang="zh-CN"/>
          </a:p>
        </p:txBody>
      </p:sp>
      <p:sp>
        <p:nvSpPr>
          <p:cNvPr id="11" name="!!chrome.pair2.region.zoom.frame"/>
          <p:cNvSpPr/>
          <p:nvPr/>
        </p:nvSpPr>
        <p:spPr>
          <a:xfrm>
            <a:off x="59055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2.text.11"/>
          <p:cNvSpPr txBox="1"/>
          <p:nvPr/>
        </p:nvSpPr>
        <p:spPr>
          <a:xfrm>
            <a:off x="70485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全局与局部</a:t>
            </a:r>
            <a:endParaRPr lang="zh-CN"/>
          </a:p>
        </p:txBody>
      </p:sp>
      <p:sp>
        <p:nvSpPr>
          <p:cNvPr id="13" name="!!zoom.module.0"/>
          <p:cNvSpPr/>
          <p:nvPr/>
        </p:nvSpPr>
        <p:spPr>
          <a:xfrm>
            <a:off x="838200" y="2705100"/>
            <a:ext cx="1571625" cy="4191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1</a:t>
            </a:r>
            <a:endParaRPr lang="zh-CN"/>
          </a:p>
        </p:txBody>
      </p:sp>
      <p:sp>
        <p:nvSpPr>
          <p:cNvPr id="14" name="!!zoom.module.1"/>
          <p:cNvSpPr/>
          <p:nvPr/>
        </p:nvSpPr>
        <p:spPr>
          <a:xfrm>
            <a:off x="838200" y="3219450"/>
            <a:ext cx="1571625" cy="4191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2</a:t>
            </a:r>
            <a:endParaRPr lang="zh-CN"/>
          </a:p>
        </p:txBody>
      </p:sp>
      <p:sp>
        <p:nvSpPr>
          <p:cNvPr id="15" name="!!zoom.module.2"/>
          <p:cNvSpPr/>
          <p:nvPr/>
        </p:nvSpPr>
        <p:spPr>
          <a:xfrm>
            <a:off x="838200" y="3733800"/>
            <a:ext cx="1571625" cy="4191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3</a:t>
            </a:r>
            <a:endParaRPr lang="zh-CN"/>
          </a:p>
        </p:txBody>
      </p:sp>
      <p:sp>
        <p:nvSpPr>
          <p:cNvPr id="16" name="!!zoom.module.3"/>
          <p:cNvSpPr/>
          <p:nvPr/>
        </p:nvSpPr>
        <p:spPr>
          <a:xfrm>
            <a:off x="838200" y="4248150"/>
            <a:ext cx="1571625" cy="4191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4</a:t>
            </a:r>
            <a:endParaRPr lang="zh-CN"/>
          </a:p>
        </p:txBody>
      </p:sp>
      <p:sp>
        <p:nvSpPr>
          <p:cNvPr id="17" name="!!zoom.module.4"/>
          <p:cNvSpPr/>
          <p:nvPr/>
        </p:nvSpPr>
        <p:spPr>
          <a:xfrm>
            <a:off x="838200" y="4762500"/>
            <a:ext cx="1571625" cy="419100"/>
          </a:xfrm>
          <a:prstGeom prst="rect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5</a:t>
            </a:r>
            <a:endParaRPr lang="zh-CN"/>
          </a:p>
        </p:txBody>
      </p:sp>
      <p:sp>
        <p:nvSpPr>
          <p:cNvPr id="18" name="!!zoom.module.5"/>
          <p:cNvSpPr/>
          <p:nvPr/>
        </p:nvSpPr>
        <p:spPr>
          <a:xfrm>
            <a:off x="2743200" y="3276600"/>
            <a:ext cx="2762250" cy="1524000"/>
          </a:xfrm>
          <a:prstGeom prst="rect">
            <a:avLst/>
          </a:prstGeom>
          <a:solidFill>
            <a:srgbClr val="0759BE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模块 6</a:t>
            </a:r>
            <a:endParaRPr lang="zh-CN"/>
          </a:p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观察对象</a:t>
            </a:r>
            <a:endParaRPr lang="zh-CN"/>
          </a:p>
        </p:txBody>
      </p:sp>
      <p:sp>
        <p:nvSpPr>
          <p:cNvPr id="19" name="!!chrome.pair2.text.18"/>
          <p:cNvSpPr txBox="1"/>
          <p:nvPr/>
        </p:nvSpPr>
        <p:spPr>
          <a:xfrm>
            <a:off x="68580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模块 6 放大，其他模块仍可定位。</a:t>
            </a:r>
            <a:endParaRPr lang="zh-CN"/>
          </a:p>
        </p:txBody>
      </p:sp>
      <p:sp>
        <p:nvSpPr>
          <p:cNvPr id="20" name="!!chrome.pair2.region.spotlight.frame"/>
          <p:cNvSpPr/>
          <p:nvPr/>
        </p:nvSpPr>
        <p:spPr>
          <a:xfrm>
            <a:off x="632460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!!chrome.pair2.text.20"/>
          <p:cNvSpPr txBox="1"/>
          <p:nvPr/>
        </p:nvSpPr>
        <p:spPr>
          <a:xfrm>
            <a:off x="643890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聚焦窗口</a:t>
            </a:r>
            <a:endParaRPr lang="zh-CN"/>
          </a:p>
        </p:txBody>
      </p:sp>
      <p:sp>
        <p:nvSpPr>
          <p:cNvPr id="22" name="!!spotlight.cell.0"/>
          <p:cNvSpPr/>
          <p:nvPr/>
        </p:nvSpPr>
        <p:spPr>
          <a:xfrm>
            <a:off x="65722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23" name="!!spotlight.point.0"/>
          <p:cNvSpPr/>
          <p:nvPr/>
        </p:nvSpPr>
        <p:spPr>
          <a:xfrm>
            <a:off x="68103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4" name="!!spotlight.cell.1"/>
          <p:cNvSpPr/>
          <p:nvPr/>
        </p:nvSpPr>
        <p:spPr>
          <a:xfrm>
            <a:off x="73723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25" name="!!spotlight.point.1"/>
          <p:cNvSpPr/>
          <p:nvPr/>
        </p:nvSpPr>
        <p:spPr>
          <a:xfrm>
            <a:off x="76104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6" name="!!spotlight.cell.2"/>
          <p:cNvSpPr/>
          <p:nvPr/>
        </p:nvSpPr>
        <p:spPr>
          <a:xfrm>
            <a:off x="81724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27" name="!!spotlight.point.2"/>
          <p:cNvSpPr/>
          <p:nvPr/>
        </p:nvSpPr>
        <p:spPr>
          <a:xfrm>
            <a:off x="84105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8" name="!!spotlight.cell.3"/>
          <p:cNvSpPr/>
          <p:nvPr/>
        </p:nvSpPr>
        <p:spPr>
          <a:xfrm>
            <a:off x="89725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29" name="!!spotlight.point.3"/>
          <p:cNvSpPr/>
          <p:nvPr/>
        </p:nvSpPr>
        <p:spPr>
          <a:xfrm>
            <a:off x="92106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0" name="!!spotlight.cell.4"/>
          <p:cNvSpPr/>
          <p:nvPr/>
        </p:nvSpPr>
        <p:spPr>
          <a:xfrm>
            <a:off x="97726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1" name="!!spotlight.point.4"/>
          <p:cNvSpPr/>
          <p:nvPr/>
        </p:nvSpPr>
        <p:spPr>
          <a:xfrm>
            <a:off x="10010775" y="290512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2" name="!!spotlight.cell.5"/>
          <p:cNvSpPr/>
          <p:nvPr/>
        </p:nvSpPr>
        <p:spPr>
          <a:xfrm>
            <a:off x="10572750" y="273367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3" name="!!spotlight.point.5"/>
          <p:cNvSpPr/>
          <p:nvPr/>
        </p:nvSpPr>
        <p:spPr>
          <a:xfrm>
            <a:off x="10810875" y="2905125"/>
            <a:ext cx="142875" cy="142875"/>
          </a:xfrm>
          <a:prstGeom prst="ellipse">
            <a:avLst/>
          </a:prstGeom>
          <a:solidFill>
            <a:srgbClr val="AF3438"/>
          </a:solidFill>
          <a:ln w="0">
            <a:noFill/>
            <a:prstDash val="solid"/>
          </a:ln>
        </p:spPr>
      </p:sp>
      <p:sp>
        <p:nvSpPr>
          <p:cNvPr id="34" name="!!spotlight.cell.6"/>
          <p:cNvSpPr/>
          <p:nvPr/>
        </p:nvSpPr>
        <p:spPr>
          <a:xfrm>
            <a:off x="65722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5" name="!!spotlight.point.6"/>
          <p:cNvSpPr/>
          <p:nvPr/>
        </p:nvSpPr>
        <p:spPr>
          <a:xfrm>
            <a:off x="68103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6" name="!!spotlight.cell.7"/>
          <p:cNvSpPr/>
          <p:nvPr/>
        </p:nvSpPr>
        <p:spPr>
          <a:xfrm>
            <a:off x="73723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7" name="!!spotlight.point.7"/>
          <p:cNvSpPr/>
          <p:nvPr/>
        </p:nvSpPr>
        <p:spPr>
          <a:xfrm>
            <a:off x="76104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8" name="!!spotlight.cell.8"/>
          <p:cNvSpPr/>
          <p:nvPr/>
        </p:nvSpPr>
        <p:spPr>
          <a:xfrm>
            <a:off x="81724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39" name="!!spotlight.point.8"/>
          <p:cNvSpPr/>
          <p:nvPr/>
        </p:nvSpPr>
        <p:spPr>
          <a:xfrm>
            <a:off x="84105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0" name="!!spotlight.cell.9"/>
          <p:cNvSpPr/>
          <p:nvPr/>
        </p:nvSpPr>
        <p:spPr>
          <a:xfrm>
            <a:off x="89725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1" name="!!spotlight.point.9"/>
          <p:cNvSpPr/>
          <p:nvPr/>
        </p:nvSpPr>
        <p:spPr>
          <a:xfrm>
            <a:off x="92106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2" name="!!spotlight.cell.10"/>
          <p:cNvSpPr/>
          <p:nvPr/>
        </p:nvSpPr>
        <p:spPr>
          <a:xfrm>
            <a:off x="97726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3" name="!!spotlight.point.10"/>
          <p:cNvSpPr/>
          <p:nvPr/>
        </p:nvSpPr>
        <p:spPr>
          <a:xfrm>
            <a:off x="100107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4" name="!!spotlight.cell.11"/>
          <p:cNvSpPr/>
          <p:nvPr/>
        </p:nvSpPr>
        <p:spPr>
          <a:xfrm>
            <a:off x="10572750" y="339090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5" name="!!spotlight.point.11"/>
          <p:cNvSpPr/>
          <p:nvPr/>
        </p:nvSpPr>
        <p:spPr>
          <a:xfrm>
            <a:off x="10810875" y="356235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6" name="!!spotlight.cell.12"/>
          <p:cNvSpPr/>
          <p:nvPr/>
        </p:nvSpPr>
        <p:spPr>
          <a:xfrm>
            <a:off x="65722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7" name="!!spotlight.point.12"/>
          <p:cNvSpPr/>
          <p:nvPr/>
        </p:nvSpPr>
        <p:spPr>
          <a:xfrm>
            <a:off x="68103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48" name="!!spotlight.cell.13"/>
          <p:cNvSpPr/>
          <p:nvPr/>
        </p:nvSpPr>
        <p:spPr>
          <a:xfrm>
            <a:off x="73723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49" name="!!spotlight.point.13"/>
          <p:cNvSpPr/>
          <p:nvPr/>
        </p:nvSpPr>
        <p:spPr>
          <a:xfrm>
            <a:off x="76104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0" name="!!spotlight.cell.14"/>
          <p:cNvSpPr/>
          <p:nvPr/>
        </p:nvSpPr>
        <p:spPr>
          <a:xfrm>
            <a:off x="81724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1" name="!!spotlight.point.14"/>
          <p:cNvSpPr/>
          <p:nvPr/>
        </p:nvSpPr>
        <p:spPr>
          <a:xfrm>
            <a:off x="84105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2" name="!!spotlight.cell.15"/>
          <p:cNvSpPr/>
          <p:nvPr/>
        </p:nvSpPr>
        <p:spPr>
          <a:xfrm>
            <a:off x="89725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3" name="!!spotlight.point.15"/>
          <p:cNvSpPr/>
          <p:nvPr/>
        </p:nvSpPr>
        <p:spPr>
          <a:xfrm>
            <a:off x="92106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4" name="!!spotlight.cell.16"/>
          <p:cNvSpPr/>
          <p:nvPr/>
        </p:nvSpPr>
        <p:spPr>
          <a:xfrm>
            <a:off x="97726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5" name="!!spotlight.point.16"/>
          <p:cNvSpPr/>
          <p:nvPr/>
        </p:nvSpPr>
        <p:spPr>
          <a:xfrm>
            <a:off x="100107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6" name="!!spotlight.cell.17"/>
          <p:cNvSpPr/>
          <p:nvPr/>
        </p:nvSpPr>
        <p:spPr>
          <a:xfrm>
            <a:off x="10572750" y="4048125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7" name="!!spotlight.point.17"/>
          <p:cNvSpPr/>
          <p:nvPr/>
        </p:nvSpPr>
        <p:spPr>
          <a:xfrm>
            <a:off x="10810875" y="4219575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58" name="!!spotlight.cell.18"/>
          <p:cNvSpPr/>
          <p:nvPr/>
        </p:nvSpPr>
        <p:spPr>
          <a:xfrm>
            <a:off x="65722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59" name="!!spotlight.point.18"/>
          <p:cNvSpPr/>
          <p:nvPr/>
        </p:nvSpPr>
        <p:spPr>
          <a:xfrm>
            <a:off x="6810375" y="4876800"/>
            <a:ext cx="142875" cy="142875"/>
          </a:xfrm>
          <a:prstGeom prst="ellipse">
            <a:avLst/>
          </a:prstGeom>
          <a:solidFill>
            <a:srgbClr val="AF3438"/>
          </a:solidFill>
          <a:ln w="0">
            <a:noFill/>
            <a:prstDash val="solid"/>
          </a:ln>
        </p:spPr>
      </p:sp>
      <p:sp>
        <p:nvSpPr>
          <p:cNvPr id="60" name="!!spotlight.cell.19"/>
          <p:cNvSpPr/>
          <p:nvPr/>
        </p:nvSpPr>
        <p:spPr>
          <a:xfrm>
            <a:off x="73723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1" name="!!spotlight.point.19"/>
          <p:cNvSpPr/>
          <p:nvPr/>
        </p:nvSpPr>
        <p:spPr>
          <a:xfrm>
            <a:off x="76104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2" name="!!spotlight.cell.20"/>
          <p:cNvSpPr/>
          <p:nvPr/>
        </p:nvSpPr>
        <p:spPr>
          <a:xfrm>
            <a:off x="81724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3" name="!!spotlight.point.20"/>
          <p:cNvSpPr/>
          <p:nvPr/>
        </p:nvSpPr>
        <p:spPr>
          <a:xfrm>
            <a:off x="84105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4" name="!!spotlight.cell.21"/>
          <p:cNvSpPr/>
          <p:nvPr/>
        </p:nvSpPr>
        <p:spPr>
          <a:xfrm>
            <a:off x="89725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5" name="!!spotlight.point.21"/>
          <p:cNvSpPr/>
          <p:nvPr/>
        </p:nvSpPr>
        <p:spPr>
          <a:xfrm>
            <a:off x="92106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6" name="!!spotlight.cell.22"/>
          <p:cNvSpPr/>
          <p:nvPr/>
        </p:nvSpPr>
        <p:spPr>
          <a:xfrm>
            <a:off x="97726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7" name="!!spotlight.point.22"/>
          <p:cNvSpPr/>
          <p:nvPr/>
        </p:nvSpPr>
        <p:spPr>
          <a:xfrm>
            <a:off x="100107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68" name="!!spotlight.cell.23"/>
          <p:cNvSpPr/>
          <p:nvPr/>
        </p:nvSpPr>
        <p:spPr>
          <a:xfrm>
            <a:off x="10572750" y="4705350"/>
            <a:ext cx="628650" cy="485775"/>
          </a:xfrm>
          <a:prstGeom prst="rect">
            <a:avLst/>
          </a:prstGeom>
          <a:solidFill>
            <a:srgbClr val="F2F7FB"/>
          </a:solidFill>
          <a:ln w="6668">
            <a:solidFill>
              <a:srgbClr val="A6B4C0"/>
            </a:solidFill>
            <a:prstDash val="solid"/>
          </a:ln>
        </p:spPr>
      </p:sp>
      <p:sp>
        <p:nvSpPr>
          <p:cNvPr id="69" name="!!spotlight.point.23"/>
          <p:cNvSpPr/>
          <p:nvPr/>
        </p:nvSpPr>
        <p:spPr>
          <a:xfrm>
            <a:off x="10810875" y="4876800"/>
            <a:ext cx="142875" cy="142875"/>
          </a:xfrm>
          <a:prstGeom prst="ellips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70" name="!!spotlight.shade.top"/>
          <p:cNvSpPr/>
          <p:nvPr/>
        </p:nvSpPr>
        <p:spPr>
          <a:xfrm>
            <a:off x="6477000" y="2609850"/>
            <a:ext cx="4895850" cy="1314450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71" name="!!spotlight.shade.bottom"/>
          <p:cNvSpPr/>
          <p:nvPr/>
        </p:nvSpPr>
        <p:spPr>
          <a:xfrm>
            <a:off x="6477000" y="5286375"/>
            <a:ext cx="4895850" cy="47625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72" name="!!spotlight.shade.left"/>
          <p:cNvSpPr/>
          <p:nvPr/>
        </p:nvSpPr>
        <p:spPr>
          <a:xfrm>
            <a:off x="6477000" y="3924300"/>
            <a:ext cx="3181350" cy="1362075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73" name="!!spotlight.shade.right"/>
          <p:cNvSpPr/>
          <p:nvPr/>
        </p:nvSpPr>
        <p:spPr>
          <a:xfrm>
            <a:off x="11268075" y="3924300"/>
            <a:ext cx="104775" cy="1362075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74" name="!!spotlight.window"/>
          <p:cNvSpPr/>
          <p:nvPr/>
        </p:nvSpPr>
        <p:spPr>
          <a:xfrm>
            <a:off x="9658350" y="3924300"/>
            <a:ext cx="1609725" cy="1362075"/>
          </a:xfrm>
          <a:prstGeom prst="rect">
            <a:avLst/>
          </a:prstGeom>
          <a:noFill/>
          <a:ln w="19050">
            <a:solidFill>
              <a:srgbClr val="AF3438"/>
            </a:solidFill>
            <a:prstDash val="solid"/>
          </a:ln>
        </p:spPr>
      </p:sp>
      <p:sp>
        <p:nvSpPr>
          <p:cNvPr id="75" name="!!chrome.pair2.text.74"/>
          <p:cNvSpPr txBox="1"/>
          <p:nvPr/>
        </p:nvSpPr>
        <p:spPr>
          <a:xfrm>
            <a:off x="641985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窗口移到右下，底层网格保持不动。</a:t>
            </a:r>
            <a:endParaRPr lang="zh-CN"/>
          </a:p>
        </p:txBody>
      </p:sp>
      <p:sp>
        <p:nvSpPr>
          <p:cNvPr id="76" name="!!chrome.pair2.text.75"/>
          <p:cNvSpPr txBox="1"/>
          <p:nvPr/>
        </p:nvSpPr>
        <p:spPr>
          <a:xfrm>
            <a:off x="9810750" y="1924050"/>
            <a:ext cx="1619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650" b="1">
                <a:solidFill>
                  <a:srgbClr val="AF3438"/>
                </a:solidFill>
                <a:latin typeface="Noto Sans SC"/>
                <a:ea typeface="Noto Sans SC"/>
                <a:cs typeface="Noto Sans SC"/>
              </a:rPr>
              <a:t xml:space="preserve">结果状态</a:t>
            </a:r>
            <a:endParaRPr lang="zh-CN"/>
          </a:p>
        </p:txBody>
      </p:sp>
      <p:sp>
        <p:nvSpPr>
          <p:cNvPr id="77" name="footer.rule.207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8" name="footer.label.208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79" name="footer.page.209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3 / 14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4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4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2.2</a:t>
            </a:r>
            <a:endParaRPr lang="zh-CN"/>
          </a:p>
        </p:txBody>
      </p:sp>
      <p:sp>
        <p:nvSpPr>
          <p:cNvPr id="4" name="!!chrome.pair4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4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分层视差 · 卡片轮播</a:t>
            </a:r>
            <a:endParaRPr lang="zh-CN"/>
          </a:p>
        </p:txBody>
      </p:sp>
      <p:sp>
        <p:nvSpPr>
          <p:cNvPr id="6" name="!!chrome.pair4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4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4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4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4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不同位移形成远近关系；卡片的位置与尺寸则把关注点交给下一对象。</a:t>
            </a:r>
            <a:endParaRPr lang="zh-CN"/>
          </a:p>
        </p:txBody>
      </p:sp>
      <p:sp>
        <p:nvSpPr>
          <p:cNvPr id="11" name="!!chrome.pair4.region.parallax.frame"/>
          <p:cNvSpPr/>
          <p:nvPr/>
        </p:nvSpPr>
        <p:spPr>
          <a:xfrm>
            <a:off x="59055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4.text.11"/>
          <p:cNvSpPr txBox="1"/>
          <p:nvPr/>
        </p:nvSpPr>
        <p:spPr>
          <a:xfrm>
            <a:off x="70485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分层视差</a:t>
            </a:r>
            <a:endParaRPr lang="zh-CN"/>
          </a:p>
        </p:txBody>
      </p:sp>
      <p:sp>
        <p:nvSpPr>
          <p:cNvPr id="13" name="!!parallax.sky"/>
          <p:cNvSpPr/>
          <p:nvPr/>
        </p:nvSpPr>
        <p:spPr>
          <a:xfrm>
            <a:off x="723900" y="2647950"/>
            <a:ext cx="4991100" cy="2705100"/>
          </a:xfrm>
          <a:prstGeom prst="rect">
            <a:avLst/>
          </a:prstGeom>
          <a:solidFill>
            <a:srgbClr val="ECF2FA"/>
          </a:solidFill>
          <a:ln w="0">
            <a:noFill/>
            <a:prstDash val="solid"/>
          </a:ln>
        </p:spPr>
      </p:sp>
      <p:sp>
        <p:nvSpPr>
          <p:cNvPr id="14" name="!!parallax.far.0"/>
          <p:cNvSpPr/>
          <p:nvPr/>
        </p:nvSpPr>
        <p:spPr>
          <a:xfrm>
            <a:off x="981075" y="3038475"/>
            <a:ext cx="438150" cy="1752600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5" name="!!parallax.far.1"/>
          <p:cNvSpPr/>
          <p:nvPr/>
        </p:nvSpPr>
        <p:spPr>
          <a:xfrm>
            <a:off x="1609725" y="3181350"/>
            <a:ext cx="438150" cy="1609725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6" name="!!parallax.far.2"/>
          <p:cNvSpPr/>
          <p:nvPr/>
        </p:nvSpPr>
        <p:spPr>
          <a:xfrm>
            <a:off x="2238375" y="3038475"/>
            <a:ext cx="438150" cy="1752600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7" name="!!parallax.far.3"/>
          <p:cNvSpPr/>
          <p:nvPr/>
        </p:nvSpPr>
        <p:spPr>
          <a:xfrm>
            <a:off x="2867025" y="3181350"/>
            <a:ext cx="438150" cy="1609725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8" name="!!parallax.far.4"/>
          <p:cNvSpPr/>
          <p:nvPr/>
        </p:nvSpPr>
        <p:spPr>
          <a:xfrm>
            <a:off x="3495675" y="3038475"/>
            <a:ext cx="438150" cy="1752600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9" name="!!parallax.far.5"/>
          <p:cNvSpPr/>
          <p:nvPr/>
        </p:nvSpPr>
        <p:spPr>
          <a:xfrm>
            <a:off x="4124325" y="3181350"/>
            <a:ext cx="438150" cy="1609725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20" name="!!parallax.far.6"/>
          <p:cNvSpPr/>
          <p:nvPr/>
        </p:nvSpPr>
        <p:spPr>
          <a:xfrm>
            <a:off x="4752975" y="3038475"/>
            <a:ext cx="438150" cy="1752600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21" name="!!parallax.mid.0"/>
          <p:cNvSpPr/>
          <p:nvPr/>
        </p:nvSpPr>
        <p:spPr>
          <a:xfrm>
            <a:off x="1238250" y="37814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2" name="!!parallax.mid.1"/>
          <p:cNvSpPr/>
          <p:nvPr/>
        </p:nvSpPr>
        <p:spPr>
          <a:xfrm>
            <a:off x="2076450" y="38957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3" name="!!parallax.mid.2"/>
          <p:cNvSpPr/>
          <p:nvPr/>
        </p:nvSpPr>
        <p:spPr>
          <a:xfrm>
            <a:off x="2914650" y="37814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4" name="!!parallax.mid.3"/>
          <p:cNvSpPr/>
          <p:nvPr/>
        </p:nvSpPr>
        <p:spPr>
          <a:xfrm>
            <a:off x="3752850" y="38957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5" name="!!parallax.mid.4"/>
          <p:cNvSpPr/>
          <p:nvPr/>
        </p:nvSpPr>
        <p:spPr>
          <a:xfrm>
            <a:off x="4591050" y="37814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6" name="!!parallax.near.0"/>
          <p:cNvSpPr/>
          <p:nvPr/>
        </p:nvSpPr>
        <p:spPr>
          <a:xfrm>
            <a:off x="1409700" y="4467225"/>
            <a:ext cx="914400" cy="8858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7" name="!!parallax.near-label.0"/>
          <p:cNvSpPr/>
          <p:nvPr/>
        </p:nvSpPr>
        <p:spPr>
          <a:xfrm>
            <a:off x="1457325" y="4714875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近景</a:t>
            </a:r>
            <a:endParaRPr lang="zh-CN"/>
          </a:p>
        </p:txBody>
      </p:sp>
      <p:sp>
        <p:nvSpPr>
          <p:cNvPr id="28" name="!!parallax.near.1"/>
          <p:cNvSpPr/>
          <p:nvPr/>
        </p:nvSpPr>
        <p:spPr>
          <a:xfrm>
            <a:off x="2457450" y="4467225"/>
            <a:ext cx="914400" cy="8858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9" name="!!parallax.near-label.1"/>
          <p:cNvSpPr/>
          <p:nvPr/>
        </p:nvSpPr>
        <p:spPr>
          <a:xfrm>
            <a:off x="2505075" y="4714875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近景</a:t>
            </a:r>
            <a:endParaRPr lang="zh-CN"/>
          </a:p>
        </p:txBody>
      </p:sp>
      <p:sp>
        <p:nvSpPr>
          <p:cNvPr id="30" name="!!parallax.near.2"/>
          <p:cNvSpPr/>
          <p:nvPr/>
        </p:nvSpPr>
        <p:spPr>
          <a:xfrm>
            <a:off x="3505200" y="4467225"/>
            <a:ext cx="914400" cy="8858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1" name="!!parallax.near-label.2"/>
          <p:cNvSpPr/>
          <p:nvPr/>
        </p:nvSpPr>
        <p:spPr>
          <a:xfrm>
            <a:off x="3552825" y="4714875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近景</a:t>
            </a:r>
            <a:endParaRPr lang="zh-CN"/>
          </a:p>
        </p:txBody>
      </p:sp>
      <p:sp>
        <p:nvSpPr>
          <p:cNvPr id="32" name="!!parallax.near.3"/>
          <p:cNvSpPr/>
          <p:nvPr/>
        </p:nvSpPr>
        <p:spPr>
          <a:xfrm>
            <a:off x="4552950" y="4467225"/>
            <a:ext cx="914400" cy="8858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3" name="!!parallax.near-label.3"/>
          <p:cNvSpPr/>
          <p:nvPr/>
        </p:nvSpPr>
        <p:spPr>
          <a:xfrm>
            <a:off x="4600575" y="4714875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近景</a:t>
            </a:r>
            <a:endParaRPr lang="zh-CN"/>
          </a:p>
        </p:txBody>
      </p:sp>
      <p:sp>
        <p:nvSpPr>
          <p:cNvPr id="34" name="!!chrome.pair4.text.33"/>
          <p:cNvSpPr txBox="1"/>
          <p:nvPr/>
        </p:nvSpPr>
        <p:spPr>
          <a:xfrm>
            <a:off x="68580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远、中、近景位于不同层次。</a:t>
            </a:r>
            <a:endParaRPr lang="zh-CN"/>
          </a:p>
        </p:txBody>
      </p:sp>
      <p:sp>
        <p:nvSpPr>
          <p:cNvPr id="35" name="!!chrome.pair4.region.carousel.frame"/>
          <p:cNvSpPr/>
          <p:nvPr/>
        </p:nvSpPr>
        <p:spPr>
          <a:xfrm>
            <a:off x="632460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6" name="!!chrome.pair4.text.35"/>
          <p:cNvSpPr txBox="1"/>
          <p:nvPr/>
        </p:nvSpPr>
        <p:spPr>
          <a:xfrm>
            <a:off x="643890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卡片轮播</a:t>
            </a:r>
            <a:endParaRPr lang="zh-CN"/>
          </a:p>
        </p:txBody>
      </p:sp>
      <p:sp>
        <p:nvSpPr>
          <p:cNvPr id="37" name="!!carousel.card.0"/>
          <p:cNvSpPr/>
          <p:nvPr/>
        </p:nvSpPr>
        <p:spPr>
          <a:xfrm>
            <a:off x="6419850" y="3314700"/>
            <a:ext cx="762000" cy="1352550"/>
          </a:xfrm>
          <a:prstGeom prst="rect">
            <a:avLst/>
          </a:prstGeom>
          <a:solidFill>
            <a:srgbClr val="ECF2FA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甲</a:t>
            </a:r>
            <a:endParaRPr lang="zh-CN"/>
          </a:p>
        </p:txBody>
      </p:sp>
      <p:sp>
        <p:nvSpPr>
          <p:cNvPr id="38" name="!!carousel.card.1"/>
          <p:cNvSpPr/>
          <p:nvPr/>
        </p:nvSpPr>
        <p:spPr>
          <a:xfrm>
            <a:off x="7277100" y="3314700"/>
            <a:ext cx="857250" cy="1352550"/>
          </a:xfrm>
          <a:prstGeom prst="rect">
            <a:avLst/>
          </a:prstGeom>
          <a:solidFill>
            <a:srgbClr val="ECF2FA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乙</a:t>
            </a:r>
            <a:endParaRPr lang="zh-CN"/>
          </a:p>
        </p:txBody>
      </p:sp>
      <p:sp>
        <p:nvSpPr>
          <p:cNvPr id="39" name="!!carousel.card.2"/>
          <p:cNvSpPr/>
          <p:nvPr/>
        </p:nvSpPr>
        <p:spPr>
          <a:xfrm>
            <a:off x="8229600" y="2981325"/>
            <a:ext cx="1333500" cy="2000250"/>
          </a:xfrm>
          <a:prstGeom prst="rect">
            <a:avLst/>
          </a:prstGeom>
          <a:solidFill>
            <a:srgbClr val="0759BE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方案丙</a:t>
            </a:r>
            <a:endParaRPr lang="zh-CN"/>
          </a:p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焦点</a:t>
            </a:r>
            <a:endParaRPr lang="zh-CN"/>
          </a:p>
        </p:txBody>
      </p:sp>
      <p:sp>
        <p:nvSpPr>
          <p:cNvPr id="40" name="!!carousel.card.3"/>
          <p:cNvSpPr/>
          <p:nvPr/>
        </p:nvSpPr>
        <p:spPr>
          <a:xfrm>
            <a:off x="9658350" y="3314700"/>
            <a:ext cx="857250" cy="1352550"/>
          </a:xfrm>
          <a:prstGeom prst="rect">
            <a:avLst/>
          </a:prstGeom>
          <a:solidFill>
            <a:srgbClr val="ECF2FA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丁</a:t>
            </a:r>
            <a:endParaRPr lang="zh-CN"/>
          </a:p>
        </p:txBody>
      </p:sp>
      <p:sp>
        <p:nvSpPr>
          <p:cNvPr id="41" name="!!carousel.card.4"/>
          <p:cNvSpPr/>
          <p:nvPr/>
        </p:nvSpPr>
        <p:spPr>
          <a:xfrm>
            <a:off x="10610850" y="3314700"/>
            <a:ext cx="762000" cy="1352550"/>
          </a:xfrm>
          <a:prstGeom prst="rect">
            <a:avLst/>
          </a:prstGeom>
          <a:solidFill>
            <a:srgbClr val="ECF2FA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戊</a:t>
            </a:r>
            <a:endParaRPr lang="zh-CN"/>
          </a:p>
        </p:txBody>
      </p:sp>
      <p:sp>
        <p:nvSpPr>
          <p:cNvPr id="42" name="!!chrome.pair4.text.41"/>
          <p:cNvSpPr txBox="1"/>
          <p:nvPr/>
        </p:nvSpPr>
        <p:spPr>
          <a:xfrm>
            <a:off x="641985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第三张卡片处于焦点。</a:t>
            </a:r>
            <a:endParaRPr lang="zh-CN"/>
          </a:p>
        </p:txBody>
      </p:sp>
      <p:sp>
        <p:nvSpPr>
          <p:cNvPr id="43" name="!!chrome.pair4.text.42"/>
          <p:cNvSpPr txBox="1"/>
          <p:nvPr/>
        </p:nvSpPr>
        <p:spPr>
          <a:xfrm>
            <a:off x="9810750" y="1924050"/>
            <a:ext cx="1619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初始状态</a:t>
            </a:r>
            <a:endParaRPr lang="zh-CN"/>
          </a:p>
        </p:txBody>
      </p:sp>
      <p:sp>
        <p:nvSpPr>
          <p:cNvPr id="44" name="footer.rule.210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5" name="footer.label.211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46" name="footer.page.212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4 / 14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4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4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2.2</a:t>
            </a:r>
            <a:endParaRPr lang="zh-CN"/>
          </a:p>
        </p:txBody>
      </p:sp>
      <p:sp>
        <p:nvSpPr>
          <p:cNvPr id="4" name="!!chrome.pair4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4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分层视差 · 卡片轮播</a:t>
            </a:r>
            <a:endParaRPr lang="zh-CN"/>
          </a:p>
        </p:txBody>
      </p:sp>
      <p:sp>
        <p:nvSpPr>
          <p:cNvPr id="6" name="!!chrome.pair4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4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4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4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4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不同位移形成远近关系；卡片的位置与尺寸则把关注点交给下一对象。</a:t>
            </a:r>
            <a:endParaRPr lang="zh-CN"/>
          </a:p>
        </p:txBody>
      </p:sp>
      <p:sp>
        <p:nvSpPr>
          <p:cNvPr id="11" name="!!chrome.pair4.region.parallax.frame"/>
          <p:cNvSpPr/>
          <p:nvPr/>
        </p:nvSpPr>
        <p:spPr>
          <a:xfrm>
            <a:off x="59055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4.text.11"/>
          <p:cNvSpPr txBox="1"/>
          <p:nvPr/>
        </p:nvSpPr>
        <p:spPr>
          <a:xfrm>
            <a:off x="70485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分层视差</a:t>
            </a:r>
            <a:endParaRPr lang="zh-CN"/>
          </a:p>
        </p:txBody>
      </p:sp>
      <p:sp>
        <p:nvSpPr>
          <p:cNvPr id="13" name="!!parallax.sky"/>
          <p:cNvSpPr/>
          <p:nvPr/>
        </p:nvSpPr>
        <p:spPr>
          <a:xfrm>
            <a:off x="723900" y="2647950"/>
            <a:ext cx="4991100" cy="2705100"/>
          </a:xfrm>
          <a:prstGeom prst="rect">
            <a:avLst/>
          </a:prstGeom>
          <a:solidFill>
            <a:srgbClr val="ECF2FA"/>
          </a:solidFill>
          <a:ln w="0">
            <a:noFill/>
            <a:prstDash val="solid"/>
          </a:ln>
        </p:spPr>
      </p:sp>
      <p:sp>
        <p:nvSpPr>
          <p:cNvPr id="14" name="!!parallax.far.0"/>
          <p:cNvSpPr/>
          <p:nvPr/>
        </p:nvSpPr>
        <p:spPr>
          <a:xfrm>
            <a:off x="790575" y="3038475"/>
            <a:ext cx="438150" cy="1752600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5" name="!!parallax.far.1"/>
          <p:cNvSpPr/>
          <p:nvPr/>
        </p:nvSpPr>
        <p:spPr>
          <a:xfrm>
            <a:off x="1419225" y="3181350"/>
            <a:ext cx="438150" cy="1609725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6" name="!!parallax.far.2"/>
          <p:cNvSpPr/>
          <p:nvPr/>
        </p:nvSpPr>
        <p:spPr>
          <a:xfrm>
            <a:off x="2047875" y="3038475"/>
            <a:ext cx="438150" cy="1752600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7" name="!!parallax.far.3"/>
          <p:cNvSpPr/>
          <p:nvPr/>
        </p:nvSpPr>
        <p:spPr>
          <a:xfrm>
            <a:off x="2676525" y="3181350"/>
            <a:ext cx="438150" cy="1609725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8" name="!!parallax.far.4"/>
          <p:cNvSpPr/>
          <p:nvPr/>
        </p:nvSpPr>
        <p:spPr>
          <a:xfrm>
            <a:off x="3305175" y="3038475"/>
            <a:ext cx="438150" cy="1752600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19" name="!!parallax.far.5"/>
          <p:cNvSpPr/>
          <p:nvPr/>
        </p:nvSpPr>
        <p:spPr>
          <a:xfrm>
            <a:off x="3933825" y="3181350"/>
            <a:ext cx="438150" cy="1609725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20" name="!!parallax.far.6"/>
          <p:cNvSpPr/>
          <p:nvPr/>
        </p:nvSpPr>
        <p:spPr>
          <a:xfrm>
            <a:off x="4562475" y="3038475"/>
            <a:ext cx="438150" cy="1752600"/>
          </a:xfrm>
          <a:prstGeom prst="rect">
            <a:avLst/>
          </a:prstGeom>
          <a:solidFill>
            <a:srgbClr val="C8DDF2"/>
          </a:solidFill>
          <a:ln w="0">
            <a:noFill/>
            <a:prstDash val="solid"/>
          </a:ln>
        </p:spPr>
      </p:sp>
      <p:sp>
        <p:nvSpPr>
          <p:cNvPr id="21" name="!!parallax.mid.0"/>
          <p:cNvSpPr/>
          <p:nvPr/>
        </p:nvSpPr>
        <p:spPr>
          <a:xfrm>
            <a:off x="809625" y="37814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2" name="!!parallax.mid.1"/>
          <p:cNvSpPr/>
          <p:nvPr/>
        </p:nvSpPr>
        <p:spPr>
          <a:xfrm>
            <a:off x="1647825" y="38957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3" name="!!parallax.mid.2"/>
          <p:cNvSpPr/>
          <p:nvPr/>
        </p:nvSpPr>
        <p:spPr>
          <a:xfrm>
            <a:off x="2486025" y="37814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4" name="!!parallax.mid.3"/>
          <p:cNvSpPr/>
          <p:nvPr/>
        </p:nvSpPr>
        <p:spPr>
          <a:xfrm>
            <a:off x="3324225" y="38957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5" name="!!parallax.mid.4"/>
          <p:cNvSpPr/>
          <p:nvPr/>
        </p:nvSpPr>
        <p:spPr>
          <a:xfrm>
            <a:off x="4162425" y="3781425"/>
            <a:ext cx="857250" cy="1066800"/>
          </a:xfrm>
          <a:prstGeom prst="ellipse">
            <a:avLst/>
          </a:prstGeom>
          <a:solidFill>
            <a:srgbClr val="8FB8E5"/>
          </a:solidFill>
          <a:ln w="0">
            <a:noFill/>
            <a:prstDash val="solid"/>
          </a:ln>
        </p:spPr>
      </p:sp>
      <p:sp>
        <p:nvSpPr>
          <p:cNvPr id="26" name="!!parallax.near.0"/>
          <p:cNvSpPr/>
          <p:nvPr/>
        </p:nvSpPr>
        <p:spPr>
          <a:xfrm>
            <a:off x="790575" y="4467225"/>
            <a:ext cx="914400" cy="8858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7" name="!!parallax.near-label.0"/>
          <p:cNvSpPr/>
          <p:nvPr/>
        </p:nvSpPr>
        <p:spPr>
          <a:xfrm>
            <a:off x="838200" y="4714875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近景</a:t>
            </a:r>
            <a:endParaRPr lang="zh-CN"/>
          </a:p>
        </p:txBody>
      </p:sp>
      <p:sp>
        <p:nvSpPr>
          <p:cNvPr id="28" name="!!parallax.near.1"/>
          <p:cNvSpPr/>
          <p:nvPr/>
        </p:nvSpPr>
        <p:spPr>
          <a:xfrm>
            <a:off x="1838325" y="4467225"/>
            <a:ext cx="914400" cy="8858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9" name="!!parallax.near-label.1"/>
          <p:cNvSpPr/>
          <p:nvPr/>
        </p:nvSpPr>
        <p:spPr>
          <a:xfrm>
            <a:off x="1885950" y="4714875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近景</a:t>
            </a:r>
            <a:endParaRPr lang="zh-CN"/>
          </a:p>
        </p:txBody>
      </p:sp>
      <p:sp>
        <p:nvSpPr>
          <p:cNvPr id="30" name="!!parallax.near.2"/>
          <p:cNvSpPr/>
          <p:nvPr/>
        </p:nvSpPr>
        <p:spPr>
          <a:xfrm>
            <a:off x="2886075" y="4467225"/>
            <a:ext cx="914400" cy="8858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1" name="!!parallax.near-label.2"/>
          <p:cNvSpPr/>
          <p:nvPr/>
        </p:nvSpPr>
        <p:spPr>
          <a:xfrm>
            <a:off x="2933700" y="4714875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近景</a:t>
            </a:r>
            <a:endParaRPr lang="zh-CN"/>
          </a:p>
        </p:txBody>
      </p:sp>
      <p:sp>
        <p:nvSpPr>
          <p:cNvPr id="32" name="!!parallax.near.3"/>
          <p:cNvSpPr/>
          <p:nvPr/>
        </p:nvSpPr>
        <p:spPr>
          <a:xfrm>
            <a:off x="3933825" y="4467225"/>
            <a:ext cx="914400" cy="8858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3" name="!!parallax.near-label.3"/>
          <p:cNvSpPr/>
          <p:nvPr/>
        </p:nvSpPr>
        <p:spPr>
          <a:xfrm>
            <a:off x="3981450" y="4714875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近景</a:t>
            </a:r>
            <a:endParaRPr lang="zh-CN"/>
          </a:p>
        </p:txBody>
      </p:sp>
      <p:sp>
        <p:nvSpPr>
          <p:cNvPr id="34" name="!!chrome.pair4.text.33"/>
          <p:cNvSpPr txBox="1"/>
          <p:nvPr/>
        </p:nvSpPr>
        <p:spPr>
          <a:xfrm>
            <a:off x="68580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近景位移大，远景位移小。</a:t>
            </a:r>
            <a:endParaRPr lang="zh-CN"/>
          </a:p>
        </p:txBody>
      </p:sp>
      <p:sp>
        <p:nvSpPr>
          <p:cNvPr id="35" name="!!chrome.pair4.region.carousel.frame"/>
          <p:cNvSpPr/>
          <p:nvPr/>
        </p:nvSpPr>
        <p:spPr>
          <a:xfrm>
            <a:off x="632460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6" name="!!chrome.pair4.text.35"/>
          <p:cNvSpPr txBox="1"/>
          <p:nvPr/>
        </p:nvSpPr>
        <p:spPr>
          <a:xfrm>
            <a:off x="643890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卡片轮播</a:t>
            </a:r>
            <a:endParaRPr lang="zh-CN"/>
          </a:p>
        </p:txBody>
      </p:sp>
      <p:sp>
        <p:nvSpPr>
          <p:cNvPr id="37" name="!!carousel.card.0"/>
          <p:cNvSpPr/>
          <p:nvPr/>
        </p:nvSpPr>
        <p:spPr>
          <a:xfrm>
            <a:off x="6419850" y="3314700"/>
            <a:ext cx="657225" cy="1352550"/>
          </a:xfrm>
          <a:prstGeom prst="rect">
            <a:avLst/>
          </a:prstGeom>
          <a:solidFill>
            <a:srgbClr val="ECF2FA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甲</a:t>
            </a:r>
            <a:endParaRPr lang="zh-CN"/>
          </a:p>
        </p:txBody>
      </p:sp>
      <p:sp>
        <p:nvSpPr>
          <p:cNvPr id="38" name="!!carousel.card.1"/>
          <p:cNvSpPr/>
          <p:nvPr/>
        </p:nvSpPr>
        <p:spPr>
          <a:xfrm>
            <a:off x="7172325" y="3314700"/>
            <a:ext cx="762000" cy="1352550"/>
          </a:xfrm>
          <a:prstGeom prst="rect">
            <a:avLst/>
          </a:prstGeom>
          <a:solidFill>
            <a:srgbClr val="ECF2FA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乙</a:t>
            </a:r>
            <a:endParaRPr lang="zh-CN"/>
          </a:p>
        </p:txBody>
      </p:sp>
      <p:sp>
        <p:nvSpPr>
          <p:cNvPr id="39" name="!!carousel.card.2"/>
          <p:cNvSpPr/>
          <p:nvPr/>
        </p:nvSpPr>
        <p:spPr>
          <a:xfrm>
            <a:off x="8029575" y="3314700"/>
            <a:ext cx="857250" cy="1352550"/>
          </a:xfrm>
          <a:prstGeom prst="rect">
            <a:avLst/>
          </a:prstGeom>
          <a:solidFill>
            <a:srgbClr val="ECF2FA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丙</a:t>
            </a:r>
            <a:endParaRPr lang="zh-CN"/>
          </a:p>
        </p:txBody>
      </p:sp>
      <p:sp>
        <p:nvSpPr>
          <p:cNvPr id="40" name="!!carousel.card.3"/>
          <p:cNvSpPr/>
          <p:nvPr/>
        </p:nvSpPr>
        <p:spPr>
          <a:xfrm>
            <a:off x="8982075" y="2981325"/>
            <a:ext cx="1333500" cy="2000250"/>
          </a:xfrm>
          <a:prstGeom prst="rect">
            <a:avLst/>
          </a:prstGeom>
          <a:solidFill>
            <a:srgbClr val="0759BE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方案丁</a:t>
            </a:r>
            <a:endParaRPr lang="zh-CN"/>
          </a:p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焦点</a:t>
            </a:r>
            <a:endParaRPr lang="zh-CN"/>
          </a:p>
        </p:txBody>
      </p:sp>
      <p:sp>
        <p:nvSpPr>
          <p:cNvPr id="41" name="!!carousel.card.4"/>
          <p:cNvSpPr/>
          <p:nvPr/>
        </p:nvSpPr>
        <p:spPr>
          <a:xfrm>
            <a:off x="10410825" y="3314700"/>
            <a:ext cx="952500" cy="1352550"/>
          </a:xfrm>
          <a:prstGeom prst="rect">
            <a:avLst/>
          </a:prstGeom>
          <a:solidFill>
            <a:srgbClr val="ECF2FA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戊</a:t>
            </a:r>
            <a:endParaRPr lang="zh-CN"/>
          </a:p>
        </p:txBody>
      </p:sp>
      <p:sp>
        <p:nvSpPr>
          <p:cNvPr id="42" name="!!chrome.pair4.text.41"/>
          <p:cNvSpPr txBox="1"/>
          <p:nvPr/>
        </p:nvSpPr>
        <p:spPr>
          <a:xfrm>
            <a:off x="641985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第四张卡片放大，焦点随之转移。</a:t>
            </a:r>
            <a:endParaRPr lang="zh-CN"/>
          </a:p>
        </p:txBody>
      </p:sp>
      <p:sp>
        <p:nvSpPr>
          <p:cNvPr id="43" name="!!chrome.pair4.text.42"/>
          <p:cNvSpPr txBox="1"/>
          <p:nvPr/>
        </p:nvSpPr>
        <p:spPr>
          <a:xfrm>
            <a:off x="9810750" y="1924050"/>
            <a:ext cx="1619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650" b="1">
                <a:solidFill>
                  <a:srgbClr val="AF3438"/>
                </a:solidFill>
                <a:latin typeface="Noto Sans SC"/>
                <a:ea typeface="Noto Sans SC"/>
                <a:cs typeface="Noto Sans SC"/>
              </a:rPr>
              <a:t xml:space="preserve">结果状态</a:t>
            </a:r>
            <a:endParaRPr lang="zh-CN"/>
          </a:p>
        </p:txBody>
      </p:sp>
      <p:sp>
        <p:nvSpPr>
          <p:cNvPr id="44" name="footer.rule.213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5" name="footer.label.214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46" name="footer.page.215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5 / 14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6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6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2.3</a:t>
            </a:r>
            <a:endParaRPr lang="zh-CN"/>
          </a:p>
        </p:txBody>
      </p:sp>
      <p:sp>
        <p:nvSpPr>
          <p:cNvPr id="4" name="!!chrome.pair6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6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形状旋转 · 层叠分解</a:t>
            </a:r>
            <a:endParaRPr lang="zh-CN"/>
          </a:p>
        </p:txBody>
      </p:sp>
      <p:sp>
        <p:nvSpPr>
          <p:cNvPr id="6" name="!!chrome.pair6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6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6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6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6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同一对象可以改变外形，也可以从叠放状态分开，以解释各层的对应关系。</a:t>
            </a:r>
            <a:endParaRPr lang="zh-CN"/>
          </a:p>
        </p:txBody>
      </p:sp>
      <p:sp>
        <p:nvSpPr>
          <p:cNvPr id="11" name="!!chrome.pair6.region.geometry.frame"/>
          <p:cNvSpPr/>
          <p:nvPr/>
        </p:nvSpPr>
        <p:spPr>
          <a:xfrm>
            <a:off x="59055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6.text.11"/>
          <p:cNvSpPr txBox="1"/>
          <p:nvPr/>
        </p:nvSpPr>
        <p:spPr>
          <a:xfrm>
            <a:off x="70485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形状与旋转</a:t>
            </a:r>
            <a:endParaRPr lang="zh-CN"/>
          </a:p>
        </p:txBody>
      </p:sp>
      <p:sp>
        <p:nvSpPr>
          <p:cNvPr id="13" name="!!geometry.body"/>
          <p:cNvSpPr/>
          <p:nvPr/>
        </p:nvSpPr>
        <p:spPr>
          <a:xfrm>
            <a:off x="1076325" y="3467100"/>
            <a:ext cx="1238250" cy="1238250"/>
          </a:xfrm>
          <a:prstGeom prst="rect">
            <a:avLst/>
          </a:prstGeom>
          <a:solidFill>
            <a:srgbClr val="F2F7FB"/>
          </a:solidFill>
          <a:ln w="19050">
            <a:solidFill>
              <a:srgbClr val="0759BE"/>
            </a:solidFill>
            <a:prstDash val="solid"/>
          </a:ln>
        </p:spPr>
      </p:sp>
      <p:sp>
        <p:nvSpPr>
          <p:cNvPr id="14" name="!!geometry.arrow"/>
          <p:cNvSpPr/>
          <p:nvPr/>
        </p:nvSpPr>
        <p:spPr>
          <a:xfrm>
            <a:off x="4867275" y="3810000"/>
            <a:ext cx="647700" cy="495300"/>
          </a:xfrm>
          <a:prstGeom prst="righ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5" name="!!chrome.pair6.text.14"/>
          <p:cNvSpPr txBox="1"/>
          <p:nvPr/>
        </p:nvSpPr>
        <p:spPr>
          <a:xfrm>
            <a:off x="68580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方形与箭头处于初始状态。</a:t>
            </a:r>
            <a:endParaRPr lang="zh-CN"/>
          </a:p>
        </p:txBody>
      </p:sp>
      <p:sp>
        <p:nvSpPr>
          <p:cNvPr id="16" name="!!chrome.pair6.region.layers.frame"/>
          <p:cNvSpPr/>
          <p:nvPr/>
        </p:nvSpPr>
        <p:spPr>
          <a:xfrm>
            <a:off x="632460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7" name="!!chrome.pair6.text.16"/>
          <p:cNvSpPr txBox="1"/>
          <p:nvPr/>
        </p:nvSpPr>
        <p:spPr>
          <a:xfrm>
            <a:off x="643890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层叠分解</a:t>
            </a:r>
            <a:endParaRPr lang="zh-CN"/>
          </a:p>
        </p:txBody>
      </p:sp>
      <p:sp>
        <p:nvSpPr>
          <p:cNvPr id="18" name="!!layers.plane.0"/>
          <p:cNvSpPr/>
          <p:nvPr/>
        </p:nvSpPr>
        <p:spPr>
          <a:xfrm>
            <a:off x="7239000" y="3105150"/>
            <a:ext cx="3048000" cy="904875"/>
          </a:xfrm>
          <a:prstGeom prst="parallelogram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t" lIns="190500" rIns="190500" tIns="85725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输入层</a:t>
            </a:r>
            <a:endParaRPr lang="zh-CN"/>
          </a:p>
        </p:txBody>
      </p:sp>
      <p:sp>
        <p:nvSpPr>
          <p:cNvPr id="19" name="!!layers.plane.1"/>
          <p:cNvSpPr/>
          <p:nvPr/>
        </p:nvSpPr>
        <p:spPr>
          <a:xfrm>
            <a:off x="7429500" y="3657600"/>
            <a:ext cx="3048000" cy="904875"/>
          </a:xfrm>
          <a:prstGeom prst="parallelogram">
            <a:avLst/>
          </a:prstGeom>
          <a:solidFill>
            <a:srgbClr val="0759BE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t" lIns="190500" rIns="190500" tIns="85725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变换层</a:t>
            </a:r>
            <a:endParaRPr lang="zh-CN"/>
          </a:p>
        </p:txBody>
      </p:sp>
      <p:sp>
        <p:nvSpPr>
          <p:cNvPr id="20" name="!!layers.plane.2"/>
          <p:cNvSpPr/>
          <p:nvPr/>
        </p:nvSpPr>
        <p:spPr>
          <a:xfrm>
            <a:off x="7620000" y="4210050"/>
            <a:ext cx="3048000" cy="904875"/>
          </a:xfrm>
          <a:prstGeom prst="parallelogram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t" lIns="190500" rIns="190500" tIns="85725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输出层</a:t>
            </a:r>
            <a:endParaRPr lang="zh-CN"/>
          </a:p>
        </p:txBody>
      </p:sp>
      <p:sp>
        <p:nvSpPr>
          <p:cNvPr id="21" name="!!chrome.pair6.text.20"/>
          <p:cNvSpPr txBox="1"/>
          <p:nvPr/>
        </p:nvSpPr>
        <p:spPr>
          <a:xfrm>
            <a:off x="641985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三个平面叠放，层名保持可读。</a:t>
            </a:r>
            <a:endParaRPr lang="zh-CN"/>
          </a:p>
        </p:txBody>
      </p:sp>
      <p:sp>
        <p:nvSpPr>
          <p:cNvPr id="22" name="!!chrome.pair6.text.21"/>
          <p:cNvSpPr txBox="1"/>
          <p:nvPr/>
        </p:nvSpPr>
        <p:spPr>
          <a:xfrm>
            <a:off x="9810750" y="1924050"/>
            <a:ext cx="1619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初始状态</a:t>
            </a:r>
            <a:endParaRPr lang="zh-CN"/>
          </a:p>
        </p:txBody>
      </p:sp>
      <p:sp>
        <p:nvSpPr>
          <p:cNvPr id="23" name="footer.rule.216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4" name="footer.label.217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25" name="footer.page.218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6 / 14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6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6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2.3</a:t>
            </a:r>
            <a:endParaRPr lang="zh-CN"/>
          </a:p>
        </p:txBody>
      </p:sp>
      <p:sp>
        <p:nvSpPr>
          <p:cNvPr id="4" name="!!chrome.pair6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6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形状旋转 · 层叠分解</a:t>
            </a:r>
            <a:endParaRPr lang="zh-CN"/>
          </a:p>
        </p:txBody>
      </p:sp>
      <p:sp>
        <p:nvSpPr>
          <p:cNvPr id="6" name="!!chrome.pair6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6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6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6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6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同一对象可以改变外形，也可以从叠放状态分开，以解释各层的对应关系。</a:t>
            </a:r>
            <a:endParaRPr lang="zh-CN"/>
          </a:p>
        </p:txBody>
      </p:sp>
      <p:sp>
        <p:nvSpPr>
          <p:cNvPr id="11" name="!!chrome.pair6.region.geometry.frame"/>
          <p:cNvSpPr/>
          <p:nvPr/>
        </p:nvSpPr>
        <p:spPr>
          <a:xfrm>
            <a:off x="59055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6.text.11"/>
          <p:cNvSpPr txBox="1"/>
          <p:nvPr/>
        </p:nvSpPr>
        <p:spPr>
          <a:xfrm>
            <a:off x="70485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形状与旋转</a:t>
            </a:r>
            <a:endParaRPr lang="zh-CN"/>
          </a:p>
        </p:txBody>
      </p:sp>
      <p:sp>
        <p:nvSpPr>
          <p:cNvPr id="13" name="!!geometry.body"/>
          <p:cNvSpPr/>
          <p:nvPr/>
        </p:nvSpPr>
        <p:spPr>
          <a:xfrm>
            <a:off x="3505200" y="3295650"/>
            <a:ext cx="1381125" cy="1428750"/>
          </a:xfrm>
          <a:prstGeom prst="ellipse">
            <a:avLst/>
          </a:prstGeom>
          <a:solidFill>
            <a:srgbClr val="F2F7FB"/>
          </a:solidFill>
          <a:ln w="19050">
            <a:solidFill>
              <a:srgbClr val="0759BE"/>
            </a:solidFill>
            <a:prstDash val="solid"/>
          </a:ln>
        </p:spPr>
      </p:sp>
      <p:sp>
        <p:nvSpPr>
          <p:cNvPr id="14" name="!!geometry.arrow"/>
          <p:cNvSpPr/>
          <p:nvPr/>
        </p:nvSpPr>
        <p:spPr>
          <a:xfrm rot="10800000">
            <a:off x="4867275" y="3810000"/>
            <a:ext cx="647700" cy="495300"/>
          </a:xfrm>
          <a:prstGeom prst="righ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5" name="!!chrome.pair6.text.14"/>
          <p:cNvSpPr txBox="1"/>
          <p:nvPr/>
        </p:nvSpPr>
        <p:spPr>
          <a:xfrm>
            <a:off x="68580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方形转为椭圆，箭头旋转半周。</a:t>
            </a:r>
            <a:endParaRPr lang="zh-CN"/>
          </a:p>
        </p:txBody>
      </p:sp>
      <p:sp>
        <p:nvSpPr>
          <p:cNvPr id="16" name="!!chrome.pair6.region.layers.frame"/>
          <p:cNvSpPr/>
          <p:nvPr/>
        </p:nvSpPr>
        <p:spPr>
          <a:xfrm>
            <a:off x="632460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7" name="!!chrome.pair6.text.16"/>
          <p:cNvSpPr txBox="1"/>
          <p:nvPr/>
        </p:nvSpPr>
        <p:spPr>
          <a:xfrm>
            <a:off x="643890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层叠分解</a:t>
            </a:r>
            <a:endParaRPr lang="zh-CN"/>
          </a:p>
        </p:txBody>
      </p:sp>
      <p:sp>
        <p:nvSpPr>
          <p:cNvPr id="18" name="!!layers.plane.0"/>
          <p:cNvSpPr/>
          <p:nvPr/>
        </p:nvSpPr>
        <p:spPr>
          <a:xfrm>
            <a:off x="7410450" y="2705100"/>
            <a:ext cx="3048000" cy="742950"/>
          </a:xfrm>
          <a:prstGeom prst="parallelogram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t" lIns="190500" rIns="190500" tIns="85725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输入层</a:t>
            </a:r>
            <a:endParaRPr lang="zh-CN"/>
          </a:p>
        </p:txBody>
      </p:sp>
      <p:sp>
        <p:nvSpPr>
          <p:cNvPr id="19" name="!!layers.plane.1"/>
          <p:cNvSpPr/>
          <p:nvPr/>
        </p:nvSpPr>
        <p:spPr>
          <a:xfrm>
            <a:off x="7410450" y="3676650"/>
            <a:ext cx="3048000" cy="742950"/>
          </a:xfrm>
          <a:prstGeom prst="parallelogram">
            <a:avLst/>
          </a:prstGeom>
          <a:solidFill>
            <a:srgbClr val="0759BE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t" lIns="190500" rIns="190500" tIns="85725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变换层</a:t>
            </a:r>
            <a:endParaRPr lang="zh-CN"/>
          </a:p>
        </p:txBody>
      </p:sp>
      <p:sp>
        <p:nvSpPr>
          <p:cNvPr id="20" name="!!layers.plane.2"/>
          <p:cNvSpPr/>
          <p:nvPr/>
        </p:nvSpPr>
        <p:spPr>
          <a:xfrm>
            <a:off x="7410450" y="4648200"/>
            <a:ext cx="3048000" cy="742950"/>
          </a:xfrm>
          <a:prstGeom prst="parallelogram">
            <a:avLst/>
          </a:prstGeom>
          <a:solidFill>
            <a:srgbClr val="F2F7FB"/>
          </a:solidFill>
          <a:ln w="11430">
            <a:solidFill>
              <a:srgbClr val="A6B4C0"/>
            </a:solidFill>
            <a:prstDash val="solid"/>
          </a:ln>
        </p:spPr>
        <p:txBody>
          <a:bodyPr wrap="none" anchor="t" lIns="190500" rIns="190500" tIns="85725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输出层</a:t>
            </a:r>
            <a:endParaRPr lang="zh-CN"/>
          </a:p>
        </p:txBody>
      </p:sp>
      <p:sp>
        <p:nvSpPr>
          <p:cNvPr id="21" name="!!chrome.pair6.text.20"/>
          <p:cNvSpPr txBox="1"/>
          <p:nvPr/>
        </p:nvSpPr>
        <p:spPr>
          <a:xfrm>
            <a:off x="641985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输入、变换、输出三层依次分开。</a:t>
            </a:r>
            <a:endParaRPr lang="zh-CN"/>
          </a:p>
        </p:txBody>
      </p:sp>
      <p:sp>
        <p:nvSpPr>
          <p:cNvPr id="22" name="!!chrome.pair6.text.21"/>
          <p:cNvSpPr txBox="1"/>
          <p:nvPr/>
        </p:nvSpPr>
        <p:spPr>
          <a:xfrm>
            <a:off x="9810750" y="1924050"/>
            <a:ext cx="1619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650" b="1">
                <a:solidFill>
                  <a:srgbClr val="AF3438"/>
                </a:solidFill>
                <a:latin typeface="Noto Sans SC"/>
                <a:ea typeface="Noto Sans SC"/>
                <a:cs typeface="Noto Sans SC"/>
              </a:rPr>
              <a:t xml:space="preserve">结果状态</a:t>
            </a:r>
            <a:endParaRPr lang="zh-CN"/>
          </a:p>
        </p:txBody>
      </p:sp>
      <p:sp>
        <p:nvSpPr>
          <p:cNvPr id="23" name="footer.rule.219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4" name="footer.label.220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25" name="footer.page.221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7 / 14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8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8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2.4</a:t>
            </a:r>
            <a:endParaRPr lang="zh-CN"/>
          </a:p>
        </p:txBody>
      </p:sp>
      <p:sp>
        <p:nvSpPr>
          <p:cNvPr id="4" name="!!chrome.pair8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8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公式移项 · 数据标记</a:t>
            </a:r>
            <a:endParaRPr lang="zh-CN"/>
          </a:p>
        </p:txBody>
      </p:sp>
      <p:sp>
        <p:nvSpPr>
          <p:cNvPr id="6" name="!!chrome.pair8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8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8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8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8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符号按对象保持对应；柱形按同一尺度改变高度，数值用于说明两个状态。</a:t>
            </a:r>
            <a:endParaRPr lang="zh-CN"/>
          </a:p>
        </p:txBody>
      </p:sp>
      <p:sp>
        <p:nvSpPr>
          <p:cNvPr id="11" name="!!chrome.pair8.region.equation.frame"/>
          <p:cNvSpPr/>
          <p:nvPr/>
        </p:nvSpPr>
        <p:spPr>
          <a:xfrm>
            <a:off x="59055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8.text.11"/>
          <p:cNvSpPr txBox="1"/>
          <p:nvPr/>
        </p:nvSpPr>
        <p:spPr>
          <a:xfrm>
            <a:off x="70485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公式移项</a:t>
            </a:r>
            <a:endParaRPr lang="zh-CN"/>
          </a:p>
        </p:txBody>
      </p:sp>
      <p:sp>
        <p:nvSpPr>
          <p:cNvPr id="13" name="!!equation.token.y"/>
          <p:cNvSpPr/>
          <p:nvPr/>
        </p:nvSpPr>
        <p:spPr>
          <a:xfrm>
            <a:off x="1123950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y</a:t>
            </a:r>
            <a:endParaRPr lang="zh-CN"/>
          </a:p>
        </p:txBody>
      </p:sp>
      <p:sp>
        <p:nvSpPr>
          <p:cNvPr id="14" name="!!equation.token.equals"/>
          <p:cNvSpPr/>
          <p:nvPr/>
        </p:nvSpPr>
        <p:spPr>
          <a:xfrm>
            <a:off x="1752600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=</a:t>
            </a:r>
            <a:endParaRPr lang="zh-CN"/>
          </a:p>
        </p:txBody>
      </p:sp>
      <p:sp>
        <p:nvSpPr>
          <p:cNvPr id="15" name="!!equation.token.w"/>
          <p:cNvSpPr/>
          <p:nvPr/>
        </p:nvSpPr>
        <p:spPr>
          <a:xfrm>
            <a:off x="2562225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w</a:t>
            </a:r>
            <a:endParaRPr lang="zh-CN"/>
          </a:p>
        </p:txBody>
      </p:sp>
      <p:sp>
        <p:nvSpPr>
          <p:cNvPr id="16" name="!!equation.token.x"/>
          <p:cNvSpPr/>
          <p:nvPr/>
        </p:nvSpPr>
        <p:spPr>
          <a:xfrm>
            <a:off x="3162300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x</a:t>
            </a:r>
            <a:endParaRPr lang="zh-CN"/>
          </a:p>
        </p:txBody>
      </p:sp>
      <p:sp>
        <p:nvSpPr>
          <p:cNvPr id="17" name="!!equation.token.sign"/>
          <p:cNvSpPr/>
          <p:nvPr/>
        </p:nvSpPr>
        <p:spPr>
          <a:xfrm>
            <a:off x="3981450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AF3438"/>
                </a:solidFill>
                <a:latin typeface="Cambria Math"/>
                <a:ea typeface="Cambria Math"/>
                <a:cs typeface="Cambria Math"/>
              </a:rPr>
              <a:t xml:space="preserve">+</a:t>
            </a:r>
            <a:endParaRPr lang="zh-CN"/>
          </a:p>
        </p:txBody>
      </p:sp>
      <p:sp>
        <p:nvSpPr>
          <p:cNvPr id="18" name="!!equation.token.b"/>
          <p:cNvSpPr/>
          <p:nvPr/>
        </p:nvSpPr>
        <p:spPr>
          <a:xfrm>
            <a:off x="4619625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AF3438"/>
                </a:solidFill>
                <a:latin typeface="Cambria Math"/>
                <a:ea typeface="Cambria Math"/>
                <a:cs typeface="Cambria Math"/>
              </a:rPr>
              <a:t xml:space="preserve">b</a:t>
            </a:r>
            <a:endParaRPr lang="zh-CN"/>
          </a:p>
        </p:txBody>
      </p:sp>
      <p:sp>
        <p:nvSpPr>
          <p:cNvPr id="19" name="!!chrome.pair8.text.18"/>
          <p:cNvSpPr txBox="1"/>
          <p:nvPr/>
        </p:nvSpPr>
        <p:spPr>
          <a:xfrm>
            <a:off x="68580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等式为 y = wx + b。</a:t>
            </a:r>
            <a:endParaRPr lang="zh-CN"/>
          </a:p>
        </p:txBody>
      </p:sp>
      <p:sp>
        <p:nvSpPr>
          <p:cNvPr id="20" name="!!chrome.pair8.region.data.frame"/>
          <p:cNvSpPr/>
          <p:nvPr/>
        </p:nvSpPr>
        <p:spPr>
          <a:xfrm>
            <a:off x="632460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!!chrome.pair8.text.20"/>
          <p:cNvSpPr txBox="1"/>
          <p:nvPr/>
        </p:nvSpPr>
        <p:spPr>
          <a:xfrm>
            <a:off x="643890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数据标记</a:t>
            </a:r>
            <a:endParaRPr lang="zh-CN"/>
          </a:p>
        </p:txBody>
      </p:sp>
      <p:sp>
        <p:nvSpPr>
          <p:cNvPr id="22" name="!!data.grid.0"/>
          <p:cNvSpPr/>
          <p:nvPr/>
        </p:nvSpPr>
        <p:spPr>
          <a:xfrm>
            <a:off x="7000875" y="5086350"/>
            <a:ext cx="4238625" cy="0"/>
          </a:xfrm>
          <a:prstGeom prst="line">
            <a:avLst/>
          </a:prstGeom>
          <a:noFill/>
          <a:ln w="6668">
            <a:solidFill>
              <a:srgbClr val="A6B4C0"/>
            </a:solidFill>
            <a:prstDash val="solid"/>
          </a:ln>
        </p:spPr>
      </p:sp>
      <p:sp>
        <p:nvSpPr>
          <p:cNvPr id="23" name="!!data.tick.0"/>
          <p:cNvSpPr/>
          <p:nvPr/>
        </p:nvSpPr>
        <p:spPr>
          <a:xfrm>
            <a:off x="6391275" y="491490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0</a:t>
            </a:r>
            <a:endParaRPr lang="zh-CN"/>
          </a:p>
        </p:txBody>
      </p:sp>
      <p:sp>
        <p:nvSpPr>
          <p:cNvPr id="24" name="!!data.grid.1"/>
          <p:cNvSpPr/>
          <p:nvPr/>
        </p:nvSpPr>
        <p:spPr>
          <a:xfrm>
            <a:off x="7000875" y="3990975"/>
            <a:ext cx="4238625" cy="0"/>
          </a:xfrm>
          <a:prstGeom prst="line">
            <a:avLst/>
          </a:prstGeom>
          <a:noFill/>
          <a:ln w="6668">
            <a:solidFill>
              <a:srgbClr val="A6B4C0"/>
            </a:solidFill>
            <a:prstDash val="solid"/>
          </a:ln>
        </p:spPr>
      </p:sp>
      <p:sp>
        <p:nvSpPr>
          <p:cNvPr id="25" name="!!data.tick.1"/>
          <p:cNvSpPr/>
          <p:nvPr/>
        </p:nvSpPr>
        <p:spPr>
          <a:xfrm>
            <a:off x="6391275" y="3819525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50</a:t>
            </a:r>
            <a:endParaRPr lang="zh-CN"/>
          </a:p>
        </p:txBody>
      </p:sp>
      <p:sp>
        <p:nvSpPr>
          <p:cNvPr id="26" name="!!data.grid.2"/>
          <p:cNvSpPr/>
          <p:nvPr/>
        </p:nvSpPr>
        <p:spPr>
          <a:xfrm>
            <a:off x="7000875" y="2895600"/>
            <a:ext cx="4238625" cy="0"/>
          </a:xfrm>
          <a:prstGeom prst="line">
            <a:avLst/>
          </a:prstGeom>
          <a:noFill/>
          <a:ln w="6668">
            <a:solidFill>
              <a:srgbClr val="A6B4C0"/>
            </a:solidFill>
            <a:prstDash val="solid"/>
          </a:ln>
        </p:spPr>
      </p:sp>
      <p:sp>
        <p:nvSpPr>
          <p:cNvPr id="27" name="!!data.tick.2"/>
          <p:cNvSpPr/>
          <p:nvPr/>
        </p:nvSpPr>
        <p:spPr>
          <a:xfrm>
            <a:off x="6391275" y="272415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100</a:t>
            </a:r>
            <a:endParaRPr lang="zh-CN"/>
          </a:p>
        </p:txBody>
      </p:sp>
      <p:sp>
        <p:nvSpPr>
          <p:cNvPr id="28" name="!!data.unit"/>
          <p:cNvSpPr/>
          <p:nvPr/>
        </p:nvSpPr>
        <p:spPr>
          <a:xfrm>
            <a:off x="6391275" y="24193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比例（%）</a:t>
            </a:r>
            <a:endParaRPr lang="zh-CN"/>
          </a:p>
        </p:txBody>
      </p:sp>
      <p:sp>
        <p:nvSpPr>
          <p:cNvPr id="29" name="!!data.bar.0"/>
          <p:cNvSpPr/>
          <p:nvPr/>
        </p:nvSpPr>
        <p:spPr>
          <a:xfrm>
            <a:off x="7562850" y="4210050"/>
            <a:ext cx="666750" cy="8763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0" name="!!data.value.0"/>
          <p:cNvSpPr/>
          <p:nvPr/>
        </p:nvSpPr>
        <p:spPr>
          <a:xfrm>
            <a:off x="7467600" y="38481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40</a:t>
            </a:r>
            <a:endParaRPr lang="zh-CN"/>
          </a:p>
        </p:txBody>
      </p:sp>
      <p:sp>
        <p:nvSpPr>
          <p:cNvPr id="31" name="!!data.category.0"/>
          <p:cNvSpPr/>
          <p:nvPr/>
        </p:nvSpPr>
        <p:spPr>
          <a:xfrm>
            <a:off x="7467600" y="5143500"/>
            <a:ext cx="857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甲</a:t>
            </a:r>
            <a:endParaRPr lang="zh-CN"/>
          </a:p>
        </p:txBody>
      </p:sp>
      <p:sp>
        <p:nvSpPr>
          <p:cNvPr id="32" name="!!data.bar.1"/>
          <p:cNvSpPr/>
          <p:nvPr/>
        </p:nvSpPr>
        <p:spPr>
          <a:xfrm>
            <a:off x="8839200" y="3881438"/>
            <a:ext cx="666750" cy="1204912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3" name="!!data.value.1"/>
          <p:cNvSpPr/>
          <p:nvPr/>
        </p:nvSpPr>
        <p:spPr>
          <a:xfrm>
            <a:off x="8743950" y="3519488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55</a:t>
            </a:r>
            <a:endParaRPr lang="zh-CN"/>
          </a:p>
        </p:txBody>
      </p:sp>
      <p:sp>
        <p:nvSpPr>
          <p:cNvPr id="34" name="!!data.category.1"/>
          <p:cNvSpPr/>
          <p:nvPr/>
        </p:nvSpPr>
        <p:spPr>
          <a:xfrm>
            <a:off x="8743950" y="5143500"/>
            <a:ext cx="857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乙</a:t>
            </a:r>
            <a:endParaRPr lang="zh-CN"/>
          </a:p>
        </p:txBody>
      </p:sp>
      <p:sp>
        <p:nvSpPr>
          <p:cNvPr id="35" name="!!data.bar.2"/>
          <p:cNvSpPr/>
          <p:nvPr/>
        </p:nvSpPr>
        <p:spPr>
          <a:xfrm>
            <a:off x="10115550" y="3552825"/>
            <a:ext cx="666750" cy="153352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6" name="!!data.value.2"/>
          <p:cNvSpPr/>
          <p:nvPr/>
        </p:nvSpPr>
        <p:spPr>
          <a:xfrm>
            <a:off x="10020300" y="319087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70</a:t>
            </a:r>
            <a:endParaRPr lang="zh-CN"/>
          </a:p>
        </p:txBody>
      </p:sp>
      <p:sp>
        <p:nvSpPr>
          <p:cNvPr id="37" name="!!data.category.2"/>
          <p:cNvSpPr/>
          <p:nvPr/>
        </p:nvSpPr>
        <p:spPr>
          <a:xfrm>
            <a:off x="10020300" y="5143500"/>
            <a:ext cx="857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丙</a:t>
            </a:r>
            <a:endParaRPr lang="zh-CN"/>
          </a:p>
        </p:txBody>
      </p:sp>
      <p:sp>
        <p:nvSpPr>
          <p:cNvPr id="38" name="!!chrome.pair8.text.37"/>
          <p:cNvSpPr txBox="1"/>
          <p:nvPr/>
        </p:nvSpPr>
        <p:spPr>
          <a:xfrm>
            <a:off x="641985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演示值为 40、55、70。</a:t>
            </a:r>
            <a:endParaRPr lang="zh-CN"/>
          </a:p>
        </p:txBody>
      </p:sp>
      <p:sp>
        <p:nvSpPr>
          <p:cNvPr id="39" name="!!chrome.pair8.text.38"/>
          <p:cNvSpPr txBox="1"/>
          <p:nvPr/>
        </p:nvSpPr>
        <p:spPr>
          <a:xfrm>
            <a:off x="9810750" y="1924050"/>
            <a:ext cx="1619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初始状态</a:t>
            </a:r>
            <a:endParaRPr lang="zh-CN"/>
          </a:p>
        </p:txBody>
      </p:sp>
      <p:sp>
        <p:nvSpPr>
          <p:cNvPr id="40" name="footer.rule.222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1" name="footer.label.223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42" name="footer.page.224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8 / 14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8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8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2.4</a:t>
            </a:r>
            <a:endParaRPr lang="zh-CN"/>
          </a:p>
        </p:txBody>
      </p:sp>
      <p:sp>
        <p:nvSpPr>
          <p:cNvPr id="4" name="!!chrome.pair8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8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公式移项 · 数据标记</a:t>
            </a:r>
            <a:endParaRPr lang="zh-CN"/>
          </a:p>
        </p:txBody>
      </p:sp>
      <p:sp>
        <p:nvSpPr>
          <p:cNvPr id="6" name="!!chrome.pair8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8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8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8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8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符号按对象保持对应；柱形按同一尺度改变高度，数值用于说明两个状态。</a:t>
            </a:r>
            <a:endParaRPr lang="zh-CN"/>
          </a:p>
        </p:txBody>
      </p:sp>
      <p:sp>
        <p:nvSpPr>
          <p:cNvPr id="11" name="!!chrome.pair8.region.equation.frame"/>
          <p:cNvSpPr/>
          <p:nvPr/>
        </p:nvSpPr>
        <p:spPr>
          <a:xfrm>
            <a:off x="59055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8.text.11"/>
          <p:cNvSpPr txBox="1"/>
          <p:nvPr/>
        </p:nvSpPr>
        <p:spPr>
          <a:xfrm>
            <a:off x="70485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公式移项</a:t>
            </a:r>
            <a:endParaRPr lang="zh-CN"/>
          </a:p>
        </p:txBody>
      </p:sp>
      <p:sp>
        <p:nvSpPr>
          <p:cNvPr id="13" name="!!equation.token.y"/>
          <p:cNvSpPr/>
          <p:nvPr/>
        </p:nvSpPr>
        <p:spPr>
          <a:xfrm>
            <a:off x="981075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y</a:t>
            </a:r>
            <a:endParaRPr lang="zh-CN"/>
          </a:p>
        </p:txBody>
      </p:sp>
      <p:sp>
        <p:nvSpPr>
          <p:cNvPr id="14" name="!!equation.token.equals"/>
          <p:cNvSpPr/>
          <p:nvPr/>
        </p:nvSpPr>
        <p:spPr>
          <a:xfrm>
            <a:off x="3190875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=</a:t>
            </a:r>
            <a:endParaRPr lang="zh-CN"/>
          </a:p>
        </p:txBody>
      </p:sp>
      <p:sp>
        <p:nvSpPr>
          <p:cNvPr id="15" name="!!equation.token.w"/>
          <p:cNvSpPr/>
          <p:nvPr/>
        </p:nvSpPr>
        <p:spPr>
          <a:xfrm>
            <a:off x="3981450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w</a:t>
            </a:r>
            <a:endParaRPr lang="zh-CN"/>
          </a:p>
        </p:txBody>
      </p:sp>
      <p:sp>
        <p:nvSpPr>
          <p:cNvPr id="16" name="!!equation.token.x"/>
          <p:cNvSpPr/>
          <p:nvPr/>
        </p:nvSpPr>
        <p:spPr>
          <a:xfrm>
            <a:off x="4581525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D242B"/>
                </a:solidFill>
                <a:latin typeface="Cambria Math"/>
                <a:ea typeface="Cambria Math"/>
                <a:cs typeface="Cambria Math"/>
              </a:rPr>
              <a:t xml:space="preserve">x</a:t>
            </a:r>
            <a:endParaRPr lang="zh-CN"/>
          </a:p>
        </p:txBody>
      </p:sp>
      <p:sp>
        <p:nvSpPr>
          <p:cNvPr id="17" name="!!equation.token.sign"/>
          <p:cNvSpPr/>
          <p:nvPr/>
        </p:nvSpPr>
        <p:spPr>
          <a:xfrm>
            <a:off x="1781175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AF3438"/>
                </a:solidFill>
                <a:latin typeface="Cambria Math"/>
                <a:ea typeface="Cambria Math"/>
                <a:cs typeface="Cambria Math"/>
              </a:rPr>
              <a:t xml:space="preserve">−</a:t>
            </a:r>
            <a:endParaRPr lang="zh-CN"/>
          </a:p>
        </p:txBody>
      </p:sp>
      <p:sp>
        <p:nvSpPr>
          <p:cNvPr id="18" name="!!equation.token.b"/>
          <p:cNvSpPr/>
          <p:nvPr/>
        </p:nvSpPr>
        <p:spPr>
          <a:xfrm>
            <a:off x="2428875" y="3409950"/>
            <a:ext cx="66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AF3438"/>
                </a:solidFill>
                <a:latin typeface="Cambria Math"/>
                <a:ea typeface="Cambria Math"/>
                <a:cs typeface="Cambria Math"/>
              </a:rPr>
              <a:t xml:space="preserve">b</a:t>
            </a:r>
            <a:endParaRPr lang="zh-CN"/>
          </a:p>
        </p:txBody>
      </p:sp>
      <p:sp>
        <p:nvSpPr>
          <p:cNvPr id="19" name="!!chrome.pair8.text.18"/>
          <p:cNvSpPr txBox="1"/>
          <p:nvPr/>
        </p:nvSpPr>
        <p:spPr>
          <a:xfrm>
            <a:off x="68580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等式重排为 y − b = wx。</a:t>
            </a:r>
            <a:endParaRPr lang="zh-CN"/>
          </a:p>
        </p:txBody>
      </p:sp>
      <p:sp>
        <p:nvSpPr>
          <p:cNvPr id="20" name="!!chrome.pair8.region.data.frame"/>
          <p:cNvSpPr/>
          <p:nvPr/>
        </p:nvSpPr>
        <p:spPr>
          <a:xfrm>
            <a:off x="6324600" y="1809750"/>
            <a:ext cx="5257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!!chrome.pair8.text.20"/>
          <p:cNvSpPr txBox="1"/>
          <p:nvPr/>
        </p:nvSpPr>
        <p:spPr>
          <a:xfrm>
            <a:off x="6438900" y="1924050"/>
            <a:ext cx="4762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数据标记</a:t>
            </a:r>
            <a:endParaRPr lang="zh-CN"/>
          </a:p>
        </p:txBody>
      </p:sp>
      <p:sp>
        <p:nvSpPr>
          <p:cNvPr id="22" name="!!data.grid.0"/>
          <p:cNvSpPr/>
          <p:nvPr/>
        </p:nvSpPr>
        <p:spPr>
          <a:xfrm>
            <a:off x="7000875" y="5086350"/>
            <a:ext cx="4238625" cy="0"/>
          </a:xfrm>
          <a:prstGeom prst="line">
            <a:avLst/>
          </a:prstGeom>
          <a:noFill/>
          <a:ln w="6668">
            <a:solidFill>
              <a:srgbClr val="A6B4C0"/>
            </a:solidFill>
            <a:prstDash val="solid"/>
          </a:ln>
        </p:spPr>
      </p:sp>
      <p:sp>
        <p:nvSpPr>
          <p:cNvPr id="23" name="!!data.tick.0"/>
          <p:cNvSpPr/>
          <p:nvPr/>
        </p:nvSpPr>
        <p:spPr>
          <a:xfrm>
            <a:off x="6391275" y="491490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0</a:t>
            </a:r>
            <a:endParaRPr lang="zh-CN"/>
          </a:p>
        </p:txBody>
      </p:sp>
      <p:sp>
        <p:nvSpPr>
          <p:cNvPr id="24" name="!!data.grid.1"/>
          <p:cNvSpPr/>
          <p:nvPr/>
        </p:nvSpPr>
        <p:spPr>
          <a:xfrm>
            <a:off x="7000875" y="3990975"/>
            <a:ext cx="4238625" cy="0"/>
          </a:xfrm>
          <a:prstGeom prst="line">
            <a:avLst/>
          </a:prstGeom>
          <a:noFill/>
          <a:ln w="6668">
            <a:solidFill>
              <a:srgbClr val="A6B4C0"/>
            </a:solidFill>
            <a:prstDash val="solid"/>
          </a:ln>
        </p:spPr>
      </p:sp>
      <p:sp>
        <p:nvSpPr>
          <p:cNvPr id="25" name="!!data.tick.1"/>
          <p:cNvSpPr/>
          <p:nvPr/>
        </p:nvSpPr>
        <p:spPr>
          <a:xfrm>
            <a:off x="6391275" y="3819525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50</a:t>
            </a:r>
            <a:endParaRPr lang="zh-CN"/>
          </a:p>
        </p:txBody>
      </p:sp>
      <p:sp>
        <p:nvSpPr>
          <p:cNvPr id="26" name="!!data.grid.2"/>
          <p:cNvSpPr/>
          <p:nvPr/>
        </p:nvSpPr>
        <p:spPr>
          <a:xfrm>
            <a:off x="7000875" y="2895600"/>
            <a:ext cx="4238625" cy="0"/>
          </a:xfrm>
          <a:prstGeom prst="line">
            <a:avLst/>
          </a:prstGeom>
          <a:noFill/>
          <a:ln w="6668">
            <a:solidFill>
              <a:srgbClr val="A6B4C0"/>
            </a:solidFill>
            <a:prstDash val="solid"/>
          </a:ln>
        </p:spPr>
      </p:sp>
      <p:sp>
        <p:nvSpPr>
          <p:cNvPr id="27" name="!!data.tick.2"/>
          <p:cNvSpPr/>
          <p:nvPr/>
        </p:nvSpPr>
        <p:spPr>
          <a:xfrm>
            <a:off x="6391275" y="2724150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100</a:t>
            </a:r>
            <a:endParaRPr lang="zh-CN"/>
          </a:p>
        </p:txBody>
      </p:sp>
      <p:sp>
        <p:nvSpPr>
          <p:cNvPr id="28" name="!!data.unit"/>
          <p:cNvSpPr/>
          <p:nvPr/>
        </p:nvSpPr>
        <p:spPr>
          <a:xfrm>
            <a:off x="6391275" y="24193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比例（%）</a:t>
            </a:r>
            <a:endParaRPr lang="zh-CN"/>
          </a:p>
        </p:txBody>
      </p:sp>
      <p:sp>
        <p:nvSpPr>
          <p:cNvPr id="29" name="!!data.bar.0"/>
          <p:cNvSpPr/>
          <p:nvPr/>
        </p:nvSpPr>
        <p:spPr>
          <a:xfrm>
            <a:off x="7562850" y="3662363"/>
            <a:ext cx="666750" cy="1423988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0" name="!!data.value.0"/>
          <p:cNvSpPr/>
          <p:nvPr/>
        </p:nvSpPr>
        <p:spPr>
          <a:xfrm>
            <a:off x="7467600" y="3300413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65</a:t>
            </a:r>
            <a:endParaRPr lang="zh-CN"/>
          </a:p>
        </p:txBody>
      </p:sp>
      <p:sp>
        <p:nvSpPr>
          <p:cNvPr id="31" name="!!data.category.0"/>
          <p:cNvSpPr/>
          <p:nvPr/>
        </p:nvSpPr>
        <p:spPr>
          <a:xfrm>
            <a:off x="7467600" y="5143500"/>
            <a:ext cx="857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甲</a:t>
            </a:r>
            <a:endParaRPr lang="zh-CN"/>
          </a:p>
        </p:txBody>
      </p:sp>
      <p:sp>
        <p:nvSpPr>
          <p:cNvPr id="32" name="!!data.bar.1"/>
          <p:cNvSpPr/>
          <p:nvPr/>
        </p:nvSpPr>
        <p:spPr>
          <a:xfrm>
            <a:off x="8839200" y="3333750"/>
            <a:ext cx="666750" cy="1752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3" name="!!data.value.1"/>
          <p:cNvSpPr/>
          <p:nvPr/>
        </p:nvSpPr>
        <p:spPr>
          <a:xfrm>
            <a:off x="8743950" y="29718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80</a:t>
            </a:r>
            <a:endParaRPr lang="zh-CN"/>
          </a:p>
        </p:txBody>
      </p:sp>
      <p:sp>
        <p:nvSpPr>
          <p:cNvPr id="34" name="!!data.category.1"/>
          <p:cNvSpPr/>
          <p:nvPr/>
        </p:nvSpPr>
        <p:spPr>
          <a:xfrm>
            <a:off x="8743950" y="5143500"/>
            <a:ext cx="857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乙</a:t>
            </a:r>
            <a:endParaRPr lang="zh-CN"/>
          </a:p>
        </p:txBody>
      </p:sp>
      <p:sp>
        <p:nvSpPr>
          <p:cNvPr id="35" name="!!data.bar.2"/>
          <p:cNvSpPr/>
          <p:nvPr/>
        </p:nvSpPr>
        <p:spPr>
          <a:xfrm>
            <a:off x="10115550" y="3815715"/>
            <a:ext cx="666750" cy="1270635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6" name="!!data.value.2"/>
          <p:cNvSpPr/>
          <p:nvPr/>
        </p:nvSpPr>
        <p:spPr>
          <a:xfrm>
            <a:off x="10020300" y="345376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02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58</a:t>
            </a:r>
            <a:endParaRPr lang="zh-CN"/>
          </a:p>
        </p:txBody>
      </p:sp>
      <p:sp>
        <p:nvSpPr>
          <p:cNvPr id="37" name="!!data.category.2"/>
          <p:cNvSpPr/>
          <p:nvPr/>
        </p:nvSpPr>
        <p:spPr>
          <a:xfrm>
            <a:off x="10020300" y="5143500"/>
            <a:ext cx="857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丙</a:t>
            </a:r>
            <a:endParaRPr lang="zh-CN"/>
          </a:p>
        </p:txBody>
      </p:sp>
      <p:sp>
        <p:nvSpPr>
          <p:cNvPr id="38" name="!!chrome.pair8.text.37"/>
          <p:cNvSpPr txBox="1"/>
          <p:nvPr/>
        </p:nvSpPr>
        <p:spPr>
          <a:xfrm>
            <a:off x="6419850" y="5724525"/>
            <a:ext cx="506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演示值更新为 65、80、58。</a:t>
            </a:r>
            <a:endParaRPr lang="zh-CN"/>
          </a:p>
        </p:txBody>
      </p:sp>
      <p:sp>
        <p:nvSpPr>
          <p:cNvPr id="39" name="!!chrome.pair8.text.38"/>
          <p:cNvSpPr txBox="1"/>
          <p:nvPr/>
        </p:nvSpPr>
        <p:spPr>
          <a:xfrm>
            <a:off x="9810750" y="1924050"/>
            <a:ext cx="1619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650" b="1">
                <a:solidFill>
                  <a:srgbClr val="AF3438"/>
                </a:solidFill>
                <a:latin typeface="Noto Sans SC"/>
                <a:ea typeface="Noto Sans SC"/>
                <a:cs typeface="Noto Sans SC"/>
              </a:rPr>
              <a:t xml:space="preserve">结果状态</a:t>
            </a:r>
            <a:endParaRPr lang="zh-CN"/>
          </a:p>
        </p:txBody>
      </p:sp>
      <p:sp>
        <p:nvSpPr>
          <p:cNvPr id="40" name="footer.rule.225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1" name="footer.label.226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42" name="footer.page.227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9 / 14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10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10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3.1</a:t>
            </a:r>
            <a:endParaRPr lang="zh-CN"/>
          </a:p>
        </p:txBody>
      </p:sp>
      <p:sp>
        <p:nvSpPr>
          <p:cNvPr id="4" name="!!chrome.pair10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10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词语重排</a:t>
            </a:r>
            <a:endParaRPr lang="zh-CN"/>
          </a:p>
        </p:txBody>
      </p:sp>
      <p:sp>
        <p:nvSpPr>
          <p:cNvPr id="6" name="!!chrome.pair10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10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10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10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10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本例以空格分隔英文词语，观察两个词语在同一文本框中的对应与换位。</a:t>
            </a:r>
            <a:endParaRPr lang="zh-CN"/>
          </a:p>
        </p:txBody>
      </p:sp>
      <p:sp>
        <p:nvSpPr>
          <p:cNvPr id="11" name="!!chrome.pair10.region.word.frame"/>
          <p:cNvSpPr/>
          <p:nvPr/>
        </p:nvSpPr>
        <p:spPr>
          <a:xfrm>
            <a:off x="609600" y="1809750"/>
            <a:ext cx="10972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10.text.11"/>
          <p:cNvSpPr txBox="1"/>
          <p:nvPr/>
        </p:nvSpPr>
        <p:spPr>
          <a:xfrm>
            <a:off x="819150" y="19716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初始排列</a:t>
            </a:r>
            <a:endParaRPr lang="zh-CN"/>
          </a:p>
        </p:txBody>
      </p:sp>
      <p:sp>
        <p:nvSpPr>
          <p:cNvPr id="13" name="!!chrome.pair10.word.surface"/>
          <p:cNvSpPr/>
          <p:nvPr/>
        </p:nvSpPr>
        <p:spPr>
          <a:xfrm>
            <a:off x="781050" y="2647950"/>
            <a:ext cx="10629900" cy="2600325"/>
          </a:xfrm>
          <a:prstGeom prst="rect">
            <a:avLst/>
          </a:prstGeom>
          <a:solidFill>
            <a:srgbClr val="F2F7FB"/>
          </a:solidFill>
          <a:ln w="0">
            <a:noFill/>
            <a:prstDash val="solid"/>
          </a:ln>
        </p:spPr>
      </p:sp>
      <p:sp>
        <p:nvSpPr>
          <p:cNvPr id="14" name="!!word.sentence"/>
          <p:cNvSpPr/>
          <p:nvPr/>
        </p:nvSpPr>
        <p:spPr>
          <a:xfrm>
            <a:off x="857250" y="3209925"/>
            <a:ext cx="1047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DATA EXPLAINS MODEL</a:t>
            </a:r>
            <a:endParaRPr lang="zh-CN"/>
          </a:p>
        </p:txBody>
      </p:sp>
      <p:sp>
        <p:nvSpPr>
          <p:cNvPr id="15" name="!!chrome.pair10.text.14"/>
          <p:cNvSpPr txBox="1"/>
          <p:nvPr/>
        </p:nvSpPr>
        <p:spPr>
          <a:xfrm>
            <a:off x="781050" y="5562600"/>
            <a:ext cx="10648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句子仅含三个词语；停靠状态用于阅读，运动途中可能交叉。</a:t>
            </a:r>
            <a:endParaRPr lang="zh-CN"/>
          </a:p>
        </p:txBody>
      </p:sp>
      <p:sp>
        <p:nvSpPr>
          <p:cNvPr id="16" name="footer.rule.228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7" name="footer.label.229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18" name="footer.page.230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10 / 14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10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10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3.1</a:t>
            </a:r>
            <a:endParaRPr lang="zh-CN"/>
          </a:p>
        </p:txBody>
      </p:sp>
      <p:sp>
        <p:nvSpPr>
          <p:cNvPr id="4" name="!!chrome.pair10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10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词语重排</a:t>
            </a:r>
            <a:endParaRPr lang="zh-CN"/>
          </a:p>
        </p:txBody>
      </p:sp>
      <p:sp>
        <p:nvSpPr>
          <p:cNvPr id="6" name="!!chrome.pair10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10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10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10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10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本例以空格分隔英文词语，观察两个词语在同一文本框中的对应与换位。</a:t>
            </a:r>
            <a:endParaRPr lang="zh-CN"/>
          </a:p>
        </p:txBody>
      </p:sp>
      <p:sp>
        <p:nvSpPr>
          <p:cNvPr id="11" name="!!chrome.pair10.region.word.frame"/>
          <p:cNvSpPr/>
          <p:nvPr/>
        </p:nvSpPr>
        <p:spPr>
          <a:xfrm>
            <a:off x="609600" y="1809750"/>
            <a:ext cx="10972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10.text.11"/>
          <p:cNvSpPr txBox="1"/>
          <p:nvPr/>
        </p:nvSpPr>
        <p:spPr>
          <a:xfrm>
            <a:off x="819150" y="19716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重排结果</a:t>
            </a:r>
            <a:endParaRPr lang="zh-CN"/>
          </a:p>
        </p:txBody>
      </p:sp>
      <p:sp>
        <p:nvSpPr>
          <p:cNvPr id="13" name="!!chrome.pair10.word.surface"/>
          <p:cNvSpPr/>
          <p:nvPr/>
        </p:nvSpPr>
        <p:spPr>
          <a:xfrm>
            <a:off x="781050" y="2647950"/>
            <a:ext cx="10629900" cy="2600325"/>
          </a:xfrm>
          <a:prstGeom prst="rect">
            <a:avLst/>
          </a:prstGeom>
          <a:solidFill>
            <a:srgbClr val="F2F7FB"/>
          </a:solidFill>
          <a:ln w="0">
            <a:noFill/>
            <a:prstDash val="solid"/>
          </a:ln>
        </p:spPr>
      </p:sp>
      <p:sp>
        <p:nvSpPr>
          <p:cNvPr id="14" name="!!word.sentence"/>
          <p:cNvSpPr/>
          <p:nvPr/>
        </p:nvSpPr>
        <p:spPr>
          <a:xfrm>
            <a:off x="857250" y="3209925"/>
            <a:ext cx="1047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MODEL EXPLAINS DATA</a:t>
            </a:r>
            <a:endParaRPr lang="zh-CN"/>
          </a:p>
        </p:txBody>
      </p:sp>
      <p:sp>
        <p:nvSpPr>
          <p:cNvPr id="15" name="!!chrome.pair10.text.14"/>
          <p:cNvSpPr txBox="1"/>
          <p:nvPr/>
        </p:nvSpPr>
        <p:spPr>
          <a:xfrm>
            <a:off x="781050" y="5562600"/>
            <a:ext cx="10648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句子仅含三个词语；停靠状态用于阅读，运动途中可能交叉。</a:t>
            </a:r>
            <a:endParaRPr lang="zh-CN"/>
          </a:p>
        </p:txBody>
      </p:sp>
      <p:sp>
        <p:nvSpPr>
          <p:cNvPr id="16" name="footer.rule.231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7" name="footer.label.232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18" name="footer.page.233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11 / 14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00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12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12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3.2</a:t>
            </a:r>
            <a:endParaRPr lang="zh-CN"/>
          </a:p>
        </p:txBody>
      </p:sp>
      <p:sp>
        <p:nvSpPr>
          <p:cNvPr id="4" name="!!chrome.pair12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12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字符重排</a:t>
            </a:r>
            <a:endParaRPr lang="zh-CN"/>
          </a:p>
        </p:txBody>
      </p:sp>
      <p:sp>
        <p:nvSpPr>
          <p:cNvPr id="6" name="!!chrome.pair12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12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12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12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12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同一文本框保留六个字母；字符模式按字母匹配，使新排列从旧排列连续形成。</a:t>
            </a:r>
            <a:endParaRPr lang="zh-CN"/>
          </a:p>
        </p:txBody>
      </p:sp>
      <p:sp>
        <p:nvSpPr>
          <p:cNvPr id="11" name="!!chrome.pair12.region.character.frame"/>
          <p:cNvSpPr/>
          <p:nvPr/>
        </p:nvSpPr>
        <p:spPr>
          <a:xfrm>
            <a:off x="609600" y="1809750"/>
            <a:ext cx="10972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12.text.11"/>
          <p:cNvSpPr txBox="1"/>
          <p:nvPr/>
        </p:nvSpPr>
        <p:spPr>
          <a:xfrm>
            <a:off x="819150" y="19716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初始排列</a:t>
            </a:r>
            <a:endParaRPr lang="zh-CN"/>
          </a:p>
        </p:txBody>
      </p:sp>
      <p:sp>
        <p:nvSpPr>
          <p:cNvPr id="13" name="!!chrome.pair12.character.surface"/>
          <p:cNvSpPr/>
          <p:nvPr/>
        </p:nvSpPr>
        <p:spPr>
          <a:xfrm>
            <a:off x="781050" y="2647950"/>
            <a:ext cx="10629900" cy="2600325"/>
          </a:xfrm>
          <a:prstGeom prst="rect">
            <a:avLst/>
          </a:prstGeom>
          <a:solidFill>
            <a:srgbClr val="F2F7FB"/>
          </a:solidFill>
          <a:ln w="0">
            <a:noFill/>
            <a:prstDash val="solid"/>
          </a:ln>
        </p:spPr>
      </p:sp>
      <p:sp>
        <p:nvSpPr>
          <p:cNvPr id="14" name="!!character.anagram"/>
          <p:cNvSpPr/>
          <p:nvPr/>
        </p:nvSpPr>
        <p:spPr>
          <a:xfrm>
            <a:off x="857250" y="2952750"/>
            <a:ext cx="104775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87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LISTEN</a:t>
            </a:r>
            <a:endParaRPr lang="zh-CN"/>
          </a:p>
        </p:txBody>
      </p:sp>
      <p:sp>
        <p:nvSpPr>
          <p:cNvPr id="15" name="!!chrome.pair12.text.14"/>
          <p:cNvSpPr txBox="1"/>
          <p:nvPr/>
        </p:nvSpPr>
        <p:spPr>
          <a:xfrm>
            <a:off x="781050" y="5562600"/>
            <a:ext cx="10648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字符集合保持一致；重复字符和断行需要在目标播放器中单独检查。</a:t>
            </a:r>
            <a:endParaRPr lang="zh-CN"/>
          </a:p>
        </p:txBody>
      </p:sp>
      <p:sp>
        <p:nvSpPr>
          <p:cNvPr id="16" name="footer.rule.234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7" name="footer.label.235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18" name="footer.page.236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12 / 14</a:t>
            </a:r>
            <a:endParaRPr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chrome.pair12.header.accent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!!chrome.pair12.header.number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3.2</a:t>
            </a:r>
            <a:endParaRPr lang="zh-CN"/>
          </a:p>
        </p:txBody>
      </p:sp>
      <p:sp>
        <p:nvSpPr>
          <p:cNvPr id="4" name="!!chrome.pair12.header.gradient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!!chrome.pair12.header.title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字符重排</a:t>
            </a:r>
            <a:endParaRPr lang="zh-CN"/>
          </a:p>
        </p:txBody>
      </p:sp>
      <p:sp>
        <p:nvSpPr>
          <p:cNvPr id="6" name="!!chrome.pair12.header.library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!!chrome.pair12.info.lead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!!chrome.pair12.info.lead.icon.a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!!chrome.pair12.info.lead.icon.b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!!chrome.pair12.info.lead.text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同一文本框保留六个字母；字符模式按字母匹配，使新排列从旧排列连续形成。</a:t>
            </a:r>
            <a:endParaRPr lang="zh-CN"/>
          </a:p>
        </p:txBody>
      </p:sp>
      <p:sp>
        <p:nvSpPr>
          <p:cNvPr id="11" name="!!chrome.pair12.region.character.frame"/>
          <p:cNvSpPr/>
          <p:nvPr/>
        </p:nvSpPr>
        <p:spPr>
          <a:xfrm>
            <a:off x="609600" y="1809750"/>
            <a:ext cx="10972800" cy="46672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!!chrome.pair12.text.11"/>
          <p:cNvSpPr txBox="1"/>
          <p:nvPr/>
        </p:nvSpPr>
        <p:spPr>
          <a:xfrm>
            <a:off x="819150" y="19716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重排结果</a:t>
            </a:r>
            <a:endParaRPr lang="zh-CN"/>
          </a:p>
        </p:txBody>
      </p:sp>
      <p:sp>
        <p:nvSpPr>
          <p:cNvPr id="13" name="!!chrome.pair12.character.surface"/>
          <p:cNvSpPr/>
          <p:nvPr/>
        </p:nvSpPr>
        <p:spPr>
          <a:xfrm>
            <a:off x="781050" y="2647950"/>
            <a:ext cx="10629900" cy="2600325"/>
          </a:xfrm>
          <a:prstGeom prst="rect">
            <a:avLst/>
          </a:prstGeom>
          <a:solidFill>
            <a:srgbClr val="F2F7FB"/>
          </a:solidFill>
          <a:ln w="0">
            <a:noFill/>
            <a:prstDash val="solid"/>
          </a:ln>
        </p:spPr>
      </p:sp>
      <p:sp>
        <p:nvSpPr>
          <p:cNvPr id="14" name="!!character.anagram"/>
          <p:cNvSpPr/>
          <p:nvPr/>
        </p:nvSpPr>
        <p:spPr>
          <a:xfrm>
            <a:off x="857250" y="2952750"/>
            <a:ext cx="104775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87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SILENT</a:t>
            </a:r>
            <a:endParaRPr lang="zh-CN"/>
          </a:p>
        </p:txBody>
      </p:sp>
      <p:sp>
        <p:nvSpPr>
          <p:cNvPr id="15" name="!!chrome.pair12.text.14"/>
          <p:cNvSpPr txBox="1"/>
          <p:nvPr/>
        </p:nvSpPr>
        <p:spPr>
          <a:xfrm>
            <a:off x="781050" y="5562600"/>
            <a:ext cx="10648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字符集合保持一致；重复字符和断行需要在目标播放器中单独检查。</a:t>
            </a:r>
            <a:endParaRPr lang="zh-CN"/>
          </a:p>
        </p:txBody>
      </p:sp>
      <p:sp>
        <p:nvSpPr>
          <p:cNvPr id="16" name="footer.rule.237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7" name="footer.label.238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18" name="footer.page.239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13 / 14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00">
        <p159:morph option="byCha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.accent.182"/>
          <p:cNvSpPr/>
          <p:nvPr/>
        </p:nvSpPr>
        <p:spPr>
          <a:xfrm>
            <a:off x="114300" y="95250"/>
            <a:ext cx="304800" cy="6096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" name="header.number.183"/>
          <p:cNvSpPr txBox="1"/>
          <p:nvPr/>
        </p:nvSpPr>
        <p:spPr>
          <a:xfrm>
            <a:off x="476250" y="114300"/>
            <a:ext cx="838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775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4</a:t>
            </a:r>
            <a:endParaRPr lang="zh-CN"/>
          </a:p>
        </p:txBody>
      </p:sp>
      <p:sp>
        <p:nvSpPr>
          <p:cNvPr id="4" name="header.gradient.184"/>
          <p:cNvSpPr/>
          <p:nvPr/>
        </p:nvSpPr>
        <p:spPr>
          <a:xfrm>
            <a:off x="1371600" y="95250"/>
            <a:ext cx="10706100" cy="609600"/>
          </a:xfrm>
          <a:prstGeom prst="rect">
            <a:avLst/>
          </a:prstGeom>
          <a:gradFill rotWithShape="1">
            <a:gsLst>
              <a:gs pos="0">
                <a:srgbClr val="0759BE"/>
              </a:gs>
              <a:gs pos="100000">
                <a:srgbClr val="ECF2FA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5" name="header.title.185"/>
          <p:cNvSpPr txBox="1"/>
          <p:nvPr/>
        </p:nvSpPr>
        <p:spPr>
          <a:xfrm>
            <a:off x="1562100" y="11430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 xml:space="preserve">模式、身份与来源</a:t>
            </a:r>
            <a:endParaRPr lang="zh-CN"/>
          </a:p>
        </p:txBody>
      </p:sp>
      <p:sp>
        <p:nvSpPr>
          <p:cNvPr id="6" name="header.library.186"/>
          <p:cNvSpPr txBox="1"/>
          <p:nvPr/>
        </p:nvSpPr>
        <p:spPr>
          <a:xfrm>
            <a:off x="9734550" y="209550"/>
            <a:ext cx="2152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1500" b="1">
                <a:solidFill>
                  <a:srgbClr val="074A9B"/>
                </a:solidFill>
                <a:latin typeface="Noto Sans SC"/>
                <a:ea typeface="Noto Sans SC"/>
                <a:cs typeface="Noto Sans SC"/>
              </a:rPr>
              <a:t xml:space="preserve">平滑效果</a:t>
            </a:r>
            <a:endParaRPr lang="zh-CN"/>
          </a:p>
        </p:txBody>
      </p:sp>
      <p:sp>
        <p:nvSpPr>
          <p:cNvPr id="7" name="info.lead.187"/>
          <p:cNvSpPr/>
          <p:nvPr/>
        </p:nvSpPr>
        <p:spPr>
          <a:xfrm>
            <a:off x="457200" y="895350"/>
            <a:ext cx="112776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8" name="info.lead.icon.a.188"/>
          <p:cNvSpPr/>
          <p:nvPr/>
        </p:nvSpPr>
        <p:spPr>
          <a:xfrm>
            <a:off x="600075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9" name="info.lead.icon.b.189"/>
          <p:cNvSpPr/>
          <p:nvPr/>
        </p:nvSpPr>
        <p:spPr>
          <a:xfrm>
            <a:off x="696468" y="1104900"/>
            <a:ext cx="148971" cy="219075"/>
          </a:xfrm>
          <a:prstGeom prst="chevron">
            <a:avLst/>
          </a:prstGeom>
          <a:gradFill rotWithShape="1">
            <a:gsLst>
              <a:gs pos="0">
                <a:srgbClr val="B8D4EF"/>
              </a:gs>
              <a:gs pos="100000">
                <a:srgbClr val="0759BE"/>
              </a:gs>
            </a:gsLst>
            <a:lin ang="0" scaled="1"/>
          </a:gradFill>
          <a:ln w="0">
            <a:noFill/>
            <a:prstDash val="solid"/>
          </a:ln>
        </p:spPr>
      </p:sp>
      <p:sp>
        <p:nvSpPr>
          <p:cNvPr id="10" name="info.lead.text.190"/>
          <p:cNvSpPr txBox="1"/>
          <p:nvPr/>
        </p:nvSpPr>
        <p:spPr>
          <a:xfrm>
            <a:off x="962025" y="981075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先让两个停靠状态表达清楚，再确认所用模式、对象对应关系与播放效果。</a:t>
            </a:r>
            <a:endParaRPr lang="zh-CN"/>
          </a:p>
        </p:txBody>
      </p:sp>
      <p:sp>
        <p:nvSpPr>
          <p:cNvPr id="11" name="region.settings-0.frame"/>
          <p:cNvSpPr/>
          <p:nvPr/>
        </p:nvSpPr>
        <p:spPr>
          <a:xfrm>
            <a:off x="628650" y="1924050"/>
            <a:ext cx="10934700" cy="838200"/>
          </a:xfrm>
          <a:prstGeom prst="rect">
            <a:avLst/>
          </a:prstGeom>
          <a:solidFill>
            <a:srgbClr val="F2F7FB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" name="text.11.191"/>
          <p:cNvSpPr txBox="1"/>
          <p:nvPr/>
        </p:nvSpPr>
        <p:spPr>
          <a:xfrm>
            <a:off x="781050" y="20574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对象模式</a:t>
            </a:r>
            <a:endParaRPr lang="zh-CN"/>
          </a:p>
        </p:txBody>
      </p:sp>
      <p:sp>
        <p:nvSpPr>
          <p:cNvPr id="13" name="text.12.192"/>
          <p:cNvSpPr txBox="1"/>
          <p:nvPr/>
        </p:nvSpPr>
        <p:spPr>
          <a:xfrm>
            <a:off x="3571875" y="200025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位置、尺寸、旋转与形状可共同变化。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同一转场中可并行展示多个独立场景。</a:t>
            </a:r>
            <a:endParaRPr lang="zh-CN"/>
          </a:p>
        </p:txBody>
      </p:sp>
      <p:sp>
        <p:nvSpPr>
          <p:cNvPr id="14" name="region.settings-1.frame"/>
          <p:cNvSpPr/>
          <p:nvPr/>
        </p:nvSpPr>
        <p:spPr>
          <a:xfrm>
            <a:off x="628650" y="2857500"/>
            <a:ext cx="10934700" cy="8382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5" name="text.14.193"/>
          <p:cNvSpPr txBox="1"/>
          <p:nvPr/>
        </p:nvSpPr>
        <p:spPr>
          <a:xfrm>
            <a:off x="781050" y="29908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词语／字符模式</a:t>
            </a:r>
            <a:endParaRPr lang="zh-CN"/>
          </a:p>
        </p:txBody>
      </p:sp>
      <p:sp>
        <p:nvSpPr>
          <p:cNvPr id="16" name="text.15.194"/>
          <p:cNvSpPr txBox="1"/>
          <p:nvPr/>
        </p:nvSpPr>
        <p:spPr>
          <a:xfrm>
            <a:off x="3571875" y="293370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匹配单位由整页的转场选项决定。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本册分别保留一组状态，避免模式冲突。</a:t>
            </a:r>
            <a:endParaRPr lang="zh-CN"/>
          </a:p>
        </p:txBody>
      </p:sp>
      <p:sp>
        <p:nvSpPr>
          <p:cNvPr id="17" name="region.settings-2.frame"/>
          <p:cNvSpPr/>
          <p:nvPr/>
        </p:nvSpPr>
        <p:spPr>
          <a:xfrm>
            <a:off x="628650" y="3790950"/>
            <a:ext cx="10934700" cy="838200"/>
          </a:xfrm>
          <a:prstGeom prst="rect">
            <a:avLst/>
          </a:prstGeom>
          <a:solidFill>
            <a:srgbClr val="F2F7FB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8" name="text.17.195"/>
          <p:cNvSpPr txBox="1"/>
          <p:nvPr/>
        </p:nvSpPr>
        <p:spPr>
          <a:xfrm>
            <a:off x="781050" y="392430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对象身份与阅读</a:t>
            </a:r>
            <a:endParaRPr lang="zh-CN"/>
          </a:p>
        </p:txBody>
      </p:sp>
      <p:sp>
        <p:nvSpPr>
          <p:cNvPr id="19" name="text.18.196"/>
          <p:cNvSpPr txBox="1"/>
          <p:nvPr/>
        </p:nvSpPr>
        <p:spPr>
          <a:xfrm>
            <a:off x="3571875" y="3867150"/>
            <a:ext cx="7772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成对对象保留一致的 !! 名称。</a:t>
            </a:r>
            <a:endParaRPr lang="zh-CN"/>
          </a:p>
          <a:p>
            <a:pPr algn="l">
              <a:lnSpc>
                <a:spcPct val="120000"/>
              </a:lnSpc>
            </a:pPr>
            <a:r>
              <a: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 xml:space="preserve">字体按画面重排；停靠状态应完整可读。</a:t>
            </a:r>
            <a:endParaRPr lang="zh-CN"/>
          </a:p>
        </p:txBody>
      </p:sp>
      <p:sp>
        <p:nvSpPr>
          <p:cNvPr id="20" name="region.sources.frame"/>
          <p:cNvSpPr/>
          <p:nvPr/>
        </p:nvSpPr>
        <p:spPr>
          <a:xfrm>
            <a:off x="628650" y="4838700"/>
            <a:ext cx="10934700" cy="16383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text.20.197"/>
          <p:cNvSpPr txBox="1"/>
          <p:nvPr/>
        </p:nvSpPr>
        <p:spPr>
          <a:xfrm>
            <a:off x="762000" y="493395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来源：原始参考中的 Microsoft 官方使用说明</a:t>
            </a:r>
            <a:endParaRPr lang="zh-CN"/>
          </a:p>
        </p:txBody>
      </p:sp>
      <p:sp>
        <p:nvSpPr>
          <p:cNvPr id="22" name="text.21.198">
            <a:hlinkClick r:id="compactSource1"/>
          </p:cNvPr>
          <p:cNvSpPr txBox="1"/>
          <p:nvPr/>
        </p:nvSpPr>
        <p:spPr>
          <a:xfrm>
            <a:off x="800100" y="53340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0759BE"/>
                </a:solidFill>
                <a:latin typeface="Noto Sans SC"/>
                <a:ea typeface="Noto Sans SC"/>
                <a:cs typeface="Noto Sans SC"/>
              </a:rPr>
              <a:t xml:space="preserve">Microsoft：Morph 使用方法</a:t>
            </a:r>
            <a:endParaRPr lang="zh-CN"/>
          </a:p>
        </p:txBody>
      </p:sp>
      <p:sp>
        <p:nvSpPr>
          <p:cNvPr id="23" name="text.22.199">
            <a:hlinkClick r:id="compactSource2"/>
          </p:cNvPr>
          <p:cNvSpPr txBox="1"/>
          <p:nvPr/>
        </p:nvSpPr>
        <p:spPr>
          <a:xfrm>
            <a:off x="800100" y="57150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0759BE"/>
                </a:solidFill>
                <a:latin typeface="Noto Sans SC"/>
                <a:ea typeface="Noto Sans SC"/>
                <a:cs typeface="Noto Sans SC"/>
              </a:rPr>
              <a:t xml:space="preserve">Microsoft：对象匹配与使用技巧</a:t>
            </a:r>
            <a:endParaRPr lang="zh-CN"/>
          </a:p>
        </p:txBody>
      </p:sp>
      <p:sp>
        <p:nvSpPr>
          <p:cNvPr id="24" name="text.23.200"/>
          <p:cNvSpPr txBox="1"/>
          <p:nvPr/>
        </p:nvSpPr>
        <p:spPr>
          <a:xfrm>
            <a:off x="800100" y="6210300"/>
            <a:ext cx="1047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不支持平滑的播放器使用淡化回退；静态预览只能检查两个停靠状态。</a:t>
            </a:r>
            <a:endParaRPr lang="zh-CN"/>
          </a:p>
        </p:txBody>
      </p:sp>
      <p:sp>
        <p:nvSpPr>
          <p:cNvPr id="25" name="footer.rule.240"/>
          <p:cNvSpPr/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6" name="footer.label.241"/>
          <p:cNvSpPr txBox="1"/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rPr>
              <a:t xml:space="preserve">十类平滑效果 · 原生对象演示</a:t>
            </a:r>
            <a:endParaRPr lang="zh-CN"/>
          </a:p>
        </p:txBody>
      </p:sp>
      <p:sp>
        <p:nvSpPr>
          <p:cNvPr id="27" name="footer.page.242"/>
          <p:cNvSpPr txBox="1"/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rPr>
              <a:t xml:space="preserve">14 / 14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