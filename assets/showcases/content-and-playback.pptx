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98fd1a2f9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封面采用原有蓝白颜色与思源黑体，减少标准内容页的页眉结构。三类对象构成此次设计范围；现有组件库提供图形基础，内容与放映能力仍处于设计阶段。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设计提案与隔离原型。现有 C01–C39 保持稳定。公式、图表和媒体使用独立内容类型；解释和放映通过稳定键引用内容对象。此页用少量例子说明组织关系，不罗列全部 PowerPoint 功能。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设计提案与隔离原型。各阶段均用真实的完整页面验收，保留旧版组件生成测试。PowerPoint 原生对象、静态讲义和兼容性报告是不同交付物；阶段完成需要同时满足相应检查。本轮交付为设计方案与示范分镜，后续实现按这一顺序推进。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设计提案与隔离原型。公式应输出为可编辑的 Office Math 对象并保留 LaTeX 源码。标注通过语义片段键连接，不使用字符串下标。此页的重点是公式、变量与解释的对应关系，模型仅用于演示排版。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原型能力：显式 Math AST 转 Office Math，尚未实现 LaTeX 解析。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来源：https://learn.microsoft.com/en-us/office/math/latex</a:t>
            </a: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设计提案与隔离原型。每行保持独立可编辑公式，按等号对齐。推导步骤的解释紧邻对应行；静态讲义保留完整推导与 λ&gt;0 的条件，避免动画隐藏必要假设。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本页含两个 PowerPoint 原生点击出现批次。初始显示目标，第一次点击显示导数，第二次点击显示解与条件。编辑视图和讲义显示完整状态。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来源：https://learn.microsoft.com/en-us/office/math/latex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https://support.microsoft.com/en-us/powerpoint/training/animate-text-or-objects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对应实现：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设计提案与隔离原型。代码文本、行号与高亮层应分别保持可编辑。示范输入与输出是人工给定的简单算例，输出对应前面推导的标量解；将来可以逐行高亮，但不在 PPT 中执行代码。</a:t>
            </a: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设计提案与隔离原型。图表应保留原生数据工作簿，数值修改后重新生成折线与结论。横轴当前按类别等距排列，反映三档规模的比较；若使用数值距离，应改为散点图。25% 为 28/110 的近似值，不用于真实性能判断。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原型能力：原生折线图与嵌入式工作簿。工作簿为本次字面数据快照，不含外部工作簿公式；演示数据不代表真实测量。25% 为 (110−82)/110 的近似值。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来源：https://support.microsoft.com/en-us/powerpoint/change-the-data-in-an-existing-chart</a:t>
            </a: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设计提案与隔离原型。本页展示动画分镜。提议动画使用 appear/fadeIn/wipe/emphasis 等基础效果，按稳定对象键关联；放映实现需另行在 PowerPoint 中验证，静态设计稿并不等同于可播放动画。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本页含三个实际的原生点击出现批次：处理节点与连接线，输出节点与连接线，结论带。这里只实现出现效果，提议中的擦除、强调和路径移动尚待实现。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来源：https://support.microsoft.com/en-us/powerpoint/training/animate-text-or-objects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导航与媒体说明：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设计提案与隔离原型。没有提供视频文件，本页只设计媒体区域、播放行为和导航关系，不嵌入无来源媒体。视频、超链接和转场应分别建模，导出器在缺少能力或素材时明确报告，不以空白对象冒充已实现。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内部跳转已写入原生超链接；视频素材尚未提供，未嵌入视频或伪造播放内容。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来源：https://support.microsoft.com/en-us/powerpoint/insert-and-play-a-video-file-from-your-computer</a:t>
            </a: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设计提案与隔离原型。采用原生几何图形表达总览与局部关系，不生成模拟实验照片。未来图片能力应支持 SVG、裁切和放大窗；真实证据必须保留来源及原始比例。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设计提案与隔离原型。没有提供视频文件，本页只设计媒体区域、播放行为和导航关系，不嵌入无来源媒体。视频、超链接和转场应分别建模，导出器在缺少能力或素材时明确报告，不以空白对象冒充已实现。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内部跳转已写入原生超链接；视频素材尚未提供，未嵌入视频或伪造播放内容。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来源：https://support.microsoft.com/en-us/powerpoint/insert-and-play-a-video-file-from-your-computer</a:t>
            </a:r>
            <a:endParaRPr lang="zh-CN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84ec0427e41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e28f12df44d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0a29960eb4d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6b5459ceb49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fcdf88b78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01118aac7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E4551-8081-4FAF-8D01-5DC39E49A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9391F-A1B1-479B-B764-3FBB2C9D3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1C21D5-64B6-4184-B99A-AF41B86D7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05D146-56C6-431F-A172-320A7F412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131817-153A-4FB9-B1A7-9E2117AEF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31F556-B4E3-4B8B-AAF0-D1794B172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4F2A0C-0E08-452B-BE84-C0C555283A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2899F0-6EF3-4D86-A45D-5AFEA0044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FB00F-2ADC-489B-B48C-07A7BC269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3A49A2-F061-40D3-92F3-EE081622B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1204dd6e14f92" /><Relationship Type="http://schemas.openxmlformats.org/officeDocument/2006/relationships/slideLayout" Target="/ppt/slideLayouts/slideLayout1.xml" Id="R4c9fbff4d154488c" /><Relationship Type="http://schemas.openxmlformats.org/officeDocument/2006/relationships/slideLayout" Target="/ppt/slideLayouts/slideLayout2.xml" Id="R0aea2a2bc593403e" /><Relationship Type="http://schemas.openxmlformats.org/officeDocument/2006/relationships/slideLayout" Target="/ppt/slideLayouts/slideLayout3.xml" Id="R3f3d61f5a0c24e61" /><Relationship Type="http://schemas.openxmlformats.org/officeDocument/2006/relationships/slideLayout" Target="/ppt/slideLayouts/slideLayout4.xml" Id="Rd142328ac1214ff9" /><Relationship Type="http://schemas.openxmlformats.org/officeDocument/2006/relationships/slideLayout" Target="/ppt/slideLayouts/slideLayout5.xml" Id="Rfbd490c750d34d48" /><Relationship Type="http://schemas.openxmlformats.org/officeDocument/2006/relationships/slideLayout" Target="/ppt/slideLayouts/slideLayout6.xml" Id="Rfbca71729b7348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fbff4d154488c"/>
    <p:sldLayoutId xmlns:r="http://schemas.openxmlformats.org/officeDocument/2006/relationships" id="2147483650" r:id="R0aea2a2bc593403e"/>
    <p:sldLayoutId xmlns:r="http://schemas.openxmlformats.org/officeDocument/2006/relationships" id="2147483651" r:id="R3f3d61f5a0c24e61"/>
    <p:sldLayoutId xmlns:r="http://schemas.openxmlformats.org/officeDocument/2006/relationships" id="2147483652" r:id="Rd142328ac1214ff9"/>
    <p:sldLayoutId xmlns:r="http://schemas.openxmlformats.org/officeDocument/2006/relationships" id="2147483653" r:id="Rfbd490c750d34d48"/>
    <p:sldLayoutId xmlns:r="http://schemas.openxmlformats.org/officeDocument/2006/relationships" id="2147483654" r:id="Rfbca71729b7348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compactNav2" Type="http://schemas.openxmlformats.org/officeDocument/2006/relationships/slide" Target="slide2.xml"/><Relationship Id="compactNav3" Type="http://schemas.openxmlformats.org/officeDocument/2006/relationships/slide" Target="slide3.xml"/><Relationship Id="compactNav4" Type="http://schemas.openxmlformats.org/officeDocument/2006/relationships/slide" Target="slide4.xml"/><Relationship Id="compactNav5" Type="http://schemas.openxmlformats.org/officeDocument/2006/relationships/slide" Target="slide5.xml"/><Relationship Id="compactNav6" Type="http://schemas.openxmlformats.org/officeDocument/2006/relationships/slide" Target="slide6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DesignChart" Type="http://schemas.openxmlformats.org/officeDocument/2006/relationships/chart" Target="/ppt/slides/charts/char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compactNav3" Type="http://schemas.openxmlformats.org/officeDocument/2006/relationships/slide" Target="slide3.xml"/><Relationship Id="compactNav4" Type="http://schemas.openxmlformats.org/officeDocument/2006/relationships/slide" Target="slide4.xml"/><Relationship Id="compactNav1" Type="http://schemas.openxmlformats.org/officeDocument/2006/relationships/slide" Target="slide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方案甲</c:v>
          </c:tx>
          <c:spPr>
            <a:ln xmlns:a="http://schemas.openxmlformats.org/drawingml/2006/main" w="28575">
              <a:solidFill>
                <a:srgbClr val="0759B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0759BE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28</c:v>
                </c:pt>
                <c:pt idx="1">
                  <c:v>64</c:v>
                </c:pt>
                <c:pt idx="2">
                  <c:v>110</c:v>
                </c:pt>
              </c:numCache>
            </c:numRef>
          </c:val>
          <c:smooth val="0"/>
        </c:ser>
        <c:ser>
          <c:idx val="1"/>
          <c:order val="1"/>
          <c:tx>
            <c:v>方案乙</c:v>
          </c:tx>
          <c:spPr>
            <a:ln xmlns:a="http://schemas.openxmlformats.org/drawingml/2006/main" w="28575">
              <a:solidFill>
                <a:srgbClr val="AF3438"/>
              </a:solidFill>
              <a:prstDash val="solid"/>
            </a:ln>
          </c:spPr>
          <c:marker>
            <c:symbol val="square"/>
            <c:size val="8"/>
            <c:spPr>
              <a:solidFill xmlns:a="http://schemas.openxmlformats.org/drawingml/2006/main">
                <a:srgbClr val="AF3438"/>
              </a:solidFill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D242B"/>
                    </a:solidFill>
                    <a:latin typeface="Noto Sans SC"/>
                    <a:ea typeface="Noto Sans SC"/>
                    <a:cs typeface="Noto Sans SC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Data'!$C$2:$C$4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24</c:v>
                </c:pt>
                <c:pt idx="1">
                  <c:v>49</c:v>
                </c:pt>
                <c:pt idx="2">
                  <c:v>82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D242B"/>
                    </a:solidFill>
                    <a:latin typeface="Noto Sans SC"/>
                    <a:ea typeface="Noto Sans SC"/>
                    <a:cs typeface="Noto Sans SC"/>
                  </a:rPr>
                  <a:t>样本规模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B4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D242B"/>
                    </a:solidFill>
                    <a:latin typeface="Noto Sans SC"/>
                    <a:ea typeface="Noto Sans SC"/>
                    <a:cs typeface="Noto Sans SC"/>
                  </a:rPr>
                  <a:t>处理耗时（毫秒）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4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D242B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1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2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1</a:t>
            </a:r>
            <a:endParaRPr lang="zh-CN"/>
          </a:p>
        </p:txBody>
      </p:sp>
      <p:sp>
        <p:nvSpPr>
          <p:cNvPr id="4" name="header.gradient.3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4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内容与放映导览</a:t>
            </a:r>
            <a:endParaRPr lang="zh-CN"/>
          </a:p>
        </p:txBody>
      </p:sp>
      <p:sp>
        <p:nvSpPr>
          <p:cNvPr id="6" name="header.library.5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内容与放映</a:t>
            </a:r>
            <a:endParaRPr lang="zh-CN"/>
          </a:p>
        </p:txBody>
      </p:sp>
      <p:sp>
        <p:nvSpPr>
          <p:cNvPr id="7" name="info.lead.6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7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8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9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按解释任务选择内容形式；相关表达在同一页对照。</a:t>
            </a:r>
            <a:endParaRPr lang="zh-CN"/>
          </a:p>
        </p:txBody>
      </p:sp>
      <p:sp>
        <p:nvSpPr>
          <p:cNvPr id="11" name="style.panel.guide.0"/>
          <p:cNvSpPr/>
          <p:nvPr/>
        </p:nvSpPr>
        <p:spPr>
          <a:xfrm>
            <a:off x="457200" y="1838325"/>
            <a:ext cx="11277600" cy="714375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2" name="text.11.10"/>
          <p:cNvSpPr txBox="1"/>
          <p:nvPr/>
        </p:nvSpPr>
        <p:spPr>
          <a:xfrm>
            <a:off x="666750" y="19526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2" action="ppaction://hlinksldjump"/>
              </a:rPr>
              <a:t xml:space="preserve">2.1　公式与注释</a:t>
            </a:r>
            <a:endParaRPr lang="zh-CN"/>
          </a:p>
        </p:txBody>
      </p:sp>
      <p:sp>
        <p:nvSpPr>
          <p:cNvPr id="13" name="text.12.11"/>
          <p:cNvSpPr txBox="1"/>
          <p:nvPr/>
        </p:nvSpPr>
        <p:spPr>
          <a:xfrm>
            <a:off x="3829050" y="1952625"/>
            <a:ext cx="76200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用分式、求和、上下标表达结构，并在旁边解释变量。</a:t>
            </a:r>
            <a:endParaRPr lang="zh-CN"/>
          </a:p>
        </p:txBody>
      </p:sp>
      <p:sp>
        <p:nvSpPr>
          <p:cNvPr id="14" name="style.panel.guide.1"/>
          <p:cNvSpPr/>
          <p:nvPr/>
        </p:nvSpPr>
        <p:spPr>
          <a:xfrm>
            <a:off x="457200" y="2619375"/>
            <a:ext cx="11277600" cy="714375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5" name="text.14.12"/>
          <p:cNvSpPr txBox="1"/>
          <p:nvPr/>
        </p:nvSpPr>
        <p:spPr>
          <a:xfrm>
            <a:off x="666750" y="273367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3" action="ppaction://hlinksldjump"/>
              </a:rPr>
              <a:t xml:space="preserve">2.2　推导与代码</a:t>
            </a:r>
            <a:endParaRPr lang="zh-CN"/>
          </a:p>
        </p:txBody>
      </p:sp>
      <p:sp>
        <p:nvSpPr>
          <p:cNvPr id="16" name="text.15.13"/>
          <p:cNvSpPr txBox="1"/>
          <p:nvPr/>
        </p:nvSpPr>
        <p:spPr>
          <a:xfrm>
            <a:off x="3829050" y="2733675"/>
            <a:ext cx="76200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三步推导与对应实现并排，点击只增加一个运算关系。</a:t>
            </a:r>
            <a:endParaRPr lang="zh-CN"/>
          </a:p>
        </p:txBody>
      </p:sp>
      <p:sp>
        <p:nvSpPr>
          <p:cNvPr id="17" name="style.panel.guide.2"/>
          <p:cNvSpPr/>
          <p:nvPr/>
        </p:nvSpPr>
        <p:spPr>
          <a:xfrm>
            <a:off x="457200" y="3400425"/>
            <a:ext cx="11277600" cy="714375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8" name="text.17.14"/>
          <p:cNvSpPr txBox="1"/>
          <p:nvPr/>
        </p:nvSpPr>
        <p:spPr>
          <a:xfrm>
            <a:off x="666750" y="35147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4" action="ppaction://hlinksldjump"/>
              </a:rPr>
              <a:t xml:space="preserve">3　数据与证据</a:t>
            </a:r>
            <a:endParaRPr lang="zh-CN"/>
          </a:p>
        </p:txBody>
      </p:sp>
      <p:sp>
        <p:nvSpPr>
          <p:cNvPr id="19" name="text.18.15"/>
          <p:cNvSpPr txBox="1"/>
          <p:nvPr/>
        </p:nvSpPr>
        <p:spPr>
          <a:xfrm>
            <a:off x="3829050" y="3514725"/>
            <a:ext cx="76200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原生图表关联嵌入工作簿，数值与条件同时呈现。</a:t>
            </a:r>
            <a:endParaRPr lang="zh-CN"/>
          </a:p>
        </p:txBody>
      </p:sp>
      <p:sp>
        <p:nvSpPr>
          <p:cNvPr id="20" name="style.panel.guide.3"/>
          <p:cNvSpPr/>
          <p:nvPr/>
        </p:nvSpPr>
        <p:spPr>
          <a:xfrm>
            <a:off x="457200" y="4181475"/>
            <a:ext cx="11277600" cy="714375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21" name="text.20.16"/>
          <p:cNvSpPr txBox="1"/>
          <p:nvPr/>
        </p:nvSpPr>
        <p:spPr>
          <a:xfrm>
            <a:off x="666750" y="429577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5" action="ppaction://hlinksldjump"/>
              </a:rPr>
              <a:t xml:space="preserve">4　步骤与导航</a:t>
            </a:r>
            <a:endParaRPr lang="zh-CN"/>
          </a:p>
        </p:txBody>
      </p:sp>
      <p:sp>
        <p:nvSpPr>
          <p:cNvPr id="22" name="text.21.17"/>
          <p:cNvSpPr txBox="1"/>
          <p:nvPr/>
        </p:nvSpPr>
        <p:spPr>
          <a:xfrm>
            <a:off x="3829050" y="4295775"/>
            <a:ext cx="76200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节点、连接线与说明同步出现，补充材料可往返跳转。</a:t>
            </a:r>
            <a:endParaRPr lang="zh-CN"/>
          </a:p>
        </p:txBody>
      </p:sp>
      <p:sp>
        <p:nvSpPr>
          <p:cNvPr id="23" name="style.panel.guide.4"/>
          <p:cNvSpPr/>
          <p:nvPr/>
        </p:nvSpPr>
        <p:spPr>
          <a:xfrm>
            <a:off x="457200" y="4962525"/>
            <a:ext cx="11277600" cy="714375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24" name="text.23.18"/>
          <p:cNvSpPr txBox="1"/>
          <p:nvPr/>
        </p:nvSpPr>
        <p:spPr>
          <a:xfrm>
            <a:off x="666750" y="50768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6" action="ppaction://hlinksldjump"/>
              </a:rPr>
              <a:t xml:space="preserve">5　图像与媒体</a:t>
            </a:r>
            <a:endParaRPr lang="zh-CN"/>
          </a:p>
        </p:txBody>
      </p:sp>
      <p:sp>
        <p:nvSpPr>
          <p:cNvPr id="25" name="text.24.19"/>
          <p:cNvSpPr txBox="1"/>
          <p:nvPr/>
        </p:nvSpPr>
        <p:spPr>
          <a:xfrm>
            <a:off x="3829050" y="5076825"/>
            <a:ext cx="76200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总览和局部共享定位标记；视频区域保留字幕空间。</a:t>
            </a:r>
            <a:endParaRPr lang="zh-CN"/>
          </a:p>
        </p:txBody>
      </p:sp>
      <p:sp>
        <p:nvSpPr>
          <p:cNvPr id="26" name="style.panel.guide.conclusion"/>
          <p:cNvSpPr/>
          <p:nvPr/>
        </p:nvSpPr>
        <p:spPr>
          <a:xfrm>
            <a:off x="457200" y="5829300"/>
            <a:ext cx="11277600" cy="666750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27" name="text.26.20"/>
          <p:cNvSpPr txBox="1"/>
          <p:nvPr/>
        </p:nvSpPr>
        <p:spPr>
          <a:xfrm>
            <a:off x="666750" y="6057900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阅读时核对对象与条件；放映时核对点击顺序与返回路径。</a:t>
            </a:r>
            <a:endParaRPr lang="zh-CN"/>
          </a:p>
        </p:txBody>
      </p:sp>
      <p:sp>
        <p:nvSpPr>
          <p:cNvPr id="28" name="footer.rule.84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9" name="footer.label.85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内容与放映参考</a:t>
            </a:r>
            <a:endParaRPr lang="zh-CN"/>
          </a:p>
        </p:txBody>
      </p:sp>
      <p:sp>
        <p:nvSpPr>
          <p:cNvPr id="30" name="footer.page.86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 / 6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36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37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2.1</a:t>
            </a:r>
            <a:endParaRPr lang="zh-CN"/>
          </a:p>
        </p:txBody>
      </p:sp>
      <p:sp>
        <p:nvSpPr>
          <p:cNvPr id="4" name="header.gradient.38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39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公式需要结构与解释</a:t>
            </a:r>
            <a:endParaRPr lang="zh-CN"/>
          </a:p>
        </p:txBody>
      </p:sp>
      <p:sp>
        <p:nvSpPr>
          <p:cNvPr id="6" name="header.library.40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内容与放映</a:t>
            </a:r>
            <a:endParaRPr lang="zh-CN"/>
          </a:p>
        </p:txBody>
      </p:sp>
      <p:sp>
        <p:nvSpPr>
          <p:cNvPr id="7" name="info.lead.41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42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43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44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损失函数的两项分别约束拟合误差和参数大小。</a:t>
            </a:r>
            <a:endParaRPr lang="zh-CN"/>
          </a:p>
        </p:txBody>
      </p:sp>
      <p:sp>
        <p:nvSpPr>
          <p:cNvPr id="11" name="text.10.45"/>
          <p:cNvSpPr txBox="1"/>
          <p:nvPr/>
        </p:nvSpPr>
        <p:spPr>
          <a:xfrm>
            <a:off x="11163300" y="2381250"/>
            <a:ext cx="38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(1)</a:t>
            </a:r>
            <a:endParaRPr lang="zh-CN"/>
          </a:p>
        </p:txBody>
      </p:sp>
      <p:sp>
        <p:nvSpPr>
          <p:cNvPr id="12" name="fit.rule.46"/>
          <p:cNvSpPr/>
          <p:nvPr/>
        </p:nvSpPr>
        <p:spPr>
          <a:xfrm>
            <a:off x="1714500" y="3619500"/>
            <a:ext cx="4667250" cy="0"/>
          </a:xfrm>
          <a:prstGeom prst="line">
            <a:avLst/>
          </a:prstGeom>
          <a:noFill/>
          <a:ln w="19050">
            <a:solidFill>
              <a:srgbClr val="0759BE"/>
            </a:solidFill>
            <a:prstDash val="solid"/>
          </a:ln>
        </p:spPr>
      </p:sp>
      <p:sp>
        <p:nvSpPr>
          <p:cNvPr id="13" name="constraint.rule.47"/>
          <p:cNvSpPr/>
          <p:nvPr/>
        </p:nvSpPr>
        <p:spPr>
          <a:xfrm>
            <a:off x="8143875" y="3619500"/>
            <a:ext cx="2857500" cy="0"/>
          </a:xfrm>
          <a:prstGeom prst="line">
            <a:avLst/>
          </a:prstGeom>
          <a:noFill/>
          <a:ln w="19050">
            <a:solidFill>
              <a:srgbClr val="AF3438"/>
            </a:solidFill>
            <a:prstDash val="solid"/>
          </a:ln>
        </p:spPr>
      </p:sp>
      <p:sp>
        <p:nvSpPr>
          <p:cNvPr id="14" name="text.13.48"/>
          <p:cNvSpPr txBox="1"/>
          <p:nvPr/>
        </p:nvSpPr>
        <p:spPr>
          <a:xfrm>
            <a:off x="1714500" y="3743325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拟合误差</a:t>
            </a:r>
            <a:endParaRPr lang="zh-CN"/>
          </a:p>
        </p:txBody>
      </p:sp>
      <p:sp>
        <p:nvSpPr>
          <p:cNvPr id="15" name="text.14.49"/>
          <p:cNvSpPr txBox="1"/>
          <p:nvPr/>
        </p:nvSpPr>
        <p:spPr>
          <a:xfrm>
            <a:off x="1714500" y="4191000"/>
            <a:ext cx="466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预测值与观测值的平均平方差</a:t>
            </a:r>
            <a:endParaRPr lang="zh-CN"/>
          </a:p>
        </p:txBody>
      </p:sp>
      <p:sp>
        <p:nvSpPr>
          <p:cNvPr id="16" name="text.15.50"/>
          <p:cNvSpPr txBox="1"/>
          <p:nvPr/>
        </p:nvSpPr>
        <p:spPr>
          <a:xfrm>
            <a:off x="8143875" y="3743325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 xml:space="preserve">参数约束</a:t>
            </a:r>
            <a:endParaRPr lang="zh-CN"/>
          </a:p>
        </p:txBody>
      </p:sp>
      <p:sp>
        <p:nvSpPr>
          <p:cNvPr id="17" name="text.16.51"/>
          <p:cNvSpPr txBox="1"/>
          <p:nvPr/>
        </p:nvSpPr>
        <p:spPr>
          <a:xfrm>
            <a:off x="7810500" y="4191000"/>
            <a:ext cx="361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λ 调节对参数大小的惩罚</a:t>
            </a:r>
            <a:endParaRPr lang="zh-CN"/>
          </a:p>
        </p:txBody>
      </p:sp>
      <p:sp>
        <p:nvSpPr>
          <p:cNvPr id="18" name="text.17.52"/>
          <p:cNvSpPr txBox="1"/>
          <p:nvPr/>
        </p:nvSpPr>
        <p:spPr>
          <a:xfrm>
            <a:off x="762000" y="5000625"/>
            <a:ext cx="252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N</a:t>
            </a:r>
            <a:endParaRPr lang="zh-CN"/>
          </a:p>
        </p:txBody>
      </p:sp>
      <p:sp>
        <p:nvSpPr>
          <p:cNvPr id="19" name="text.18.53"/>
          <p:cNvSpPr txBox="1"/>
          <p:nvPr/>
        </p:nvSpPr>
        <p:spPr>
          <a:xfrm>
            <a:off x="762000" y="5467350"/>
            <a:ext cx="252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样本数</a:t>
            </a:r>
            <a:endParaRPr lang="zh-CN"/>
          </a:p>
        </p:txBody>
      </p:sp>
      <p:sp>
        <p:nvSpPr>
          <p:cNvPr id="20" name="text.19.54"/>
          <p:cNvSpPr txBox="1"/>
          <p:nvPr/>
        </p:nvSpPr>
        <p:spPr>
          <a:xfrm>
            <a:off x="3571875" y="5000625"/>
            <a:ext cx="252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yᵢ</a:t>
            </a:r>
            <a:endParaRPr lang="zh-CN"/>
          </a:p>
        </p:txBody>
      </p:sp>
      <p:sp>
        <p:nvSpPr>
          <p:cNvPr id="21" name="text.20.55"/>
          <p:cNvSpPr txBox="1"/>
          <p:nvPr/>
        </p:nvSpPr>
        <p:spPr>
          <a:xfrm>
            <a:off x="3571875" y="5467350"/>
            <a:ext cx="252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观测值</a:t>
            </a:r>
            <a:endParaRPr lang="zh-CN"/>
          </a:p>
        </p:txBody>
      </p:sp>
      <p:sp>
        <p:nvSpPr>
          <p:cNvPr id="22" name="text.21.56"/>
          <p:cNvSpPr txBox="1"/>
          <p:nvPr/>
        </p:nvSpPr>
        <p:spPr>
          <a:xfrm>
            <a:off x="6381750" y="5000625"/>
            <a:ext cx="252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fθ(xᵢ)</a:t>
            </a:r>
            <a:endParaRPr lang="zh-CN"/>
          </a:p>
        </p:txBody>
      </p:sp>
      <p:sp>
        <p:nvSpPr>
          <p:cNvPr id="23" name="text.22.57"/>
          <p:cNvSpPr txBox="1"/>
          <p:nvPr/>
        </p:nvSpPr>
        <p:spPr>
          <a:xfrm>
            <a:off x="6381750" y="5467350"/>
            <a:ext cx="252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模型预测值</a:t>
            </a:r>
            <a:endParaRPr lang="zh-CN"/>
          </a:p>
        </p:txBody>
      </p:sp>
      <p:sp>
        <p:nvSpPr>
          <p:cNvPr id="24" name="text.23.58"/>
          <p:cNvSpPr txBox="1"/>
          <p:nvPr/>
        </p:nvSpPr>
        <p:spPr>
          <a:xfrm>
            <a:off x="9191625" y="5000625"/>
            <a:ext cx="252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λ</a:t>
            </a:r>
            <a:endParaRPr lang="zh-CN"/>
          </a:p>
        </p:txBody>
      </p:sp>
      <p:sp>
        <p:nvSpPr>
          <p:cNvPr id="25" name="text.24.59"/>
          <p:cNvSpPr txBox="1"/>
          <p:nvPr/>
        </p:nvSpPr>
        <p:spPr>
          <a:xfrm>
            <a:off x="9191625" y="5467350"/>
            <a:ext cx="252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约束强度</a:t>
            </a:r>
            <a:endParaRPr lang="zh-CN"/>
          </a:p>
        </p:txBody>
      </p:sp>
      <p:sp>
        <p:nvSpPr>
          <p:cNvPr id="26" name="text.25.60"/>
          <p:cNvSpPr txBox="1"/>
          <p:nvPr/>
        </p:nvSpPr>
        <p:spPr>
          <a:xfrm>
            <a:off x="762000" y="6105525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原生公式原型保留分式、求和与上下标；注释使用独立可编辑文本。</a:t>
            </a:r>
            <a:endParaRPr lang="zh-CN"/>
          </a:p>
        </p:txBody>
      </p:sp>
      <p:sp>
        <p:nvSpPr>
          <p:cNvPr id="27" name="footer.rule.256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8" name="footer.label.257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内容与放映参考</a:t>
            </a:r>
            <a:endParaRPr lang="zh-CN"/>
          </a:p>
        </p:txBody>
      </p:sp>
      <p:sp>
        <p:nvSpPr>
          <p:cNvPr id="29" name="footer.page.258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 / 6</a:t>
            </a:r>
            <a:endParaRPr lang="zh-CN"/>
          </a:p>
        </p:txBody>
      </p:sp>
      <p:sp xmlns:p="http://schemas.openxmlformats.org/presentationml/2006/main" xmlns:a="http://schemas.openxmlformats.org/drawingml/2006/main" xmlns:m="http://schemas.openxmlformats.org/officeDocument/2006/math" xmlns:w="http://schemas.openxmlformats.org/wordprocessingml/2006/main" xmlns:a14="http://schemas.microsoft.com/office/drawing/2010/main" xmlns:mc="http://schemas.openxmlformats.org/markup-compatibility/2006">
        <p:nvSpPr>
          <p:cNvPr id="1001" name="equation.annotated-loss" descr="ℒ(θ) = (1)/(N)∑[i = 1…N] (y_(i) − f_(θ)(x_(i)))^(2) + λ‖θ‖_(2)^(2)"/>
          <p:cNvSpPr txBox="1"/>
          <p:nvPr/>
        </p:nvSpPr>
        <p:spPr>
          <a:xfrm>
            <a:off x="666750" y="2095500"/>
            <a:ext cx="10763250" cy="1238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>
              <a:defRPr sz="2850">
                <a:solidFill>
                  <a:srgbClr val="1D242B"/>
                </a:solidFill>
                <a:latin typeface="Cambria Math"/>
              </a:defRPr>
            </a:pPr>
            <mc:AlternateContent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sty m:val="i"/>
                      </m:rPr>
                      <w:rPr>
                        <w:rFonts w:ascii="Cambria Math" w:hAnsi="Cambria Math"/>
                        <w:color w:val="1D242B"/>
                        <w:sz w:val="57"/>
                      </w:rPr>
                      <m:t xml:space="preserve">ℒ</m:t>
                    </m:r>
                    <m:d>
                      <m:dPr>
                        <m:begChr m:val="("/>
                        <m:endChr m:val=")"/>
                        <m:grow m:val="1"/>
                      </m:dPr>
                      <m:e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θ</m:t>
                        </m:r>
                      </m:e>
                    </m:d>
                    <m:r>
                      <m:rPr>
                        <m:sty m:val="p"/>
                      </m:rPr>
                      <w:rPr>
                        <w:rFonts w:ascii="Cambria Math" w:hAnsi="Cambria Math"/>
                        <w:color w:val="1D242B"/>
                        <w:sz w:val="57"/>
                      </w:rPr>
                      <m:t xml:space="preserve"> = 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1</m:t>
                        </m:r>
                      </m:num>
                      <m:den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N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1"/>
                      </m:naryPr>
                      <m:sub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i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 = 1</m:t>
                        </m:r>
                      </m:sub>
                      <m:sup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N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endChr m:val=")"/>
                                <m:grow m:val="1"/>
                              </m:dPr>
                              <m:e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w:rPr>
                                        <w:rFonts w:ascii="Cambria Math" w:hAnsi="Cambria Math"/>
                                        <w:color w:val="1D242B"/>
                                        <w:sz w:val="57"/>
                                      </w:rPr>
                                      <m:t xml:space="preserve">y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w:rPr>
                                        <w:rFonts w:ascii="Cambria Math" w:hAnsi="Cambria Math"/>
                                        <w:color w:val="1D242B"/>
                                        <w:sz w:val="57"/>
                                      </w:rPr>
                                      <m:t xml:space="preserve"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w:rPr>
                                    <w:rFonts w:ascii="Cambria Math" w:hAnsi="Cambria Math"/>
                                    <w:color w:val="1D242B"/>
                                    <w:sz w:val="57"/>
                                  </w:rPr>
                                  <m:t xml:space="preserve"> − </m:t>
                                </m:r>
                                <m:sSub>
                                  <m:e>
                                    <m:r>
                                      <m:rPr>
                                        <m:sty m:val="i"/>
                                      </m:rPr>
                                      <w:rPr>
                                        <w:rFonts w:ascii="Cambria Math" w:hAnsi="Cambria Math"/>
                                        <w:color w:val="1D242B"/>
                                        <w:sz w:val="57"/>
                                      </w:rPr>
                                      <m:t xml:space="preserve">f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w:rPr>
                                        <w:rFonts w:ascii="Cambria Math" w:hAnsi="Cambria Math"/>
                                        <w:color w:val="1D242B"/>
                                        <w:sz w:val="57"/>
                                      </w:rPr>
                                      <m:t xml:space="preserve">θ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endChr m:val=")"/>
                                    <m:grow m:val="1"/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i"/>
                                          </m:rPr>
                                          <w:rPr>
                                            <w:rFonts w:ascii="Cambria Math" w:hAnsi="Cambria Math"/>
                                            <w:color w:val="1D242B"/>
                                            <w:sz w:val="57"/>
                                          </w:rPr>
                                          <m:t xml:space="preserve"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i"/>
                                          </m:rPr>
                                          <w:rPr>
                                            <w:rFonts w:ascii="Cambria Math" w:hAnsi="Cambria Math"/>
                                            <w:color w:val="1D242B"/>
                                            <w:sz w:val="57"/>
                                          </w:rPr>
                                          <m:t xml:space="preserve"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color w:val="1D242B"/>
                                <w:sz w:val="57"/>
                              </w:rPr>
                              <m:t xml:space="preserve"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w:rPr>
                        <w:rFonts w:ascii="Cambria Math" w:hAnsi="Cambria Math"/>
                        <w:color w:val="1D242B"/>
                        <w:sz w:val="57"/>
                      </w:rPr>
                      <m:t xml:space="preserve"> + </m:t>
                    </m:r>
                    <m:r>
                      <m:rPr>
                        <m:sty m:val="i"/>
                      </m:rPr>
                      <w:rPr>
                        <w:rFonts w:ascii="Cambria Math" w:hAnsi="Cambria Math"/>
                        <w:color w:val="1D242B"/>
                        <w:sz w:val="57"/>
                      </w:rPr>
                      <m:t xml:space="preserve">λ</m:t>
                    </m:r>
                    <m:sSubSup>
                      <m:e>
                        <m:d>
                          <m:dPr>
                            <m:begChr m:val="‖"/>
                            <m:endChr m:val="‖"/>
                            <m:grow m:val="1"/>
                          </m:dPr>
                          <m:e>
                            <m:r>
                              <m:rPr>
                                <m:sty m:val="i"/>
                              </m:rPr>
                              <w:rPr>
                                <w:rFonts w:ascii="Cambria Math" w:hAnsi="Cambria Math"/>
                                <w:color w:val="1D242B"/>
                                <w:sz w:val="57"/>
                              </w:rPr>
                              <m:t xml:space="preserve">θ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2</m:t>
                        </m:r>
                      </m:sub>
                      <m: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7"/>
                          </w:rPr>
                          <m:t xml:space="preserve">2</m:t>
                        </m:r>
                      </m:sup>
                    </m:sSubSup>
                  </m:oMath>
                </a14:m>
              </mc:Choice>
              <mc:Fallback>
                <a:r>
                  <a:rPr sz="2850">
                    <a:solidFill>
                      <a:srgbClr val="1D242B"/>
                    </a:solidFill>
                    <a:latin typeface="Cambria Math"/>
                  </a:rPr>
                  <a:t xml:space="preserve">ℒ(θ) = (1)/(N)∑[i = 1…N] (y_(i) − f_(θ)(x_(i)))^(2) + λ‖θ‖_(2)^(2)</a:t>
                </a:r>
              </mc:Fallback>
            </mc:AlternateContent>
            <a:endParaRPr lang="en-US" sz="2850"/>
          </a:p>
        </p:txBody>
      </p:sp>
      <p:sp>
        <p:nvSpPr>
          <p:cNvPr id="9000" name="style.panel.formula.structure"/>
          <p:cNvSpPr/>
          <p:nvPr/>
        </p:nvSpPr>
        <p:spPr>
          <a:xfrm>
            <a:off x="457200" y="1809750"/>
            <a:ext cx="11277600" cy="29527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9001" name="style.panel.formula.variables"/>
          <p:cNvSpPr/>
          <p:nvPr/>
        </p:nvSpPr>
        <p:spPr>
          <a:xfrm>
            <a:off x="457200" y="4857750"/>
            <a:ext cx="11277600" cy="16573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30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31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2.2</a:t>
            </a:r>
            <a:endParaRPr lang="zh-CN"/>
          </a:p>
        </p:txBody>
      </p:sp>
      <p:sp>
        <p:nvSpPr>
          <p:cNvPr id="4" name="header.gradient.32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33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推导与代码对照</a:t>
            </a:r>
            <a:endParaRPr lang="zh-CN"/>
          </a:p>
        </p:txBody>
      </p:sp>
      <p:sp>
        <p:nvSpPr>
          <p:cNvPr id="6" name="header.library.34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内容与放映</a:t>
            </a:r>
            <a:endParaRPr lang="zh-CN"/>
          </a:p>
        </p:txBody>
      </p:sp>
      <p:sp>
        <p:nvSpPr>
          <p:cNvPr id="7" name="info.lead.35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36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37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38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左侧按运算关系逐步推导；右侧代码给出同一闭式解。</a:t>
            </a:r>
            <a:endParaRPr lang="zh-CN"/>
          </a:p>
        </p:txBody>
      </p:sp>
      <p:sp>
        <p:nvSpPr>
          <p:cNvPr id="11" name="style.panel.derivation"/>
          <p:cNvSpPr/>
          <p:nvPr/>
        </p:nvSpPr>
        <p:spPr>
          <a:xfrm>
            <a:off x="457200" y="1809750"/>
            <a:ext cx="6286500" cy="47053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2" name="style.panel.implementation"/>
          <p:cNvSpPr/>
          <p:nvPr/>
        </p:nvSpPr>
        <p:spPr>
          <a:xfrm>
            <a:off x="6991350" y="1809750"/>
            <a:ext cx="4743450" cy="47053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3" name="text.12.39"/>
          <p:cNvSpPr txBox="1"/>
          <p:nvPr/>
        </p:nvSpPr>
        <p:spPr>
          <a:xfrm>
            <a:off x="7219950" y="1962150"/>
            <a:ext cx="423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Python 实现</a:t>
            </a:r>
            <a:endParaRPr lang="zh-CN"/>
          </a:p>
        </p:txBody>
      </p:sp>
      <p:sp>
        <p:nvSpPr>
          <p:cNvPr id="14" name="text.13.40"/>
          <p:cNvSpPr txBox="1"/>
          <p:nvPr/>
        </p:nvSpPr>
        <p:spPr>
          <a:xfrm>
            <a:off x="7219950" y="2628900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Consolas"/>
                <a:ea typeface="Consolas"/>
                <a:cs typeface="Consolas"/>
              </a:rPr>
              <a:t xml:space="preserve">def solve(x, y, lam):</a:t>
            </a:r>
            <a:endParaRPr lang="zh-CN"/>
          </a:p>
        </p:txBody>
      </p:sp>
      <p:sp>
        <p:nvSpPr>
          <p:cNvPr id="15" name="text.14.41"/>
          <p:cNvSpPr txBox="1"/>
          <p:nvPr/>
        </p:nvSpPr>
        <p:spPr>
          <a:xfrm>
            <a:off x="7219950" y="3086100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D242B"/>
                </a:solidFill>
                <a:latin typeface="Consolas"/>
                <a:ea typeface="Consolas"/>
                <a:cs typeface="Consolas"/>
              </a:rPr>
              <a:t xml:space="preserve">    return x * y / (x * x + lam)</a:t>
            </a:r>
            <a:endParaRPr lang="zh-CN"/>
          </a:p>
        </p:txBody>
      </p:sp>
      <p:sp>
        <p:nvSpPr>
          <p:cNvPr id="16" name="text.15.42"/>
          <p:cNvSpPr txBox="1"/>
          <p:nvPr/>
        </p:nvSpPr>
        <p:spPr>
          <a:xfrm>
            <a:off x="7219950" y="3962400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输入 x = 2，y = 5，λ = 1</a:t>
            </a:r>
            <a:endParaRPr lang="zh-CN"/>
          </a:p>
        </p:txBody>
      </p:sp>
      <p:sp>
        <p:nvSpPr>
          <p:cNvPr id="17" name="text.16.43"/>
          <p:cNvSpPr txBox="1"/>
          <p:nvPr/>
        </p:nvSpPr>
        <p:spPr>
          <a:xfrm>
            <a:off x="7219950" y="45529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325" b="1">
                <a:solidFill>
                  <a:srgbClr val="0759BE"/>
                </a:solidFill>
                <a:latin typeface="Noto Sans SC"/>
                <a:ea typeface="Noto Sans SC"/>
                <a:cs typeface="Noto Sans SC"/>
              </a:rPr>
              <a:t xml:space="preserve">θ = 10 ÷ 5 = 2</a:t>
            </a:r>
            <a:endParaRPr lang="zh-CN"/>
          </a:p>
        </p:txBody>
      </p:sp>
      <p:sp>
        <p:nvSpPr>
          <p:cNvPr id="18" name="text.17.44"/>
          <p:cNvSpPr txBox="1"/>
          <p:nvPr/>
        </p:nvSpPr>
        <p:spPr>
          <a:xfrm>
            <a:off x="7219950" y="53149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分子、分母与推导结果逐项对应。</a:t>
            </a:r>
            <a:endParaRPr lang="zh-CN"/>
          </a:p>
        </p:txBody>
      </p:sp>
      <p:sp>
        <p:nvSpPr>
          <p:cNvPr id="19" name="footer.rule.90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0" name="footer.label.91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内容与放映参考</a:t>
            </a:r>
            <a:endParaRPr lang="zh-CN"/>
          </a:p>
        </p:txBody>
      </p:sp>
      <p:sp>
        <p:nvSpPr>
          <p:cNvPr id="21" name="footer.page.92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3 / 6</a:t>
            </a:r>
            <a:endParaRPr lang="zh-CN"/>
          </a:p>
        </p:txBody>
      </p:sp>
      <p:sp>
        <p:nvSpPr>
          <p:cNvPr id="5011" name="text.10.70"/>
          <p:cNvSpPr txBox="1"/>
          <p:nvPr/>
        </p:nvSpPr>
        <p:spPr>
          <a:xfrm>
            <a:off x="2627948" y="2343150"/>
            <a:ext cx="278130" cy="764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16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=</a:t>
            </a:r>
            <a:endParaRPr lang="zh-CN"/>
          </a:p>
        </p:txBody>
      </p:sp>
      <p:sp>
        <p:nvSpPr>
          <p:cNvPr id="5012" name="text.11.71"/>
          <p:cNvSpPr txBox="1"/>
          <p:nvPr/>
        </p:nvSpPr>
        <p:spPr>
          <a:xfrm>
            <a:off x="666750" y="1943100"/>
            <a:ext cx="6000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给出单样本目标</a:t>
            </a:r>
            <a:endParaRPr lang="zh-CN"/>
          </a:p>
        </p:txBody>
      </p:sp>
      <p:sp>
        <p:nvSpPr>
          <p:cNvPr id="5013" name="text.12.72"/>
          <p:cNvSpPr txBox="1"/>
          <p:nvPr/>
        </p:nvSpPr>
        <p:spPr>
          <a:xfrm>
            <a:off x="2627948" y="3581400"/>
            <a:ext cx="278130" cy="764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16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=</a:t>
            </a:r>
            <a:endParaRPr lang="zh-CN"/>
          </a:p>
        </p:txBody>
      </p:sp>
      <p:sp>
        <p:nvSpPr>
          <p:cNvPr id="5014" name="text.13.73"/>
          <p:cNvSpPr txBox="1"/>
          <p:nvPr/>
        </p:nvSpPr>
        <p:spPr>
          <a:xfrm>
            <a:off x="666750" y="3181350"/>
            <a:ext cx="6000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对参数求导</a:t>
            </a:r>
            <a:endParaRPr lang="zh-CN"/>
          </a:p>
        </p:txBody>
      </p:sp>
      <p:sp>
        <p:nvSpPr>
          <p:cNvPr id="5015" name="text.14.74"/>
          <p:cNvSpPr txBox="1"/>
          <p:nvPr/>
        </p:nvSpPr>
        <p:spPr>
          <a:xfrm>
            <a:off x="2627948" y="4819650"/>
            <a:ext cx="278130" cy="764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16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=</a:t>
            </a:r>
            <a:endParaRPr lang="zh-CN"/>
          </a:p>
        </p:txBody>
      </p:sp>
      <p:sp>
        <p:nvSpPr>
          <p:cNvPr id="5016" name="text.15.75"/>
          <p:cNvSpPr txBox="1"/>
          <p:nvPr/>
        </p:nvSpPr>
        <p:spPr>
          <a:xfrm>
            <a:off x="666750" y="4419600"/>
            <a:ext cx="6000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令导数为零并求解</a:t>
            </a:r>
            <a:endParaRPr lang="zh-CN"/>
          </a:p>
        </p:txBody>
      </p:sp>
      <p:sp>
        <p:nvSpPr>
          <p:cNvPr id="5017" name="text.16.76"/>
          <p:cNvSpPr txBox="1"/>
          <p:nvPr/>
        </p:nvSpPr>
        <p:spPr>
          <a:xfrm>
            <a:off x="666750" y="6019800"/>
            <a:ext cx="600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适用条件：λ &gt; 0，分母为正。</a:t>
            </a:r>
            <a:endParaRPr lang="zh-CN"/>
          </a:p>
        </p:txBody>
      </p:sp>
      <p:sp xmlns:p="http://schemas.openxmlformats.org/presentationml/2006/main" xmlns:a="http://schemas.openxmlformats.org/drawingml/2006/main" xmlns:m="http://schemas.openxmlformats.org/officeDocument/2006/math" xmlns:w="http://schemas.openxmlformats.org/wordprocessingml/2006/main" xmlns:a14="http://schemas.microsoft.com/office/drawing/2010/main" xmlns:mc="http://schemas.openxmlformats.org/markup-compatibility/2006">
        <p:nvSpPr>
          <p:cNvPr id="6001" name="derivation.lhs1" descr="L(θ)"/>
          <p:cNvSpPr txBox="1"/>
          <p:nvPr/>
        </p:nvSpPr>
        <p:spPr>
          <a:xfrm>
            <a:off x="785336" y="2343150"/>
            <a:ext cx="1738313" cy="7648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>
              <a:defRPr sz="1916">
                <a:solidFill>
                  <a:srgbClr val="1D242B"/>
                </a:solidFill>
                <a:latin typeface="Cambria Math"/>
              </a:defRPr>
            </a:pPr>
            <mc:AlternateContent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sty m:val="i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L</m:t>
                    </m:r>
                    <m:d>
                      <m:dPr>
                        <m:begChr m:val="("/>
                        <m:endChr m:val=")"/>
                        <m:grow m:val="1"/>
                      </m:dPr>
                      <m:e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θ</m:t>
                        </m:r>
                      </m:e>
                    </m:d>
                  </m:oMath>
                </a14:m>
              </mc:Choice>
              <mc:Fallback>
                <a:r>
                  <a:rPr sz="1916">
                    <a:solidFill>
                      <a:srgbClr val="1D242B"/>
                    </a:solidFill>
                    <a:latin typeface="Cambria Math"/>
                  </a:rPr>
                  <a:t xml:space="preserve">L(θ)</a:t>
                </a:r>
              </mc:Fallback>
            </mc:AlternateContent>
            <a:endParaRPr lang="en-US" sz="1916"/>
          </a:p>
        </p:txBody>
      </p:sp>
      <p:sp xmlns:p="http://schemas.openxmlformats.org/presentationml/2006/main" xmlns:a="http://schemas.openxmlformats.org/drawingml/2006/main" xmlns:m="http://schemas.openxmlformats.org/officeDocument/2006/math" xmlns:w="http://schemas.openxmlformats.org/wordprocessingml/2006/main" xmlns:a14="http://schemas.microsoft.com/office/drawing/2010/main" xmlns:mc="http://schemas.openxmlformats.org/markup-compatibility/2006">
        <p:nvSpPr>
          <p:cNvPr id="6002" name="derivation.rhs1" descr="(y − θx)^(2) + λθ^(2)"/>
          <p:cNvSpPr txBox="1"/>
          <p:nvPr/>
        </p:nvSpPr>
        <p:spPr>
          <a:xfrm>
            <a:off x="3010376" y="2343150"/>
            <a:ext cx="3511391" cy="7648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>
              <a:defRPr sz="1916">
                <a:solidFill>
                  <a:srgbClr val="1D242B"/>
                </a:solidFill>
                <a:latin typeface="Cambria Math"/>
              </a:defRPr>
            </a:pPr>
            <mc:AlternateContent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d>
                          <m:dPr>
                            <m:begChr m:val="("/>
                            <m:endChr m:val=")"/>
                            <m:grow m:val="1"/>
                          </m:dPr>
                          <m:e>
                            <m:r>
                              <m:rPr>
                                <m:sty m:val="i"/>
                              </m:rPr>
                              <w:rPr>
                                <w:rFonts w:ascii="Cambria Math" w:hAnsi="Cambria Math"/>
                                <w:color w:val="1D242B"/>
                                <w:sz w:val="53"/>
                              </w:rPr>
                              <m:t xml:space="preserve">y</m:t>
                            </m:r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color w:val="1D242B"/>
                                <w:sz w:val="53"/>
                              </w:rPr>
                              <m:t xml:space="preserve"> − </m:t>
                            </m:r>
                            <m:r>
                              <m:rPr>
                                <m:sty m:val="i"/>
                              </m:rPr>
                              <w:rPr>
                                <w:rFonts w:ascii="Cambria Math" w:hAnsi="Cambria Math"/>
                                <w:color w:val="1D242B"/>
                                <w:sz w:val="53"/>
                              </w:rPr>
                              <m:t xml:space="preserve">θ</m:t>
                            </m:r>
                            <m:r>
                              <m:rPr>
                                <m:sty m:val="i"/>
                              </m:rPr>
                              <w:rPr>
                                <w:rFonts w:ascii="Cambria Math" w:hAnsi="Cambria Math"/>
                                <w:color w:val="1D242B"/>
                                <w:sz w:val="53"/>
                              </w:rPr>
                              <m:t xml:space="preserve">x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2</m:t>
                        </m:r>
                      </m:sup>
                    </m:sSup>
                    <m:r>
                      <m:rPr>
                        <m:sty m:val="p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 + </m:t>
                    </m:r>
                    <m:r>
                      <m:rPr>
                        <m:sty m:val="i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λ</m:t>
                    </m:r>
                    <m:sSup>
                      <m:e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θ</m:t>
                        </m:r>
                      </m:e>
                      <m: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2</m:t>
                        </m:r>
                      </m:sup>
                    </m:sSup>
                  </m:oMath>
                </a14:m>
              </mc:Choice>
              <mc:Fallback>
                <a:r>
                  <a:rPr sz="1916">
                    <a:solidFill>
                      <a:srgbClr val="1D242B"/>
                    </a:solidFill>
                    <a:latin typeface="Cambria Math"/>
                  </a:rPr>
                  <a:t xml:space="preserve">(y − θx)^(2) + λθ^(2)</a:t>
                </a:r>
              </mc:Fallback>
            </mc:AlternateContent>
            <a:endParaRPr lang="en-US" sz="1916"/>
          </a:p>
        </p:txBody>
      </p:sp>
      <p:sp xmlns:p="http://schemas.openxmlformats.org/presentationml/2006/main" xmlns:a="http://schemas.openxmlformats.org/drawingml/2006/main" xmlns:m="http://schemas.openxmlformats.org/officeDocument/2006/math" xmlns:w="http://schemas.openxmlformats.org/wordprocessingml/2006/main" xmlns:a14="http://schemas.microsoft.com/office/drawing/2010/main" xmlns:mc="http://schemas.openxmlformats.org/markup-compatibility/2006">
        <p:nvSpPr>
          <p:cNvPr id="6003" name="derivation.lhs2" descr="(dL)/(dθ)"/>
          <p:cNvSpPr txBox="1"/>
          <p:nvPr/>
        </p:nvSpPr>
        <p:spPr>
          <a:xfrm>
            <a:off x="785336" y="3581400"/>
            <a:ext cx="1738313" cy="7648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>
              <a:defRPr sz="1916">
                <a:solidFill>
                  <a:srgbClr val="1D242B"/>
                </a:solidFill>
                <a:latin typeface="Cambria Math"/>
              </a:defRPr>
            </a:pPr>
            <mc:AlternateContent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d</m:t>
                        </m:r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L</m:t>
                        </m:r>
                      </m:num>
                      <m:den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d</m:t>
                        </m:r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θ</m:t>
                        </m:r>
                      </m:den>
                    </m:f>
                  </m:oMath>
                </a14:m>
              </mc:Choice>
              <mc:Fallback>
                <a:r>
                  <a:rPr sz="1916">
                    <a:solidFill>
                      <a:srgbClr val="1D242B"/>
                    </a:solidFill>
                    <a:latin typeface="Cambria Math"/>
                  </a:rPr>
                  <a:t xml:space="preserve">(dL)/(dθ)</a:t>
                </a:r>
              </mc:Fallback>
            </mc:AlternateContent>
            <a:endParaRPr lang="en-US" sz="1916"/>
          </a:p>
        </p:txBody>
      </p:sp>
      <p:sp xmlns:p="http://schemas.openxmlformats.org/presentationml/2006/main" xmlns:a="http://schemas.openxmlformats.org/drawingml/2006/main" xmlns:m="http://schemas.openxmlformats.org/officeDocument/2006/math" xmlns:w="http://schemas.openxmlformats.org/wordprocessingml/2006/main" xmlns:a14="http://schemas.microsoft.com/office/drawing/2010/main" xmlns:mc="http://schemas.openxmlformats.org/markup-compatibility/2006">
        <p:nvSpPr>
          <p:cNvPr id="6004" name="derivation.rhs2" descr="−2x(y − θx) + 2λθ"/>
          <p:cNvSpPr txBox="1"/>
          <p:nvPr/>
        </p:nvSpPr>
        <p:spPr>
          <a:xfrm>
            <a:off x="3010376" y="3581400"/>
            <a:ext cx="3511391" cy="7648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>
              <a:defRPr sz="1916">
                <a:solidFill>
                  <a:srgbClr val="1D242B"/>
                </a:solidFill>
                <a:latin typeface="Cambria Math"/>
              </a:defRPr>
            </a:pPr>
            <mc:AlternateContent>
              <mc:Choice Requires="a14">
                <a14:m>
                  <m:oMath xmlns:m="http://schemas.openxmlformats.org/officeDocument/2006/math" xmlns:w="http://schemas.openxmlformats.org/wordprocessingml/2006/main">
                    <m:r>
                      <m:rPr>
                        <m:sty m:val="p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−2</m:t>
                    </m:r>
                    <m:r>
                      <m:rPr>
                        <m:sty m:val="i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x</m:t>
                    </m:r>
                    <m:d>
                      <m:dPr>
                        <m:begChr m:val="("/>
                        <m:endChr m:val=")"/>
                        <m:grow m:val="1"/>
                      </m:dPr>
                      <m:e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y</m:t>
                        </m:r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 − </m:t>
                        </m:r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θ</m:t>
                        </m:r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x</m:t>
                        </m:r>
                      </m:e>
                    </m:d>
                    <m:r>
                      <m:rPr>
                        <m:sty m:val="p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 + 2</m:t>
                    </m:r>
                    <m:r>
                      <m:rPr>
                        <m:sty m:val="i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λ</m:t>
                    </m:r>
                    <m:r>
                      <m:rPr>
                        <m:sty m:val="i"/>
                      </m:rPr>
                      <w:rPr>
                        <w:rFonts w:ascii="Cambria Math" w:hAnsi="Cambria Math"/>
                        <w:color w:val="1D242B"/>
                        <w:sz w:val="53"/>
                      </w:rPr>
                      <m:t xml:space="preserve">θ</m:t>
                    </m:r>
                  </m:oMath>
                </a14:m>
              </mc:Choice>
              <mc:Fallback>
                <a:r>
                  <a:rPr sz="1916">
                    <a:solidFill>
                      <a:srgbClr val="1D242B"/>
                    </a:solidFill>
                    <a:latin typeface="Cambria Math"/>
                  </a:rPr>
                  <a:t xml:space="preserve">−2x(y − θx) + 2λθ</a:t>
                </a:r>
              </mc:Fallback>
            </mc:AlternateContent>
            <a:endParaRPr lang="en-US" sz="1916"/>
          </a:p>
        </p:txBody>
      </p:sp>
      <p:sp xmlns:p="http://schemas.openxmlformats.org/presentationml/2006/main" xmlns:a="http://schemas.openxmlformats.org/drawingml/2006/main" xmlns:m="http://schemas.openxmlformats.org/officeDocument/2006/math" xmlns:w="http://schemas.openxmlformats.org/wordprocessingml/2006/main" xmlns:a14="http://schemas.microsoft.com/office/drawing/2010/main" xmlns:mc="http://schemas.openxmlformats.org/markup-compatibility/2006">
        <p:nvSpPr>
          <p:cNvPr id="6005" name="derivation.lhs3" descr="θ^(*)"/>
          <p:cNvSpPr txBox="1"/>
          <p:nvPr/>
        </p:nvSpPr>
        <p:spPr>
          <a:xfrm>
            <a:off x="785336" y="4819650"/>
            <a:ext cx="1738313" cy="7648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>
              <a:defRPr sz="1916">
                <a:solidFill>
                  <a:srgbClr val="1D242B"/>
                </a:solidFill>
                <a:latin typeface="Cambria Math"/>
              </a:defRPr>
            </a:pPr>
            <mc:AlternateContent>
              <mc:Choice Requires="a14">
                <a14:m>
                  <m:oMath xmlns:m="http://schemas.openxmlformats.org/officeDocument/2006/math" xmlns:w="http://schemas.openxmlformats.org/wordprocessingml/2006/main">
                    <m:sSup>
                      <m:e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θ</m:t>
                        </m:r>
                      </m:e>
                      <m: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*</m:t>
                        </m:r>
                      </m:sup>
                    </m:sSup>
                  </m:oMath>
                </a14:m>
              </mc:Choice>
              <mc:Fallback>
                <a:r>
                  <a:rPr sz="1916">
                    <a:solidFill>
                      <a:srgbClr val="1D242B"/>
                    </a:solidFill>
                    <a:latin typeface="Cambria Math"/>
                  </a:rPr>
                  <a:t xml:space="preserve">θ^(*)</a:t>
                </a:r>
              </mc:Fallback>
            </mc:AlternateContent>
            <a:endParaRPr lang="en-US" sz="1916"/>
          </a:p>
        </p:txBody>
      </p:sp>
      <p:sp xmlns:p="http://schemas.openxmlformats.org/presentationml/2006/main" xmlns:a="http://schemas.openxmlformats.org/drawingml/2006/main" xmlns:m="http://schemas.openxmlformats.org/officeDocument/2006/math" xmlns:w="http://schemas.openxmlformats.org/wordprocessingml/2006/main" xmlns:a14="http://schemas.microsoft.com/office/drawing/2010/main" xmlns:mc="http://schemas.openxmlformats.org/markup-compatibility/2006">
        <p:nvSpPr>
          <p:cNvPr id="6006" name="derivation.rhs3" descr="(xy)/(x^(2) + λ)"/>
          <p:cNvSpPr txBox="1"/>
          <p:nvPr/>
        </p:nvSpPr>
        <p:spPr>
          <a:xfrm>
            <a:off x="3010376" y="4819650"/>
            <a:ext cx="3511391" cy="7648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>
              <a:defRPr sz="1916">
                <a:solidFill>
                  <a:srgbClr val="1D242B"/>
                </a:solidFill>
                <a:latin typeface="Cambria Math"/>
              </a:defRPr>
            </a:pPr>
            <mc:AlternateContent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</m:fPr>
                      <m:num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x</m:t>
                        </m:r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y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i"/>
                              </m:rPr>
                              <w:rPr>
                                <w:rFonts w:ascii="Cambria Math" w:hAnsi="Cambria Math"/>
                                <w:color w:val="1D242B"/>
                                <w:sz w:val="53"/>
                              </w:rPr>
                              <m:t xml:space="preserve"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w:rPr>
                                <w:rFonts w:ascii="Cambria Math" w:hAnsi="Cambria Math"/>
                                <w:color w:val="1D242B"/>
                                <w:sz w:val="53"/>
                              </w:rPr>
                              <m:t xml:space="preserve"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 + </m:t>
                        </m:r>
                        <m:r>
                          <m:rPr>
                            <m:sty m:val="i"/>
                          </m:rPr>
                          <w:rPr>
                            <w:rFonts w:ascii="Cambria Math" w:hAnsi="Cambria Math"/>
                            <w:color w:val="1D242B"/>
                            <w:sz w:val="53"/>
                          </w:rPr>
                          <m:t xml:space="preserve">λ</m:t>
                        </m:r>
                      </m:den>
                    </m:f>
                  </m:oMath>
                </a14:m>
              </mc:Choice>
              <mc:Fallback>
                <a:r>
                  <a:rPr sz="1916">
                    <a:solidFill>
                      <a:srgbClr val="1D242B"/>
                    </a:solidFill>
                    <a:latin typeface="Cambria Math"/>
                  </a:rPr>
                  <a:t xml:space="preserve">(xy)/(x^(2) + λ)</a:t>
                </a:r>
              </mc:Fallback>
            </mc:AlternateContent>
            <a:endParaRPr lang="en-US" sz="1916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3" grpId="0" animBg="1"/>
      <p:bldP spid="6004" grpId="0" animBg="1"/>
      <p:bldP spid="5013" grpId="0" animBg="1"/>
      <p:bldP spid="5014" grpId="0" animBg="1"/>
      <p:bldP spid="6005" grpId="0" animBg="1"/>
      <p:bldP spid="6006" grpId="0" animBg="1"/>
      <p:bldP spid="5015" grpId="0" animBg="1"/>
      <p:bldP spid="5016" grpId="0" animBg="1"/>
      <p:bldP spid="50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78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79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</a:t>
            </a:r>
            <a:endParaRPr lang="zh-CN"/>
          </a:p>
        </p:txBody>
      </p:sp>
      <p:sp>
        <p:nvSpPr>
          <p:cNvPr id="4" name="header.gradient.80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81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图表需要可更新的数据</a:t>
            </a:r>
            <a:endParaRPr lang="zh-CN"/>
          </a:p>
        </p:txBody>
      </p:sp>
      <p:sp>
        <p:nvSpPr>
          <p:cNvPr id="6" name="header.library.82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内容与放映</a:t>
            </a:r>
            <a:endParaRPr lang="zh-CN"/>
          </a:p>
        </p:txBody>
      </p:sp>
      <p:sp>
        <p:nvSpPr>
          <p:cNvPr id="7" name="info.lead.83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84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85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86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演示数据中，方案乙在三个规模下的耗时均低于方案甲。</a:t>
            </a:r>
            <a:endParaRPr lang="zh-CN"/>
          </a:p>
        </p:txBody>
      </p:sp>
      <p:sp>
        <p:nvSpPr>
          <p:cNvPr id="11" name="text.10.87"/>
          <p:cNvSpPr txBox="1"/>
          <p:nvPr/>
        </p:nvSpPr>
        <p:spPr>
          <a:xfrm>
            <a:off x="8810625" y="2286000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1000 个样本</a:t>
            </a:r>
            <a:endParaRPr lang="zh-CN"/>
          </a:p>
        </p:txBody>
      </p:sp>
      <p:sp>
        <p:nvSpPr>
          <p:cNvPr id="12" name="text.11.88"/>
          <p:cNvSpPr txBox="1"/>
          <p:nvPr/>
        </p:nvSpPr>
        <p:spPr>
          <a:xfrm>
            <a:off x="8810625" y="2857500"/>
            <a:ext cx="2667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2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82 ms</a:t>
            </a:r>
            <a:endParaRPr lang="zh-CN"/>
          </a:p>
        </p:txBody>
      </p:sp>
      <p:sp>
        <p:nvSpPr>
          <p:cNvPr id="13" name="text.12.89"/>
          <p:cNvSpPr txBox="1"/>
          <p:nvPr/>
        </p:nvSpPr>
        <p:spPr>
          <a:xfrm>
            <a:off x="8810625" y="3838575"/>
            <a:ext cx="2714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方案乙的耗时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20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比方案甲减少约 25%</a:t>
            </a:r>
            <a:endParaRPr lang="zh-CN"/>
          </a:p>
        </p:txBody>
      </p:sp>
      <p:sp>
        <p:nvSpPr>
          <p:cNvPr id="14" name="text.13.90"/>
          <p:cNvSpPr txBox="1"/>
          <p:nvPr/>
        </p:nvSpPr>
        <p:spPr>
          <a:xfrm>
            <a:off x="714375" y="60769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演示数据；类别轴等距呈现三档样本规模。</a:t>
            </a:r>
            <a:endParaRPr lang="zh-CN"/>
          </a:p>
        </p:txBody>
      </p:sp>
      <p:sp>
        <p:nvSpPr>
          <p:cNvPr id="16" name="footer.rule.262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7" name="footer.label.263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内容与放映参考</a:t>
            </a:r>
            <a:endParaRPr lang="zh-CN"/>
          </a:p>
        </p:txBody>
      </p:sp>
      <p:sp>
        <p:nvSpPr>
          <p:cNvPr id="18" name="footer.page.264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4 / 6</a:t>
            </a:r>
            <a:endParaRPr lang="zh-CN"/>
          </a:p>
        </p:txBody>
      </p:sp>
      <p:graphicFrame>
        <p:nvGraphicFramePr>
          <p:cNvPr id="1001" name="design.chart-evidence">
            <a:extLst xmlns:a="http://schemas.openxmlformats.org/drawingml/2006/main">
              <a:ext uri="{FF2B5EF4-FFF2-40B4-BE49-F238E27FC236}">
                <a16:creationId xmlns:a16="http://schemas.microsoft.com/office/drawing/2014/main" id="{DE2753B8-90A3-4709-871A-AFAB9D043F92}"/>
              </a:ext>
            </a:extLst>
          </p:cNvPr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7620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DesignChart"/>
          </a:graphicData>
        </a:graphic>
      </p:graphicFrame>
      <p:sp>
        <p:nvSpPr>
          <p:cNvPr id="9000" name="style.panel.chart.evidence"/>
          <p:cNvSpPr/>
          <p:nvPr/>
        </p:nvSpPr>
        <p:spPr>
          <a:xfrm>
            <a:off x="457200" y="1809750"/>
            <a:ext cx="7962900" cy="47053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9001" name="style.panel.chart.interpretation"/>
          <p:cNvSpPr/>
          <p:nvPr/>
        </p:nvSpPr>
        <p:spPr>
          <a:xfrm>
            <a:off x="8572500" y="1809750"/>
            <a:ext cx="3162300" cy="47053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54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55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4</a:t>
            </a:r>
            <a:endParaRPr lang="zh-CN"/>
          </a:p>
        </p:txBody>
      </p:sp>
      <p:sp>
        <p:nvSpPr>
          <p:cNvPr id="4" name="header.gradient.56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57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点击步骤与补充导航</a:t>
            </a:r>
            <a:endParaRPr lang="zh-CN"/>
          </a:p>
        </p:txBody>
      </p:sp>
      <p:sp>
        <p:nvSpPr>
          <p:cNvPr id="6" name="header.library.58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内容与放映</a:t>
            </a:r>
            <a:endParaRPr lang="zh-CN"/>
          </a:p>
        </p:txBody>
      </p:sp>
      <p:sp>
        <p:nvSpPr>
          <p:cNvPr id="7" name="info.lead.59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60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61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62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节点、标签和连接线按同一讲解步骤出现；补充页面可往返查看。</a:t>
            </a:r>
            <a:endParaRPr lang="zh-CN"/>
          </a:p>
        </p:txBody>
      </p:sp>
      <p:sp>
        <p:nvSpPr>
          <p:cNvPr id="11" name="style.panel.navigation"/>
          <p:cNvSpPr/>
          <p:nvPr/>
        </p:nvSpPr>
        <p:spPr>
          <a:xfrm>
            <a:off x="457200" y="1809750"/>
            <a:ext cx="11277600" cy="5524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2" name="style.panel.workflow"/>
          <p:cNvSpPr/>
          <p:nvPr/>
        </p:nvSpPr>
        <p:spPr>
          <a:xfrm>
            <a:off x="457200" y="2457450"/>
            <a:ext cx="11277600" cy="40576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3" name="text.12.63"/>
          <p:cNvSpPr txBox="1"/>
          <p:nvPr/>
        </p:nvSpPr>
        <p:spPr>
          <a:xfrm>
            <a:off x="762000" y="19526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补充跳转</a:t>
            </a:r>
            <a:endParaRPr lang="zh-CN"/>
          </a:p>
        </p:txBody>
      </p:sp>
      <p:sp>
        <p:nvSpPr>
          <p:cNvPr id="14" name="text.13.64"/>
          <p:cNvSpPr txBox="1"/>
          <p:nvPr/>
        </p:nvSpPr>
        <p:spPr>
          <a:xfrm>
            <a:off x="3238500" y="195262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3" action="ppaction://hlinksldjump"/>
              </a:rPr>
              <a:t xml:space="preserve">查看推导</a:t>
            </a:r>
            <a:endParaRPr lang="zh-CN"/>
          </a:p>
        </p:txBody>
      </p:sp>
      <p:sp>
        <p:nvSpPr>
          <p:cNvPr id="15" name="text.14.65"/>
          <p:cNvSpPr txBox="1"/>
          <p:nvPr/>
        </p:nvSpPr>
        <p:spPr>
          <a:xfrm>
            <a:off x="6096000" y="195262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4" action="ppaction://hlinksldjump"/>
              </a:rPr>
              <a:t xml:space="preserve">查看数据</a:t>
            </a:r>
            <a:endParaRPr lang="zh-CN"/>
          </a:p>
        </p:txBody>
      </p:sp>
      <p:sp>
        <p:nvSpPr>
          <p:cNvPr id="16" name="text.15.66"/>
          <p:cNvSpPr txBox="1"/>
          <p:nvPr/>
        </p:nvSpPr>
        <p:spPr>
          <a:xfrm>
            <a:off x="8953500" y="195262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0759BE"/>
                </a:solidFill>
                <a:latin typeface="Noto Sans SC"/>
                <a:ea typeface="Noto Sans SC"/>
                <a:cs typeface="Noto Sans SC"/>
                <a:hlinkClick r:id="compactNav1" action="ppaction://hlinksldjump"/>
              </a:rPr>
              <a:t xml:space="preserve">返回导览</a:t>
            </a:r>
            <a:endParaRPr lang="zh-CN"/>
          </a:p>
        </p:txBody>
      </p:sp>
      <p:sp>
        <p:nvSpPr>
          <p:cNvPr id="17" name="footer.rule.96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8" name="footer.label.97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内容与放映参考</a:t>
            </a:r>
            <a:endParaRPr lang="zh-CN"/>
          </a:p>
        </p:txBody>
      </p:sp>
      <p:sp>
        <p:nvSpPr>
          <p:cNvPr id="19" name="footer.page.98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5 / 6</a:t>
            </a:r>
            <a:endParaRPr lang="zh-CN"/>
          </a:p>
        </p:txBody>
      </p:sp>
      <p:sp>
        <p:nvSpPr>
          <p:cNvPr id="5011" name="flow.input.body.101"/>
          <p:cNvSpPr/>
          <p:nvPr/>
        </p:nvSpPr>
        <p:spPr>
          <a:xfrm>
            <a:off x="762000" y="2571750"/>
            <a:ext cx="2476500" cy="1047750"/>
          </a:xfrm>
          <a:prstGeom prst="rect">
            <a:avLst/>
          </a:prstGeom>
          <a:solidFill>
            <a:srgbClr val="F2F7FB"/>
          </a:solidFill>
          <a:ln w="13335">
            <a:solidFill>
              <a:srgbClr val="A6B4C0"/>
            </a:solidFill>
            <a:prstDash val="solid"/>
          </a:ln>
        </p:spPr>
        <p:txBody>
          <a:bodyPr wrap="square" anchor="ctr" lIns="47625" rIns="47625" tIns="47625" bIns="47625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输入材料</a:t>
            </a:r>
            <a:endParaRPr lang="zh-CN"/>
          </a:p>
        </p:txBody>
      </p:sp>
      <p:sp>
        <p:nvSpPr>
          <p:cNvPr id="5012" name="flow.encoder.body.102"/>
          <p:cNvSpPr/>
          <p:nvPr/>
        </p:nvSpPr>
        <p:spPr>
          <a:xfrm>
            <a:off x="4857750" y="2571750"/>
            <a:ext cx="2476500" cy="1047750"/>
          </a:xfrm>
          <a:prstGeom prst="rect">
            <a:avLst/>
          </a:prstGeom>
          <a:solidFill>
            <a:srgbClr val="F2F7FB"/>
          </a:solidFill>
          <a:ln w="13335">
            <a:solidFill>
              <a:srgbClr val="A6B4C0"/>
            </a:solidFill>
            <a:prstDash val="solid"/>
          </a:ln>
        </p:spPr>
        <p:txBody>
          <a:bodyPr wrap="square" anchor="ctr" lIns="47625" rIns="47625" tIns="47625" bIns="47625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编码与检查</a:t>
            </a:r>
            <a:endParaRPr lang="zh-CN"/>
          </a:p>
        </p:txBody>
      </p:sp>
      <p:sp>
        <p:nvSpPr>
          <p:cNvPr id="5013" name="flow.output.body.103"/>
          <p:cNvSpPr/>
          <p:nvPr/>
        </p:nvSpPr>
        <p:spPr>
          <a:xfrm>
            <a:off x="8953500" y="2571750"/>
            <a:ext cx="2476500" cy="1047750"/>
          </a:xfrm>
          <a:prstGeom prst="rect">
            <a:avLst/>
          </a:prstGeom>
          <a:solidFill>
            <a:srgbClr val="F2F7FB"/>
          </a:solidFill>
          <a:ln w="13335">
            <a:solidFill>
              <a:srgbClr val="A6B4C0"/>
            </a:solidFill>
            <a:prstDash val="solid"/>
          </a:ln>
        </p:spPr>
        <p:txBody>
          <a:bodyPr wrap="square" anchor="ctr" lIns="47625" rIns="47625" tIns="47625" bIns="47625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输出结果</a:t>
            </a:r>
            <a:endParaRPr lang="zh-CN"/>
          </a:p>
        </p:txBody>
      </p:sp>
      <p:cxnSp>
        <p:nvCxnSpPr>
          <p:cNvPr id="5014" name="flow.edge1.line"/>
          <p:cNvCxnSpPr>
            <a:stCxn id="5011" idx="3"/>
            <a:endCxn id="5012" idx="1"/>
          </p:cNvCxnSpPr>
          <p:nvPr/>
        </p:nvCxnSpPr>
        <p:spPr>
          <a:xfrm>
            <a:off x="3238500" y="3095625"/>
            <a:ext cx="1619250" cy="0"/>
          </a:xfrm>
          <a:prstGeom prst="line">
            <a:avLst/>
          </a:prstGeom>
          <a:ln w="19050">
            <a:solidFill>
              <a:srgbClr val="074A9B"/>
            </a:solidFill>
            <a:prstDash val="solid"/>
            <a:tailEnd type="triangle" w="med" len="med"/>
          </a:ln>
        </p:spPr>
      </p:cxnSp>
      <p:cxnSp>
        <p:nvCxnSpPr>
          <p:cNvPr id="5015" name="flow.edge2.line"/>
          <p:cNvCxnSpPr>
            <a:stCxn id="5012" idx="3"/>
            <a:endCxn id="5013" idx="1"/>
          </p:cNvCxnSpPr>
          <p:nvPr/>
        </p:nvCxnSpPr>
        <p:spPr>
          <a:xfrm>
            <a:off x="7334250" y="3095625"/>
            <a:ext cx="1619250" cy="0"/>
          </a:xfrm>
          <a:prstGeom prst="line">
            <a:avLst/>
          </a:prstGeom>
          <a:ln w="19050">
            <a:solidFill>
              <a:srgbClr val="074A9B"/>
            </a:solidFill>
            <a:prstDash val="solid"/>
            <a:tailEnd type="triangle" w="med" len="med"/>
          </a:ln>
        </p:spPr>
      </p:cxnSp>
      <p:sp>
        <p:nvSpPr>
          <p:cNvPr id="5016" name="text.15.104"/>
          <p:cNvSpPr txBox="1"/>
          <p:nvPr/>
        </p:nvSpPr>
        <p:spPr>
          <a:xfrm>
            <a:off x="762000" y="400050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先明确对象与任务</a:t>
            </a:r>
            <a:endParaRPr lang="zh-CN"/>
          </a:p>
        </p:txBody>
      </p:sp>
      <p:sp>
        <p:nvSpPr>
          <p:cNvPr id="5017" name="text.16.105"/>
          <p:cNvSpPr txBox="1"/>
          <p:nvPr/>
        </p:nvSpPr>
        <p:spPr>
          <a:xfrm>
            <a:off x="4857750" y="400050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解释处理机制</a:t>
            </a:r>
            <a:endParaRPr lang="zh-CN"/>
          </a:p>
        </p:txBody>
      </p:sp>
      <p:sp>
        <p:nvSpPr>
          <p:cNvPr id="5018" name="text.17.106"/>
          <p:cNvSpPr txBox="1"/>
          <p:nvPr/>
        </p:nvSpPr>
        <p:spPr>
          <a:xfrm>
            <a:off x="8953500" y="400050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展示结果与评价</a:t>
            </a:r>
            <a:endParaRPr lang="zh-CN"/>
          </a:p>
        </p:txBody>
      </p:sp>
      <p:sp>
        <p:nvSpPr>
          <p:cNvPr id="5019" name="flow.final-band.107"/>
          <p:cNvSpPr/>
          <p:nvPr/>
        </p:nvSpPr>
        <p:spPr>
          <a:xfrm>
            <a:off x="762000" y="5238750"/>
            <a:ext cx="10668000" cy="647700"/>
          </a:xfrm>
          <a:prstGeom prst="rect">
            <a:avLst/>
          </a:prstGeom>
          <a:solidFill>
            <a:srgbClr val="0759BE"/>
          </a:solidFill>
          <a:ln w="9525">
            <a:noFill/>
            <a:prstDash val="solid"/>
          </a:ln>
        </p:spPr>
      </p:sp>
      <p:sp>
        <p:nvSpPr>
          <p:cNvPr id="5020" name="text.19.108"/>
          <p:cNvSpPr txBox="1"/>
          <p:nvPr/>
        </p:nvSpPr>
        <p:spPr>
          <a:xfrm>
            <a:off x="1000125" y="5334000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每次点击增加一个完整关系，最终保留全流程。</a:t>
            </a:r>
            <a:endParaRPr lang="zh-CN"/>
          </a:p>
        </p:txBody>
      </p:sp>
      <p:sp>
        <p:nvSpPr>
          <p:cNvPr id="5021" name="text.20.109"/>
          <p:cNvSpPr txBox="1"/>
          <p:nvPr/>
        </p:nvSpPr>
        <p:spPr>
          <a:xfrm>
            <a:off x="857250" y="6124575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初始输入　→　点击 1 解释处理　→　点击 2 展示结果　→　点击 3 回顾</a:t>
            </a:r>
            <a:endParaRPr 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2" grpId="0" animBg="1"/>
      <p:bldP spid="5014" grpId="0" animBg="1"/>
      <p:bldP spid="5017" grpId="0" animBg="1"/>
      <p:bldP spid="5013" grpId="0" animBg="1"/>
      <p:bldP spid="5015" grpId="0" animBg="1"/>
      <p:bldP spid="5018" grpId="0" animBg="1"/>
      <p:bldP spid="5019" grpId="0" animBg="1"/>
      <p:bldP spid="50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67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68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5</a:t>
            </a:r>
            <a:endParaRPr lang="zh-CN"/>
          </a:p>
        </p:txBody>
      </p:sp>
      <p:sp>
        <p:nvSpPr>
          <p:cNvPr id="4" name="header.gradient.69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70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局部放大与媒体区域</a:t>
            </a:r>
            <a:endParaRPr lang="zh-CN"/>
          </a:p>
        </p:txBody>
      </p:sp>
      <p:sp>
        <p:nvSpPr>
          <p:cNvPr id="6" name="header.library.71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内容与放映</a:t>
            </a:r>
            <a:endParaRPr lang="zh-CN"/>
          </a:p>
        </p:txBody>
      </p:sp>
      <p:sp>
        <p:nvSpPr>
          <p:cNvPr id="7" name="info.lead.72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73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74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75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取样框与放大窗对应同一区域；媒体内容保留独立字幕空间。</a:t>
            </a:r>
            <a:endParaRPr lang="zh-CN"/>
          </a:p>
        </p:txBody>
      </p:sp>
      <p:sp>
        <p:nvSpPr>
          <p:cNvPr id="11" name="style.panel.figure"/>
          <p:cNvSpPr/>
          <p:nvPr/>
        </p:nvSpPr>
        <p:spPr>
          <a:xfrm>
            <a:off x="457200" y="1809750"/>
            <a:ext cx="6515100" cy="47053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2" name="style.panel.media"/>
          <p:cNvSpPr/>
          <p:nvPr/>
        </p:nvSpPr>
        <p:spPr>
          <a:xfrm>
            <a:off x="7200900" y="1809750"/>
            <a:ext cx="4533900" cy="4705350"/>
          </a:xfrm>
          <a:prstGeom prst="rect">
            <a:avLst/>
          </a:prstGeom>
          <a:noFill/>
          <a:ln w="9525">
            <a:solidFill>
              <a:srgbClr val="A6B4C0"/>
            </a:solidFill>
            <a:prstDash val="solid"/>
          </a:ln>
        </p:spPr>
      </p:sp>
      <p:sp>
        <p:nvSpPr>
          <p:cNvPr id="13" name="text.12.76"/>
          <p:cNvSpPr txBox="1"/>
          <p:nvPr/>
        </p:nvSpPr>
        <p:spPr>
          <a:xfrm>
            <a:off x="619125" y="20193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局部放大</a:t>
            </a:r>
            <a:endParaRPr lang="zh-CN"/>
          </a:p>
        </p:txBody>
      </p:sp>
      <p:sp>
        <p:nvSpPr>
          <p:cNvPr id="14" name="text.13.77"/>
          <p:cNvSpPr txBox="1"/>
          <p:nvPr/>
        </p:nvSpPr>
        <p:spPr>
          <a:xfrm>
            <a:off x="619125" y="5276850"/>
            <a:ext cx="6191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总览和放大窗使用同一组定位标记。</a:t>
            </a:r>
            <a:endParaRPr lang="zh-CN"/>
          </a:p>
        </p:txBody>
      </p:sp>
      <p:sp>
        <p:nvSpPr>
          <p:cNvPr id="15" name="text.14.78"/>
          <p:cNvSpPr txBox="1"/>
          <p:nvPr/>
        </p:nvSpPr>
        <p:spPr>
          <a:xfrm>
            <a:off x="619125" y="5905500"/>
            <a:ext cx="619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结构示意，不代表实验测量或显微照片。</a:t>
            </a:r>
            <a:endParaRPr lang="zh-CN"/>
          </a:p>
        </p:txBody>
      </p:sp>
      <p:sp>
        <p:nvSpPr>
          <p:cNvPr id="16" name="text.15.79"/>
          <p:cNvSpPr txBox="1"/>
          <p:nvPr/>
        </p:nvSpPr>
        <p:spPr>
          <a:xfrm>
            <a:off x="7524750" y="2019300"/>
            <a:ext cx="3952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媒体区域</a:t>
            </a:r>
            <a:endParaRPr lang="zh-CN"/>
          </a:p>
        </p:txBody>
      </p:sp>
      <p:sp>
        <p:nvSpPr>
          <p:cNvPr id="17" name="media.poster.compact"/>
          <p:cNvSpPr/>
          <p:nvPr/>
        </p:nvSpPr>
        <p:spPr>
          <a:xfrm>
            <a:off x="7524750" y="2609850"/>
            <a:ext cx="3952875" cy="2571750"/>
          </a:xfrm>
          <a:prstGeom prst="rect">
            <a:avLst/>
          </a:prstGeom>
          <a:solidFill>
            <a:srgbClr val="ECF2FA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18" name="text.17.80"/>
          <p:cNvSpPr txBox="1"/>
          <p:nvPr/>
        </p:nvSpPr>
        <p:spPr>
          <a:xfrm>
            <a:off x="8953500" y="2838450"/>
            <a:ext cx="1095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050" b="1">
                <a:solidFill>
                  <a:srgbClr val="0759BE"/>
                </a:solidFill>
                <a:latin typeface="Noto Sans SC"/>
                <a:ea typeface="Noto Sans SC"/>
                <a:cs typeface="Noto Sans SC"/>
              </a:rPr>
              <a:t xml:space="preserve">▶</a:t>
            </a:r>
            <a:endParaRPr lang="zh-CN"/>
          </a:p>
        </p:txBody>
      </p:sp>
      <p:sp>
        <p:nvSpPr>
          <p:cNvPr id="19" name="text.18.81"/>
          <p:cNvSpPr txBox="1"/>
          <p:nvPr/>
        </p:nvSpPr>
        <p:spPr>
          <a:xfrm>
            <a:off x="7829550" y="3781425"/>
            <a:ext cx="3333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0759BE"/>
                </a:solidFill>
                <a:latin typeface="Noto Sans SC"/>
                <a:ea typeface="Noto Sans SC"/>
                <a:cs typeface="Noto Sans SC"/>
              </a:rPr>
              <a:t xml:space="preserve">视频素材待提供</a:t>
            </a:r>
            <a:endParaRPr lang="zh-CN"/>
          </a:p>
        </p:txBody>
      </p:sp>
      <p:sp>
        <p:nvSpPr>
          <p:cNvPr id="20" name="text.19.82"/>
          <p:cNvSpPr txBox="1"/>
          <p:nvPr/>
        </p:nvSpPr>
        <p:spPr>
          <a:xfrm>
            <a:off x="7715250" y="4686300"/>
            <a:ext cx="3571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字幕安全区（布局示意）</a:t>
            </a:r>
            <a:endParaRPr lang="zh-CN"/>
          </a:p>
        </p:txBody>
      </p:sp>
      <p:sp>
        <p:nvSpPr>
          <p:cNvPr id="21" name="text.20.83"/>
          <p:cNvSpPr txBox="1"/>
          <p:nvPr/>
        </p:nvSpPr>
        <p:spPr>
          <a:xfrm>
            <a:off x="7524750" y="5495925"/>
            <a:ext cx="3952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此处仅示意布局，尚未嵌入视频。</a:t>
            </a:r>
            <a:endParaRPr lang="zh-CN"/>
          </a:p>
        </p:txBody>
      </p:sp>
      <p:sp>
        <p:nvSpPr>
          <p:cNvPr id="22" name="footer.rule.99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3" name="footer.label.100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内容与放映参考</a:t>
            </a:r>
            <a:endParaRPr lang="zh-CN"/>
          </a:p>
        </p:txBody>
      </p:sp>
      <p:sp>
        <p:nvSpPr>
          <p:cNvPr id="24" name="footer.page.101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6 / 6</a:t>
            </a:r>
            <a:endParaRPr lang="zh-CN"/>
          </a:p>
        </p:txBody>
      </p:sp>
      <p:sp>
        <p:nvSpPr>
          <p:cNvPr id="5011" name="figure.cell.0.0.119"/>
          <p:cNvSpPr/>
          <p:nvPr/>
        </p:nvSpPr>
        <p:spPr>
          <a:xfrm>
            <a:off x="616268" y="2863215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12" name="figure.mark.0.0.120"/>
          <p:cNvSpPr/>
          <p:nvPr/>
        </p:nvSpPr>
        <p:spPr>
          <a:xfrm>
            <a:off x="817055" y="2987231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13" name="figure.cell.0.1.121"/>
          <p:cNvSpPr/>
          <p:nvPr/>
        </p:nvSpPr>
        <p:spPr>
          <a:xfrm>
            <a:off x="1141857" y="2863215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14" name="figure.mark.0.1.122"/>
          <p:cNvSpPr/>
          <p:nvPr/>
        </p:nvSpPr>
        <p:spPr>
          <a:xfrm>
            <a:off x="1342644" y="2987231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15" name="figure.cell.0.2.123"/>
          <p:cNvSpPr/>
          <p:nvPr/>
        </p:nvSpPr>
        <p:spPr>
          <a:xfrm>
            <a:off x="1667447" y="2863215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16" name="figure.mark.0.2.124"/>
          <p:cNvSpPr/>
          <p:nvPr/>
        </p:nvSpPr>
        <p:spPr>
          <a:xfrm>
            <a:off x="1868234" y="2987231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17" name="figure.cell.0.3.125"/>
          <p:cNvSpPr/>
          <p:nvPr/>
        </p:nvSpPr>
        <p:spPr>
          <a:xfrm>
            <a:off x="2193036" y="2863215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18" name="figure.mark.0.3.126"/>
          <p:cNvSpPr/>
          <p:nvPr/>
        </p:nvSpPr>
        <p:spPr>
          <a:xfrm>
            <a:off x="2393823" y="2987231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19" name="figure.cell.0.4.127"/>
          <p:cNvSpPr/>
          <p:nvPr/>
        </p:nvSpPr>
        <p:spPr>
          <a:xfrm>
            <a:off x="2718626" y="2863215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20" name="figure.mark.0.4.128"/>
          <p:cNvSpPr/>
          <p:nvPr/>
        </p:nvSpPr>
        <p:spPr>
          <a:xfrm>
            <a:off x="2919413" y="2987231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21" name="figure.cell.0.5.129"/>
          <p:cNvSpPr/>
          <p:nvPr/>
        </p:nvSpPr>
        <p:spPr>
          <a:xfrm>
            <a:off x="3244215" y="2863215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22" name="figure.mark.0.5.130"/>
          <p:cNvSpPr/>
          <p:nvPr/>
        </p:nvSpPr>
        <p:spPr>
          <a:xfrm>
            <a:off x="3445002" y="2987231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23" name="figure.cell.1.0.131"/>
          <p:cNvSpPr/>
          <p:nvPr/>
        </p:nvSpPr>
        <p:spPr>
          <a:xfrm>
            <a:off x="616268" y="3252978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24" name="figure.mark.1.0.132"/>
          <p:cNvSpPr/>
          <p:nvPr/>
        </p:nvSpPr>
        <p:spPr>
          <a:xfrm>
            <a:off x="817055" y="3376994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25" name="figure.cell.1.1.133"/>
          <p:cNvSpPr/>
          <p:nvPr/>
        </p:nvSpPr>
        <p:spPr>
          <a:xfrm>
            <a:off x="1141857" y="3252978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26" name="figure.mark.1.1.134"/>
          <p:cNvSpPr/>
          <p:nvPr/>
        </p:nvSpPr>
        <p:spPr>
          <a:xfrm>
            <a:off x="1342644" y="3376994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27" name="figure.cell.1.2.135"/>
          <p:cNvSpPr/>
          <p:nvPr/>
        </p:nvSpPr>
        <p:spPr>
          <a:xfrm>
            <a:off x="1667447" y="3252978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28" name="figure.mark.1.2.136"/>
          <p:cNvSpPr/>
          <p:nvPr/>
        </p:nvSpPr>
        <p:spPr>
          <a:xfrm>
            <a:off x="1868234" y="3376994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29" name="figure.cell.1.3.137"/>
          <p:cNvSpPr/>
          <p:nvPr/>
        </p:nvSpPr>
        <p:spPr>
          <a:xfrm>
            <a:off x="2193036" y="3252978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30" name="figure.mark.1.3.138"/>
          <p:cNvSpPr/>
          <p:nvPr/>
        </p:nvSpPr>
        <p:spPr>
          <a:xfrm>
            <a:off x="2393823" y="3376994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31" name="figure.cell.1.4.139"/>
          <p:cNvSpPr/>
          <p:nvPr/>
        </p:nvSpPr>
        <p:spPr>
          <a:xfrm>
            <a:off x="2718626" y="3252978"/>
            <a:ext cx="472440" cy="324803"/>
          </a:xfrm>
          <a:prstGeom prst="rect">
            <a:avLst/>
          </a:prstGeom>
          <a:solidFill>
            <a:srgbClr val="0759BE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32" name="figure.mark.1.4.140"/>
          <p:cNvSpPr/>
          <p:nvPr/>
        </p:nvSpPr>
        <p:spPr>
          <a:xfrm>
            <a:off x="2919413" y="3376994"/>
            <a:ext cx="70866" cy="70866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033" name="figure.cell.1.5.141"/>
          <p:cNvSpPr/>
          <p:nvPr/>
        </p:nvSpPr>
        <p:spPr>
          <a:xfrm>
            <a:off x="3244215" y="3252978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34" name="figure.mark.1.5.142"/>
          <p:cNvSpPr/>
          <p:nvPr/>
        </p:nvSpPr>
        <p:spPr>
          <a:xfrm>
            <a:off x="3445002" y="3376994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35" name="figure.cell.2.0.143"/>
          <p:cNvSpPr/>
          <p:nvPr/>
        </p:nvSpPr>
        <p:spPr>
          <a:xfrm>
            <a:off x="616268" y="3642741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36" name="figure.mark.2.0.144"/>
          <p:cNvSpPr/>
          <p:nvPr/>
        </p:nvSpPr>
        <p:spPr>
          <a:xfrm>
            <a:off x="817055" y="3766757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37" name="figure.cell.2.1.145"/>
          <p:cNvSpPr/>
          <p:nvPr/>
        </p:nvSpPr>
        <p:spPr>
          <a:xfrm>
            <a:off x="1141857" y="3642741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38" name="figure.mark.2.1.146"/>
          <p:cNvSpPr/>
          <p:nvPr/>
        </p:nvSpPr>
        <p:spPr>
          <a:xfrm>
            <a:off x="1342644" y="3766757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39" name="figure.cell.2.2.147"/>
          <p:cNvSpPr/>
          <p:nvPr/>
        </p:nvSpPr>
        <p:spPr>
          <a:xfrm>
            <a:off x="1667447" y="3642741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40" name="figure.mark.2.2.148"/>
          <p:cNvSpPr/>
          <p:nvPr/>
        </p:nvSpPr>
        <p:spPr>
          <a:xfrm>
            <a:off x="1868234" y="3766757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41" name="figure.cell.2.3.149"/>
          <p:cNvSpPr/>
          <p:nvPr/>
        </p:nvSpPr>
        <p:spPr>
          <a:xfrm>
            <a:off x="2193036" y="3642741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42" name="figure.mark.2.3.150"/>
          <p:cNvSpPr/>
          <p:nvPr/>
        </p:nvSpPr>
        <p:spPr>
          <a:xfrm>
            <a:off x="2393823" y="3766757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43" name="figure.cell.2.4.151"/>
          <p:cNvSpPr/>
          <p:nvPr/>
        </p:nvSpPr>
        <p:spPr>
          <a:xfrm>
            <a:off x="2718626" y="3642741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44" name="figure.mark.2.4.152"/>
          <p:cNvSpPr/>
          <p:nvPr/>
        </p:nvSpPr>
        <p:spPr>
          <a:xfrm>
            <a:off x="2919413" y="3766757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45" name="figure.cell.2.5.153"/>
          <p:cNvSpPr/>
          <p:nvPr/>
        </p:nvSpPr>
        <p:spPr>
          <a:xfrm>
            <a:off x="3244215" y="3642741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46" name="figure.mark.2.5.154"/>
          <p:cNvSpPr/>
          <p:nvPr/>
        </p:nvSpPr>
        <p:spPr>
          <a:xfrm>
            <a:off x="3492246" y="3766757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47" name="figure.cell.3.0.155"/>
          <p:cNvSpPr/>
          <p:nvPr/>
        </p:nvSpPr>
        <p:spPr>
          <a:xfrm>
            <a:off x="616268" y="4032504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48" name="figure.mark.3.0.156"/>
          <p:cNvSpPr/>
          <p:nvPr/>
        </p:nvSpPr>
        <p:spPr>
          <a:xfrm>
            <a:off x="817055" y="4156520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49" name="figure.cell.3.1.157"/>
          <p:cNvSpPr/>
          <p:nvPr/>
        </p:nvSpPr>
        <p:spPr>
          <a:xfrm>
            <a:off x="1141857" y="4032504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50" name="figure.mark.3.1.158"/>
          <p:cNvSpPr/>
          <p:nvPr/>
        </p:nvSpPr>
        <p:spPr>
          <a:xfrm>
            <a:off x="1342644" y="4156520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51" name="figure.cell.3.2.159"/>
          <p:cNvSpPr/>
          <p:nvPr/>
        </p:nvSpPr>
        <p:spPr>
          <a:xfrm>
            <a:off x="1667447" y="4032504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52" name="figure.mark.3.2.160"/>
          <p:cNvSpPr/>
          <p:nvPr/>
        </p:nvSpPr>
        <p:spPr>
          <a:xfrm>
            <a:off x="1868234" y="4156520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53" name="figure.cell.3.3.161"/>
          <p:cNvSpPr/>
          <p:nvPr/>
        </p:nvSpPr>
        <p:spPr>
          <a:xfrm>
            <a:off x="2193036" y="4032504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54" name="figure.mark.3.3.162"/>
          <p:cNvSpPr/>
          <p:nvPr/>
        </p:nvSpPr>
        <p:spPr>
          <a:xfrm>
            <a:off x="2393823" y="4156520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55" name="figure.cell.3.4.163"/>
          <p:cNvSpPr/>
          <p:nvPr/>
        </p:nvSpPr>
        <p:spPr>
          <a:xfrm>
            <a:off x="2718626" y="4032504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56" name="figure.mark.3.4.164"/>
          <p:cNvSpPr/>
          <p:nvPr/>
        </p:nvSpPr>
        <p:spPr>
          <a:xfrm>
            <a:off x="2919413" y="4156520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57" name="figure.cell.3.5.165"/>
          <p:cNvSpPr/>
          <p:nvPr/>
        </p:nvSpPr>
        <p:spPr>
          <a:xfrm>
            <a:off x="3244215" y="4032504"/>
            <a:ext cx="472440" cy="324803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58" name="figure.mark.3.5.166"/>
          <p:cNvSpPr/>
          <p:nvPr/>
        </p:nvSpPr>
        <p:spPr>
          <a:xfrm>
            <a:off x="3445002" y="4156520"/>
            <a:ext cx="70866" cy="70866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59" name="figure.roi.167"/>
          <p:cNvSpPr/>
          <p:nvPr/>
        </p:nvSpPr>
        <p:spPr>
          <a:xfrm>
            <a:off x="2677287" y="3188018"/>
            <a:ext cx="1086612" cy="826770"/>
          </a:xfrm>
          <a:prstGeom prst="rect">
            <a:avLst/>
          </a:prstGeom>
          <a:noFill/>
          <a:ln w="23813">
            <a:solidFill>
              <a:srgbClr val="AF3438"/>
            </a:solidFill>
            <a:prstDash val="solid"/>
          </a:ln>
        </p:spPr>
      </p:sp>
      <p:sp>
        <p:nvSpPr>
          <p:cNvPr id="5060" name="figure.zoom.168"/>
          <p:cNvSpPr/>
          <p:nvPr/>
        </p:nvSpPr>
        <p:spPr>
          <a:xfrm>
            <a:off x="5074920" y="2951798"/>
            <a:ext cx="1889760" cy="1417320"/>
          </a:xfrm>
          <a:prstGeom prst="rect">
            <a:avLst/>
          </a:prstGeom>
          <a:solidFill>
            <a:srgbClr val="FFFFFF"/>
          </a:solidFill>
          <a:ln w="13335">
            <a:solidFill>
              <a:srgbClr val="AF3438"/>
            </a:solidFill>
            <a:prstDash val="solid"/>
          </a:ln>
        </p:spPr>
      </p:sp>
      <p:sp>
        <p:nvSpPr>
          <p:cNvPr id="5061" name="zoom.cell.0.169"/>
          <p:cNvSpPr/>
          <p:nvPr/>
        </p:nvSpPr>
        <p:spPr>
          <a:xfrm>
            <a:off x="5252085" y="3158490"/>
            <a:ext cx="714566" cy="501968"/>
          </a:xfrm>
          <a:prstGeom prst="rect">
            <a:avLst/>
          </a:prstGeom>
          <a:solidFill>
            <a:srgbClr val="0759BE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62" name="zoom.mark.0.170"/>
          <p:cNvSpPr/>
          <p:nvPr/>
        </p:nvSpPr>
        <p:spPr>
          <a:xfrm>
            <a:off x="5559171" y="3365183"/>
            <a:ext cx="106299" cy="106299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063" name="zoom.cell.1.171"/>
          <p:cNvSpPr/>
          <p:nvPr/>
        </p:nvSpPr>
        <p:spPr>
          <a:xfrm>
            <a:off x="6072950" y="3158490"/>
            <a:ext cx="714566" cy="501968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64" name="zoom.mark.1.172"/>
          <p:cNvSpPr/>
          <p:nvPr/>
        </p:nvSpPr>
        <p:spPr>
          <a:xfrm>
            <a:off x="6380036" y="3365183"/>
            <a:ext cx="106299" cy="106299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65" name="zoom.cell.2.173"/>
          <p:cNvSpPr/>
          <p:nvPr/>
        </p:nvSpPr>
        <p:spPr>
          <a:xfrm>
            <a:off x="5252085" y="3802190"/>
            <a:ext cx="714566" cy="501968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66" name="zoom.mark.2.174"/>
          <p:cNvSpPr/>
          <p:nvPr/>
        </p:nvSpPr>
        <p:spPr>
          <a:xfrm>
            <a:off x="5559171" y="4008882"/>
            <a:ext cx="106299" cy="106299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67" name="zoom.cell.3.175"/>
          <p:cNvSpPr/>
          <p:nvPr/>
        </p:nvSpPr>
        <p:spPr>
          <a:xfrm>
            <a:off x="6072950" y="3802190"/>
            <a:ext cx="714566" cy="501968"/>
          </a:xfrm>
          <a:prstGeom prst="rect">
            <a:avLst/>
          </a:prstGeom>
          <a:solidFill>
            <a:srgbClr val="F2F7FB"/>
          </a:solidFill>
          <a:ln w="9525">
            <a:solidFill>
              <a:srgbClr val="A6B4C0"/>
            </a:solidFill>
            <a:prstDash val="solid"/>
          </a:ln>
        </p:spPr>
      </p:sp>
      <p:sp>
        <p:nvSpPr>
          <p:cNvPr id="5068" name="zoom.mark.3.176"/>
          <p:cNvSpPr/>
          <p:nvPr/>
        </p:nvSpPr>
        <p:spPr>
          <a:xfrm>
            <a:off x="6450902" y="4008882"/>
            <a:ext cx="106299" cy="106299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cxnSp>
        <p:nvCxnSpPr>
          <p:cNvPr id="5069" name="figure.roi-to-zoom"/>
          <p:cNvCxnSpPr>
            <a:stCxn id="5059" idx="3"/>
            <a:endCxn id="5060" idx="1"/>
          </p:cNvCxnSpPr>
          <p:nvPr/>
        </p:nvCxnSpPr>
        <p:spPr>
          <a:xfrm>
            <a:off x="3763899" y="3601403"/>
            <a:ext cx="1311021" cy="59055"/>
          </a:xfrm>
          <a:prstGeom prst="line">
            <a:avLst/>
          </a:prstGeom>
          <a:ln w="14288">
            <a:solidFill>
              <a:srgbClr val="AF3438"/>
            </a:solidFill>
            <a:prstDash val="solid"/>
            <a:tailEnd type="triangl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