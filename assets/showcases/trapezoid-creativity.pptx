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698fd1a2f9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本册将原来的逐例展示归并为八组比较，完整保留32种构图。每个案例的构图机制、适用内容、变体和来源范围见该页备注。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几何控制：平行边的长短控制开合，斜边提供方向线索。单个梯形可承担方向，也可作为面片参与折叠、拼接和透视。立体复合图还会用矩形、线段及其他四边形补足侧面。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制作方法：先确定宽端与窄端分别代表什么，再统一同组图形的斜率与间距。需要精确轮廓时使用编辑顶点。先复制同一面片，再旋转、镜像或叠放；保留独立面片，只有确有需要时才合并。标签采用独立水平文本框，先缩短表达，再调整留白，避免正文随透视面倾斜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示意图的宽度、面积、距离和颜色默认不承担实际数量编码。若用于数量比较，必须明确编码方法并直接标注数字。调研日期：2026年10月26日。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S15 Draw a picture by combining and merging shapes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 Support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https://support.microsoft.com/en-us/powerpoint/draw-a-picture-by-combining-and-merging-shapes</a:t>
            </a:r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层级与收束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金字塔强调支撑；漏斗强调筛选；复制网络展开节点；沙漏先收敛再展开。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截顶金字塔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连续收窄的层片，使基础与上层目标之间的支撑关系具有清楚的空间次序。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构图机制：各层共用中心轴，外侧斜边接近连续。观众先看到稳定的底座，再沿层名理解上层依赖。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适用内容：适合能力体系、技术架构和目标分解。图中以数据基础支撑业务流程。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变体与边界：层数可减到三层。宽度用于组织层级，实际投入比例另用数字表达。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参考方式：漏斗分段机制的本次反向延展。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来源观察：教程把倒置梯形与矩形分割条组合，通过拆分形状得到多阶段漏斗；阶段数量可以扩展。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逐级筛选漏斗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窄端依次衔接宽端，把入口集合逐步筛选为最终保留对象。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构图机制：各阶段沿共同侧边收束，层间白缝划分筛选节点。阶段名称负责说明对象为何减少。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适用内容：适合线索筛选、候选方案评估和资料精简。各层必须保持相同对象口径。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变体与边界：可并列两个等高漏斗比较筛选过程。示意宽度不代表真实转化率。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参考方式：参考梯形分割漏斗，重新绘制。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来源观察：教程把倒置梯形与矩形分割条组合，通过拆分形状得到多阶段漏斗；阶段数量可以扩展。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试点复制网络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梯形节点逐层增多，使单个试点扩展为多个落点的复制过程一目了然。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构图机制：第一层保留一个起点，下层增加独立节点。连接线说明复制关系，节点数量表现工作面的展开。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适用内容：适合试点推广和分区部署。示例连接区域与站点。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变体与边界：新站点可用轮廓线表示待启动。节点大小保持一致，避免暗示无依据的规模差异。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参考方式：本次提出的组合构图。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收敛与展开的沙漏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两个相反方向的梯形在窄端相接，将共同判断放在上下两段之间。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构图机制：上部缩小讨论范围，下部展开可行方案。中间的窄口必须写出连接两段的实际原则。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适用内容：适合设计研究、战略研讨和问题诊断。例图先收集资料，再形成落地方案。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变体与边界：可用两组分段梯形细分过程。上下部分分别命名，避免只剩对称造型。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参考方式：漏斗机制的双向延展。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来源观察：教程把倒置梯形与矩形分割条组合，通过拆分形状得到多阶段漏斗；阶段数量可以扩展。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本页各构图为结构与空间示意。图形面积、透视距离或颜色深浅不自动解释为真实数量。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S14 How to Create a Funnel Chart in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ShapeChef / Andreas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https://www.shapechef.com/blog/powerpoint-funnel-chart</a:t>
            </a:r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汇聚与环绕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通道组织横向处理；蝶形连接两端；四向汇聚突出成果；六瓣环列出主题构成。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横向收束通道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把梯形横置后，宽入口与窄出口形成适合横向阅读的加工通道。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构图机制：上下两条斜边向右收拢，内部用不同深浅分出处理区。出口箭头指出结果方向。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适用内容：适合资料归纳、需求澄清和特征压缩。例图将原始资料整理成核心判断。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变体与边界：出口处可接一个结果节点。真实数量变化需另外标出，通道宽度仅作示意。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参考方式：漏斗方向与阅读路径的本次转译。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来源观察：教程把倒置梯形与矩形分割条组合，通过拆分形状得到多阶段漏斗；阶段数量可以扩展。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共享接口的蝶形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左右镜像梯形通过中央接口相连，把多种来源和多种用途放在同一结构中。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构图机制：两侧宽面容纳各自范围，窄端朝向同一连接点。中央矩形说明两端依靠什么协同。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适用内容：适合平台接口、供需匹配和资源配置。例图用共享接口连接供应端与使用端。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变体与边界：两侧可各放三项短标签。进行方案比较时，应保持相同的面积和文字层级。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参考方式：本次提出的组合构图。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四向协同汇聚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四个梯形把窄端对准中心，使不同工作线围绕共同成果组织起来。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构图机制：外侧宽端代表各自领域，内侧窄端接近联合方案。四个方向保持对称，表达并列参与。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适用内容：适合跨部门合作、联合研究和系统集成。研究与工程等工作共同形成方案。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变体与边界：可删减为三向或扩成六向。只有确有流向时，才在窄端补充箭头。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参考方式：中心与支持要素关系的直边延展。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来源观察：教程从梯形出发，将上方两个顶点转为平滑点形成叶片，再绕圆心复制排列；中心表示核心议题，叶片表示支持要素。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六瓣梯形环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梯形沿中心旋转排列，外圈信息与中央主题之间形成稳定的对应关系。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构图机制：内外两条平行弦围出每一瓣，六瓣共同形成环。中心留白容纳主题，片间缝隙区分类别。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适用内容：适合六项能力、设计活动和主题构成。例图列出围绕设计主题的六项活动。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变体与边界：可高亮当前一瓣并在外侧展开说明。需要强调先后顺序时，另加方向标记。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参考方式：参考梯形环绕机制，改为分段环。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来源观察：页面展示六个相互交错的梯形，围绕中心形成循环式组合，用于六项步骤或概念。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本页各构图为结构与空间示意。图形面积、透视距离或颜色深浅不自动解释为真实数量。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S14 How to Create a Funnel Chart in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ShapeChef / Andreas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https://www.shapechef.com/blog/powerpoint-funnel-chart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S04 PowerPoint Shapes: Propeller Diagram Tutorial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https://www.presentation-process.com/powerpoint-shapes-tutorial.html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S08 Circular Diagram with Trapezoids for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PresentationGO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https://www.presentationgo.com/presentation/circular-diagram-trapezoids-powerpoint/</a:t>
            </a:r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折叠与推进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闭环围出整体；折页展开叙事；丝带保留折返路径；台阶强调相邻阶段。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四段方形闭环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四片梯形首尾贴合，围出一个可放置共同目标的方形中心。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构图机制：转角处共用斜切边，四个面组成连续框架。相对位置帮助观众把不同职责放回整体。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适用内容：适合管理闭环、质量体系和四项共同条件。图中围绕持续优化安排管理活动。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变体与边界：需要表达执行顺序时，在转角增加方向箭头。无箭头的构图首先表示整体组成。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参考方式：环绕关系的方形变体。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来源观察：页面展示六个相互交错的梯形，围绕中心形成循环式组合，用于六项步骤或概念。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手风琴折页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交替朝向的梯形模拟展开纸页，使一条叙事在连续折面上逐段出现。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构图机制：相邻梯形共用折线，深浅交替提示正反朝向。每片只放短标题，正文保持水平。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适用内容：适合研究叙事、课程目录和项目复盘。例图由背景展开到结论。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变体与边界：可把一片放大作为当前讲解页。折面宽度尽量一致，避免产生无依据的重要性差异。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参考方式：折纸边角的连续展开变体。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来源观察：教程在矩形的两端叠放翻转、旋转的大小梯形，利用深浅变化形成纸张折角，并展示金属折片及向上折叠路径的变体。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折返丝带流程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同一条宽带在转角处折回，用连续的前后面串联相邻阶段。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构图机制：长梯形形成正面，深色窄面表现折回。上排与下排通过同一侧的转折衔接。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适用内容：适合需要反复验证的过程。例图先识别问题，再提出假设并进入验证。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变体与边界：较长流程可加阶段编号或箭头。折返路径改变阅读方向，标注应保持清楚。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参考方式：梯形折片的路径化延展。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来源观察：教程在矩形的两端叠放翻转、旋转的大小梯形，利用深浅变化形成纸张折角，并展示金属折片及向上折叠路径的变体。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逐级抬升的台阶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梯形沿斜向逐级抬高，使准备、试点和扩展呈现为相邻落点。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构图机制：每个梯形保持相近尺寸，位置高度表达阶段推进。统一的斜边让各级台阶属于同一路径。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适用内容：适合能力成熟度、项目阶段和职业发展。四级示例以稳定运行作为终点。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变体与边界：可留出一个空缺表示尚待补足的阶段。高度是结构示意，不直接表示绩效数值。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参考方式：透视平台路径的平面台阶变体。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来源观察：页面展示人物在透视平台组成的道路上前进，包括完整、断开与弯曲的平台路径，用于成长、策略与机会。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本页各构图为结构与空间示意。图形面积、透视距离或颜色深浅不自动解释为真实数量。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S08 Circular Diagram with Trapezoids for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PresentationGO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https://www.presentationgo.com/presentation/circular-diagram-trapezoids-powerpoint/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S03 Folded Paper Graphic in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https://www.presentation-process.com/folded-paper-graphic.html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S10 Perspective Platforms Shape for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SlideModel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https://slidemodel.com/templates/perspective-platforms-shape-powerpoint/</a:t>
            </a:r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透视与空间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道路突出远端目标；跑道并列工作线；画廊选择当前焦点；层片分开系统层级。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通向目标的透视道路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近宽远窄的梯形形成道路纵深，把远端目标与当前出发位置放在同一视野。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构图机制：道路外边向远端汇聚，中央标记随距离缩小。目标放在窄端，使空间方向服务于路径叙事。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适用内容：适合项目规划、转型路线和阶段里程碑。横向标线可对应明确的日期或交付物。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变体与边界：里程碑文字放在道路两侧。透视间距不等同工期，日期仍需直接标注。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参考方式：参考梯形道路，重新绘制。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来源观察：教程使用梯形作为远窄近宽的道路，中间再以细长梯形组成分道线，并通过间距与字号的远近变化建立纵深。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共同目标的并行跑道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多个梯形并排展开，把同一目标下的工作线放在共享空间中比较。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构图机制：各跑道靠近共同远端，前景保持足够宽度容纳标签。颜色区分工作线，宽度保持对称。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适用内容：适合并行项目、跨部门计划和研发交付。技术、交付与市场在同一目标下推进。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变体与边界：每条跑道可增添独立里程碑。颜色表示类别，不能额外暗示完成程度。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参考方式：单一道路的多工作线延展。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来源观察：教程使用梯形作为远窄近宽的道路，中间再以细长梯形组成分道线，并通过间距与字号的远近变化建立纵深。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透视画廊比较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左右梯形向中央展面转折，使当前方案突出，同时保留相邻方案的位置。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构图机制：侧面用竖向平行边缩短远端高度，中央保持正视。空间朝向区分焦点和陪衬。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适用内容：适合产品方案、作品展示和章节切换。中央方案承载当前讨论，左右保留比较对象。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变体与边界：比较证据应使用同样尺度。若要判断优劣，可改为等大的平面展面。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参考方式：透视文字框的画廊化转译。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来源观察：页面展示五项或六项的横向梯形文字框，通过倾斜边、大小、颜色与阴影的变化产生透视和递进感。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分离的空间层片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把梯形面片沿竖向拉开，使系统的上下层关系与层间间隙同时可见。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构图机制：相同视角保持层片一致，纵向位置区分层级。辅助线标示对应位置，留白使每层易于指认。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适用内容：适合系统架构、材料结构和分层服务。例图把交互层、服务层和数据层分开。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变体与边界：每层可放一个短名称，详细内容置于旁边。间距表示分离展示，并非真实物理距离。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参考方式：透视地面机制的层叠延展。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来源观察：文章比较数种地面处理方法，其中用梯形置于物件下方形成带边界的透视地面，并通过调整上底宽度改变纵深感。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本页各构图为结构与空间示意。图形面积、透视距离或颜色深浅不自动解释为真实数量。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S05 Draw PowerPoint Roadmap Easily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https://www.presentation-process.com/powerpoint-roadmap.html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S07 Perspective Text Boxes for PowerPoint and Google Slides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PresentationGO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https://www.presentationgo.com/presentation/perspective-text-boxes-powerpoint-google-slides/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S06 Create Beautiful 3D backgrounds for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https://www.presentation-process.com/3d-backgrounds-for-powerpoint.html</a:t>
            </a:r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聚焦与支撑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聚光灯集中注意；台座承托成果；桥梁跨越差距；拱石共同支撑目标。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梯形聚光灯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梯形的窄端对应灯源，宽端展开光区，让成果成为画面的注意中心。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构图机制：上窄下宽的光束连接灯源与被照亮对象。浅蓝填充形成光区，深色对象提供稳定焦点。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适用内容：适合成果发布、产品亮点和重点问题。光区内部只放需要当场强调的内容。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变体与边界：可用两个光束分别照亮对照对象。光束形状是隐喻，不表达真实照度。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参考方式：参考梯形光束，重新绘制。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来源观察：教程以椭圆表示灯具、梯形表示光束，以渐变及透明度控制光束边缘，并展示产品和关键文字被照亮的用法。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成果展示台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梯形顶面与前侧面组合成低矮台座，让对象看起来有明确的承托位置。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构图机制：较短的上底形成远端，较长的下底形成前沿。前侧深色面提示厚度，使对象与地面区分。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适用内容：适合成果陈列、产品发布和关键结论。台座承托主对象，说明放在台外。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变体与边界：可并排三个等大的台座比较方案。这是二维透视示意，文字保持正视阅读。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参考方式：透视地面与展示台的本次组合。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来源观察：文章比较数种地面处理方法，其中用梯形置于物件下方形成带边界的透视地面，并通过调整上底宽度改变纵深感。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跨越缺口的桥梁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梯形桥墩支撑连续桥面，把现状与目标之间需要补足的条件具象化。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构图机制：两端形成岸边，中间留出缺口。桥面提供通路，支撑面说明目标实现依赖的保障。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适用内容：适合转型方案、系统迁移和实施计划。桥墩可对应资源或关键能力。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变体与边界：可删去一段桥面表示待解决的依赖。缺口必须对应实际问题，避免纯粹装饰。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参考方式：借鉴桥梁隐喻，梯形构造为本次设计。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来源观察：页面使用跨越两岸的桥梁作为行动、概念和实体之间的连接，河流或断口用于表示风险与过渡。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梯形拱石围合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多个梯形沿半圆排列，以相互靠拢的侧面围出具有支撑意味的拱门。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构图机制：每块石片的内外边互相平行，旋转后组成拱环。中央拱石可高亮为连接两侧的关键条件。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适用内容：适合支撑体系、共同承诺和关键依赖。拱门下的留白可放共同成果。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变体与边界：中央拱石可强调标准或共识。图形用于解释依赖关系，不承担结构力学分析。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参考方式：桥梁隐喻的拱石式延展。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来源观察：页面使用跨越两岸的桥梁作为行动、概念和实体之间的连接，河流或断口用于表示风险与过渡。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本页各构图为结构与空间示意。图形面积、透视距离或颜色深浅不自动解释为真实数量。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S01 Spotlight in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https://www.presentation-process.com/spotlight-in-powerpoint-2.html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S06 Create Beautiful 3D backgrounds for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https://www.presentation-process.com/3d-backgrounds-for-powerpoint.html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S11 Free Bridge Diagram for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SlideModel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https://slidemodel.com/free-powerpoint-templates/free-bridge-diagram-for-powerpoint/</a:t>
            </a:r>
            <a:endParaRPr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物件与权衡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袋身容纳资源；书页对照内容；秤盘建立权衡基准；屋顶统合独立职责。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购物袋与资源容器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梯形袋身配上提手，即可把抽象的渠道、资源或能力转为熟悉的容器。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构图机制：袋身收口与两侧斜边保持物件辨识度。提手补充用途线索，文字直接写在袋身或下方。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适用内容：适合零售报告、渠道方案和资源组合。图中以一个资源包示意内容组合。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变体与边界：提手可替换成植物或工具，变为花盆或工具箱。数量应另标，图标面积不代表金额。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参考方式：参考梯形袋身，重新绘制。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来源观察：教程将梯形袋身、弧形提手与圆形扣环组合成购物袋，并讨论用购物袋图标表现零售相关数据。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镜像梯形书页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左右梯形在书脊处相接，用展开书页承载两组能够相互参照的内容。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构图机制：页面围绕中轴镜像，外缘较高、书脊较低的透视建立展开感。独立文字保证阅读方向稳定。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适用内容：适合课程导入、知识手册和双页对照。左右可分别放已有知识与本节新内容。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变体与边界：书页可渐次展开形成章节动画。书页透视来自本次几何转译，未复用原教程照片。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参考方式：借鉴打开书本的隐喻，梯形书页为本次设计。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来源观察：Julie Terberg 的教程将封面与左右书页分开处理，围绕书脊对齐并组合动画，形成翻开书本的叙事入口。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梯形秤盘的权衡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两只同尺度的梯形秤盘放在水平横梁两端，使成本与收益共享清楚的比较基准。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构图机制：中央窄顶宽底的梯形支座承托横梁，两侧容器对称。相同面积先表达比较地位相同。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适用内容：适合取舍讨论、成本收益和短期长期权衡。每端使用相同层级的指标。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变体与边界：只有存在可比依据时才改变横梁倾角。示意图不把视觉重量当作真实计算结果。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参考方式：本次提出的组合构图。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共同屋顶下的模块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梯形屋顶与独立模块构成建筑轮廓，把共同使命与各自职责放在同一体系里。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构图机制：上方屋顶覆盖全部模块，下方底座提供共同支撑。模块之间保留留白，表示各有边界。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适用内容：适合组织能力、业务板块和服务体系。例图展示研究、产品、运营与服务。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变体与边界：屋顶写共同目标，底座写共用资源。模块面积保持一致，详细职责另作展开。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参考方式：本次提出的组合构图。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本页各构图为结构与空间示意。图形面积、透视距离或颜色深浅不自动解释为真实数量。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S02 PowerPoint Info Graph Tutorial: with Shopping Bag icon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https://www.presentation-process.com/info-graph.html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S12 An Open Book in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Indezine / Julie Terberg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https://www.indezine.com/products/powerpoint/cool/openbook.html</a:t>
            </a:r>
            <a:endParaRPr 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旋转与拼接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风车围绕转轴协作；拼接形成模块；嵌套划定范围；百叶展示揭示前后的状态。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四叶梯形风车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四个直角梯形围绕中心错位旋转，形成具有方向感的协同叶片。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构图机制：叶片窄端靠近转轴，宽端向外伸展。相同旋转角度与尺寸保持各项因素地位一致。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适用内容：适合驱动因素、协作能力和共同目标。中心写成果，叶片写支持它的条件。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变体与边界：可高亮一片讲解当前短板。没有顺序箭头时，叶片表示并列驱动。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参考方式：梯形螺旋桨的直边四叶变体。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来源观察：教程从梯形出发，将上方两个顶点转为平滑点形成叶片，再绕圆心复制排列；中心表示核心议题，叶片表示支持要素。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双梯形六边拼接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两个方向相反的梯形拼成六边形，再以重复单元形成可以扩展的模块地图。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构图机制：共享底边把两片连接为一个单元，外侧斜边与相邻单元贴合。上下半片可分配两类信息。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适用内容：适合能力模块、配对条件和系统单元。每个单元保持同一种命名规则。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变体与边界：可减少到三个单元形成简洁组合。相邻只表示组合位置，依赖关系还需连接说明。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参考方式：梯形模块的六边拼接延展。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来源观察：页面描述十二片梯形分成三行、每行四片的对称折纸构图；深浅与折边阴影使模块具有纸张折叠感。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嵌套梯形范围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较小梯形完全置于较大梯形内部，用边界包含表示逐层缩小的讨论范围。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构图机制：各级共享底部基线，顶部逐层下移。颜色深浅与边界共同区分行业、人群和具体项目。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适用内容：适合研究范围、权限边界和目标人群。内部对象必须确实属于外部集合。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变体与边界：可在外侧补充排除条件。面积只用于形成包含关系，不能直接读成样本比例。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参考方式：本次提出的组合构图。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梯形百叶展开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多片梯形由紧密闭合转为错位展开，以逐步露出信息组织一次揭示。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构图机制：每片保持相同身份，改变位置或转角后，片间空隙逐步扩大。起止状态决定遮挡与揭示范围。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适用内容：适合章节揭幕、方案分解和内容概览。图中并列展示闭合与展开状态。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变体与边界：可先复制整页再应用平滑转场。运动中避免遮住关键文字，结束后再阅读细节。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参考方式：连续折片的动态端点延展。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来源观察：教程在矩形的两端叠放翻转、旋转的大小梯形，利用深浅变化形成纸张折角，并展示金属折片及向上折叠路径的变体。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本页各构图为结构与空间示意。图形面积、透视距离或颜色深浅不自动解释为真实数量。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S04 PowerPoint Shapes: Propeller Diagram Tutorial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https://www.presentation-process.com/powerpoint-shapes-tutorial.html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S09 Segmented Paper Fold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PresentationGO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https://www.presentationgo.com/presentation/segmented-paper-fold-powerpoint-google-slides/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S03 Folded Paper Graphic in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https://www.presentation-process.com/folded-paper-graphic.html</a:t>
            </a:r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页面与取景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斜切分开视觉与解释；折页区分主文与补充；页签定位章节；画框建立前后层次。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斜切双区版式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一条斜向边界把案例视觉与解释文字分开，使两类内容形成连续而有变化的页面。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构图机制：左右区域保持同一顶底边，斜边控制视觉转接。文字框独立放置，避免沿斜边倾斜。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适用内容：适合案例解读、人物介绍和方案概览。图中左侧放案例，右侧放核心观点。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变体与边界：斜切边两侧保留安全距离。证据性图片应先检查裁切，关键细节不能被边界遮挡。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参考方式：透视面板的页面分区延展。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来源观察：页面展示五项或六项的横向梯形文字框，通过倾斜边、大小、颜色与阴影的变化产生透视和递进感。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侧边折页与书签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在内容页侧边叠放梯形折片，用正反面深浅变化区分主文与补充内容。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构图机制：主页面保持正视，折回部分只占侧边。梯形窄面与主面共享折线，避免争夺正文空间。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适用内容：适合补充材料、章节提示和引用摘录。折片只放短标签，长解释留在主页面。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变体与边界：折片可缩到一角成为书签。阴影用固定深浅表达，正文保持水平。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参考方式：梯形折纸边角的侧边折页变体。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来源观察：教程在矩形的两端叠放翻转、旋转的大小梯形，利用深浅变化形成纸张折角，并展示金属折片及向上折叠路径的变体。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梯形章节页签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斜边页签排成连续目录，当前章节通过深蓝填充获得明确位置。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构图机制：各页签共用基线，宽度容纳短标题。当前章用深蓝突出，与下方内容区形成阅读入口。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适用内容：适合课程章节、方案目录和长报告导航。图中用同一组章节保持位置感。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变体与边界：可在原生页签上添加页内超链接。本例展示外观结构，标签文字可直接替换。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参考方式：参考梯形页签视觉，转译为原生图形。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来源观察：文章把梯形用作页签背景，以透视旋转形成斜边，并通过改变旋转原点得到左右不同倾斜方式。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────────────────────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梯形取景与出界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透视画框限定主体所在场景，少量元素越过框边，使重点与背景形成层次。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构图机制：梯形框的短远边建立视角，主体置于框前。越界处局部遮挡框线，产生离开画面的感觉。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适用内容：适合封面主视觉、重点成果和对象介绍。示例用几何对象说明前后关系。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变体与边界：替换为实物照片时，可分离主体并保留原图。取景裁切不能删去需要论证的证据。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参考方式：透视地面的取景与前景延展。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来源观察：文章比较数种地面处理方法，其中用梯形置于物件下方形成带边界的透视地面，并通过调整上底宽度改变纵深感。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本页各构图为结构与空间示意。图形面积、透视距离或颜色深浅不自动解释为真实数量。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S07 Perspective Text Boxes for PowerPoint and Google Slides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PresentationGO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https://www.presentationgo.com/presentation/perspective-text-boxes-powerpoint-google-slides/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S03 Folded Paper Graphic in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https://www.presentation-process.com/folded-paper-graphic.html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S13 Slanted tabs with CSS 3D transforms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Lea Verou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https://lea.verou.me/blog/2013/10/slanted-tabs-with-css-3d-transforms/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S06 Create Beautiful 3D backgrounds for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https://www.presentation-process.com/3d-backgrounds-for-powerpoint.html</a:t>
            </a:r>
            <a:endParaRPr 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平滑演示状态A。保持三个四顶点梯形及其标签的身份，修改宽度和顶点位置。形状与标签分别使用以!!开头的稳定名称。状态B包含原生Morph转场，持续1.6秒。Microsoft 365或支持平滑的桌面PowerPoint可播放；其他查看器可能以兼容淡化呈现。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构图变体：对象保持对应时，可改变宽度、位置和顶点。复杂路径可增加中间状态。运动结束后再阅读详细内容。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S16 Morph transition: Tips and tricks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 Support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平滑演示状态B。保持三个四顶点梯形及其标签的身份，修改宽度和顶点位置。形状与标签分别使用以!!开头的稳定名称。状态B包含原生Morph转场，持续1.6秒。Microsoft 365或支持平滑的桌面PowerPoint可播放；其他查看器可能以兼容淡化呈现。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构图变体：对象保持对应时，可改变宽度、位置和顶点。复杂路径可增加中间状态。运动结束后再阅读详细内容。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S16 Morph transition: Tips and tricks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 Support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来源页面用于构图机制调研。除明确标为官方操作说明外，不把旧教程的菜单名称当作当前版本操作要求。书本与桥梁来源提供隐喻，本册的梯形书页、桥墩与拱石均为重新设计。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S01：教程以椭圆表示灯具、梯形表示光束，以渐变及透明度控制光束边缘，并展示产品和关键文字被照亮的用法。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S02：教程将梯形袋身、弧形提手与圆形扣环组合成购物袋，并讨论用购物袋图标表现零售相关数据。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S03：教程在矩形的两端叠放翻转、旋转的大小梯形，利用深浅变化形成纸张折角，并展示金属折片及向上折叠路径的变体。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S04：教程从梯形出发，将上方两个顶点转为平滑点形成叶片，再绕圆心复制排列；中心表示核心议题，叶片表示支持要素。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S05：教程使用梯形作为远窄近宽的道路，中间再以细长梯形组成分道线，并通过间距与字号的远近变化建立纵深。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S06：文章比较数种地面处理方法，其中用梯形置于物件下方形成带边界的透视地面，并通过调整上底宽度改变纵深感。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S07：页面展示五项或六项的横向梯形文字框，通过倾斜边、大小、颜色与阴影的变化产生透视和递进感。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S08：页面展示六个相互交错的梯形，围绕中心形成循环式组合，用于六项步骤或概念。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S01 Spotlight in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https://www.presentation-process.com/spotlight-in-powerpoint-2.html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S02 PowerPoint Info Graph Tutorial: with Shopping Bag icon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https://www.presentation-process.com/info-graph.html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S03 Folded Paper Graphic in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https://www.presentation-process.com/folded-paper-graphic.html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S04 PowerPoint Shapes: Propeller Diagram Tutorial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https://www.presentation-process.com/powerpoint-shapes-tutorial.html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S05 Draw PowerPoint Roadmap Easily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https://www.presentation-process.com/powerpoint-roadmap.html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S06 Create Beautiful 3D backgrounds for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https://www.presentation-process.com/3d-backgrounds-for-powerpoint.html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S07 Perspective Text Boxes for PowerPoint and Google Slides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PresentationGO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https://www.presentationgo.com/presentation/perspective-text-boxes-powerpoint-google-slides/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S08 Circular Diagram with Trapezoids for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PresentationGO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https://www.presentationgo.com/presentation/circular-diagram-trapezoids-powerpoint/</a:t>
            </a:r>
            <a:endParaRPr 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来源页面用于构图机制调研。除明确标为官方操作说明外，不把旧教程的菜单名称当作当前版本操作要求。书本与桥梁来源提供隐喻，本册的梯形书页、桥墩与拱石均为重新设计。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S09：页面描述十二片梯形分成三行、每行四片的对称折纸构图；深浅与折边阴影使模块具有纸张折叠感。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S10：页面展示人物在透视平台组成的道路上前进，包括完整、断开与弯曲的平台路径，用于成长、策略与机会。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S11：页面使用跨越两岸的桥梁作为行动、概念和实体之间的连接，河流或断口用于表示风险与过渡。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S12：Julie Terberg 的教程将封面与左右书页分开处理，围绕书脊对齐并组合动画，形成翻开书本的叙事入口。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S13：文章把梯形用作页签背景，以透视旋转形成斜边，并通过改变旋转原点得到左右不同倾斜方式。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S14：教程把倒置梯形与矩形分割条组合，通过拆分形状得到多阶段漏斗；阶段数量可以扩展。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S15：官方说明合并形状的不同操作及编辑顶点。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S16：官方说明平滑转场的对象名称匹配与使用方式。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S09 Segmented Paper Fold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PresentationGO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https://www.presentationgo.com/presentation/segmented-paper-fold-powerpoint-google-slides/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S10 Perspective Platforms Shape for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SlideModel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https://slidemodel.com/templates/perspective-platforms-shape-powerpoint/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S11 Free Bridge Diagram for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SlideModel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https://slidemodel.com/free-powerpoint-templates/free-bridge-diagram-for-powerpoint/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S12 An Open Book in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Indezine / Julie Terberg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https://www.indezine.com/products/powerpoint/cool/openbook.html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S13 Slanted tabs with CSS 3D transforms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Lea Verou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https://lea.verou.me/blog/2013/10/slanted-tabs-with-css-3d-transforms/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S14 How to Create a Funnel Chart in 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ShapeChef / Andreas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https://www.shapechef.com/blog/powerpoint-funnel-chart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S15 Draw a picture by combining and merging shapes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 Support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https://support.microsoft.com/en-us/powerpoint/draw-a-picture-by-combining-and-merging-shapes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S16 Morph transition: Tips and tricks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 Support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84ec0427e41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e28f12df44d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0a29960eb4d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6b5459ceb49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fcdf88b784a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01118aac742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CE4551-8081-4FAF-8D01-5DC39E49A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39391F-A1B1-479B-B764-3FBB2C9D3B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1C21D5-64B6-4184-B99A-AF41B86D71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05D146-56C6-431F-A172-320A7F412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131817-153A-4FB9-B1A7-9E2117AEF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31F556-B4E3-4B8B-AAF0-D1794B172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4F2A0C-0E08-452B-BE84-C0C555283A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2899F0-6EF3-4D86-A45D-5AFEA00445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3FB00F-2ADC-489B-B48C-07A7BC2694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3A49A2-F061-40D3-92F3-EE081622BF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61204dd6e14f92" /><Relationship Type="http://schemas.openxmlformats.org/officeDocument/2006/relationships/slideLayout" Target="/ppt/slideLayouts/slideLayout1.xml" Id="R4c9fbff4d154488c" /><Relationship Type="http://schemas.openxmlformats.org/officeDocument/2006/relationships/slideLayout" Target="/ppt/slideLayouts/slideLayout2.xml" Id="R0aea2a2bc593403e" /><Relationship Type="http://schemas.openxmlformats.org/officeDocument/2006/relationships/slideLayout" Target="/ppt/slideLayouts/slideLayout3.xml" Id="R3f3d61f5a0c24e61" /><Relationship Type="http://schemas.openxmlformats.org/officeDocument/2006/relationships/slideLayout" Target="/ppt/slideLayouts/slideLayout4.xml" Id="Rd142328ac1214ff9" /><Relationship Type="http://schemas.openxmlformats.org/officeDocument/2006/relationships/slideLayout" Target="/ppt/slideLayouts/slideLayout5.xml" Id="Rfbd490c750d34d48" /><Relationship Type="http://schemas.openxmlformats.org/officeDocument/2006/relationships/slideLayout" Target="/ppt/slideLayouts/slideLayout6.xml" Id="Rfbca71729b7348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9fbff4d154488c"/>
    <p:sldLayoutId xmlns:r="http://schemas.openxmlformats.org/officeDocument/2006/relationships" id="2147483650" r:id="R0aea2a2bc593403e"/>
    <p:sldLayoutId xmlns:r="http://schemas.openxmlformats.org/officeDocument/2006/relationships" id="2147483651" r:id="R3f3d61f5a0c24e61"/>
    <p:sldLayoutId xmlns:r="http://schemas.openxmlformats.org/officeDocument/2006/relationships" id="2147483652" r:id="Rd142328ac1214ff9"/>
    <p:sldLayoutId xmlns:r="http://schemas.openxmlformats.org/officeDocument/2006/relationships" id="2147483653" r:id="Rfbd490c750d34d48"/>
    <p:sldLayoutId xmlns:r="http://schemas.openxmlformats.org/officeDocument/2006/relationships" id="2147483654" r:id="Rfbca71729b7348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sourceLink1" Type="http://schemas.openxmlformats.org/officeDocument/2006/relationships/hyperlink" Target="https://www.shapechef.com/blog/powerpoint-funnel-chart" TargetMode="External"/><Relationship Id="sourceLink2" Type="http://schemas.openxmlformats.org/officeDocument/2006/relationships/hyperlink" Target="https://www.shapechef.com/blog/powerpoint-funnel-chart" TargetMode="External"/><Relationship Id="sourceLink3" Type="http://schemas.openxmlformats.org/officeDocument/2006/relationships/hyperlink" Target="https://www.shapechef.com/blog/powerpoint-funnel-chart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sourceLink1" Type="http://schemas.openxmlformats.org/officeDocument/2006/relationships/hyperlink" Target="https://www.shapechef.com/blog/powerpoint-funnel-chart" TargetMode="External"/><Relationship Id="sourceLink2" Type="http://schemas.openxmlformats.org/officeDocument/2006/relationships/hyperlink" Target="https://www.presentation-process.com/powerpoint-shapes-tutorial.html" TargetMode="External"/><Relationship Id="sourceLink3" Type="http://schemas.openxmlformats.org/officeDocument/2006/relationships/hyperlink" Target="https://www.presentationgo.com/presentation/circular-diagram-trapezoids-powerpoint/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sourceLink1" Type="http://schemas.openxmlformats.org/officeDocument/2006/relationships/hyperlink" Target="https://www.presentationgo.com/presentation/circular-diagram-trapezoids-powerpoint/" TargetMode="External"/><Relationship Id="sourceLink2" Type="http://schemas.openxmlformats.org/officeDocument/2006/relationships/hyperlink" Target="https://www.presentation-process.com/folded-paper-graphic.html" TargetMode="External"/><Relationship Id="sourceLink3" Type="http://schemas.openxmlformats.org/officeDocument/2006/relationships/hyperlink" Target="https://www.presentation-process.com/folded-paper-graphic.html" TargetMode="External"/><Relationship Id="sourceLink4" Type="http://schemas.openxmlformats.org/officeDocument/2006/relationships/hyperlink" Target="https://slidemodel.com/templates/perspective-platforms-shape-powerpoint/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sourceLink1" Type="http://schemas.openxmlformats.org/officeDocument/2006/relationships/hyperlink" Target="https://www.presentation-process.com/powerpoint-roadmap.html" TargetMode="External"/><Relationship Id="sourceLink2" Type="http://schemas.openxmlformats.org/officeDocument/2006/relationships/hyperlink" Target="https://www.presentation-process.com/powerpoint-roadmap.html" TargetMode="External"/><Relationship Id="sourceLink3" Type="http://schemas.openxmlformats.org/officeDocument/2006/relationships/hyperlink" Target="https://www.presentationgo.com/presentation/perspective-text-boxes-powerpoint-google-slides/" TargetMode="External"/><Relationship Id="sourceLink4" Type="http://schemas.openxmlformats.org/officeDocument/2006/relationships/hyperlink" Target="https://www.presentation-process.com/3d-backgrounds-for-powerpoint.html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sourceLink1" Type="http://schemas.openxmlformats.org/officeDocument/2006/relationships/hyperlink" Target="https://www.presentation-process.com/spotlight-in-powerpoint-2.html" TargetMode="External"/><Relationship Id="sourceLink2" Type="http://schemas.openxmlformats.org/officeDocument/2006/relationships/hyperlink" Target="https://www.presentation-process.com/3d-backgrounds-for-powerpoint.html" TargetMode="External"/><Relationship Id="sourceLink3" Type="http://schemas.openxmlformats.org/officeDocument/2006/relationships/hyperlink" Target="https://slidemodel.com/free-powerpoint-templates/free-bridge-diagram-for-powerpoint/" TargetMode="External"/><Relationship Id="sourceLink4" Type="http://schemas.openxmlformats.org/officeDocument/2006/relationships/hyperlink" Target="https://slidemodel.com/free-powerpoint-templates/free-bridge-diagram-for-powerpoint/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sourceLink1" Type="http://schemas.openxmlformats.org/officeDocument/2006/relationships/hyperlink" Target="https://www.presentation-process.com/info-graph.html" TargetMode="External"/><Relationship Id="sourceLink2" Type="http://schemas.openxmlformats.org/officeDocument/2006/relationships/hyperlink" Target="https://www.indezine.com/products/powerpoint/cool/openbook.html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sourceLink1" Type="http://schemas.openxmlformats.org/officeDocument/2006/relationships/hyperlink" Target="https://www.presentation-process.com/powerpoint-shapes-tutorial.html" TargetMode="External"/><Relationship Id="sourceLink2" Type="http://schemas.openxmlformats.org/officeDocument/2006/relationships/hyperlink" Target="https://www.presentationgo.com/presentation/segmented-paper-fold-powerpoint-google-slides/" TargetMode="External"/><Relationship Id="sourceLink3" Type="http://schemas.openxmlformats.org/officeDocument/2006/relationships/hyperlink" Target="https://www.presentation-process.com/folded-paper-graphic.html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sourceLink1" Type="http://schemas.openxmlformats.org/officeDocument/2006/relationships/hyperlink" Target="https://www.presentationgo.com/presentation/perspective-text-boxes-powerpoint-google-slides/" TargetMode="External"/><Relationship Id="sourceLink2" Type="http://schemas.openxmlformats.org/officeDocument/2006/relationships/hyperlink" Target="https://www.presentation-process.com/folded-paper-graphic.html" TargetMode="External"/><Relationship Id="sourceLink3" Type="http://schemas.openxmlformats.org/officeDocument/2006/relationships/hyperlink" Target="https://lea.verou.me/blog/2013/10/slanted-tabs-with-css-3d-transforms/" TargetMode="External"/><Relationship Id="sourceLink4" Type="http://schemas.openxmlformats.org/officeDocument/2006/relationships/hyperlink" Target="https://www.presentation-process.com/3d-backgrounds-for-powerpoint.html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sourceLink1" Type="http://schemas.openxmlformats.org/officeDocument/2006/relationships/hyperlink" Target="https://www.presentation-process.com/spotlight-in-powerpoint-2.html" TargetMode="External"/><Relationship Id="sourceLink2" Type="http://schemas.openxmlformats.org/officeDocument/2006/relationships/hyperlink" Target="https://www.presentation-process.com/info-graph.html" TargetMode="External"/><Relationship Id="sourceLink3" Type="http://schemas.openxmlformats.org/officeDocument/2006/relationships/hyperlink" Target="https://www.presentation-process.com/folded-paper-graphic.html" TargetMode="External"/><Relationship Id="sourceLink4" Type="http://schemas.openxmlformats.org/officeDocument/2006/relationships/hyperlink" Target="https://www.presentation-process.com/powerpoint-shapes-tutorial.html" TargetMode="External"/><Relationship Id="sourceLink5" Type="http://schemas.openxmlformats.org/officeDocument/2006/relationships/hyperlink" Target="https://www.presentation-process.com/powerpoint-roadmap.html" TargetMode="External"/><Relationship Id="sourceLink6" Type="http://schemas.openxmlformats.org/officeDocument/2006/relationships/hyperlink" Target="https://www.presentation-process.com/3d-backgrounds-for-powerpoint.html" TargetMode="External"/><Relationship Id="sourceLink7" Type="http://schemas.openxmlformats.org/officeDocument/2006/relationships/hyperlink" Target="https://www.presentationgo.com/presentation/perspective-text-boxes-powerpoint-google-slides/" TargetMode="External"/><Relationship Id="sourceLink8" Type="http://schemas.openxmlformats.org/officeDocument/2006/relationships/hyperlink" Target="https://www.presentationgo.com/presentation/circular-diagram-trapezoids-powerpoint/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sourceLink1" Type="http://schemas.openxmlformats.org/officeDocument/2006/relationships/hyperlink" Target="https://www.presentationgo.com/presentation/segmented-paper-fold-powerpoint-google-slides/" TargetMode="External"/><Relationship Id="sourceLink2" Type="http://schemas.openxmlformats.org/officeDocument/2006/relationships/hyperlink" Target="https://slidemodel.com/templates/perspective-platforms-shape-powerpoint/" TargetMode="External"/><Relationship Id="sourceLink3" Type="http://schemas.openxmlformats.org/officeDocument/2006/relationships/hyperlink" Target="https://slidemodel.com/free-powerpoint-templates/free-bridge-diagram-for-powerpoint/" TargetMode="External"/><Relationship Id="sourceLink4" Type="http://schemas.openxmlformats.org/officeDocument/2006/relationships/hyperlink" Target="https://www.indezine.com/products/powerpoint/cool/openbook.html" TargetMode="External"/><Relationship Id="sourceLink5" Type="http://schemas.openxmlformats.org/officeDocument/2006/relationships/hyperlink" Target="https://lea.verou.me/blog/2013/10/slanted-tabs-with-css-3d-transforms/" TargetMode="External"/><Relationship Id="sourceLink6" Type="http://schemas.openxmlformats.org/officeDocument/2006/relationships/hyperlink" Target="https://www.shapechef.com/blog/powerpoint-funnel-chart" TargetMode="External"/><Relationship Id="sourceLink7" Type="http://schemas.openxmlformats.org/officeDocument/2006/relationships/hyperlink" Target="https://support.microsoft.com/en-us/powerpoint/draw-a-picture-by-combining-and-merging-shapes" TargetMode="External"/><Relationship Id="sourceLink8" Type="http://schemas.openxmlformats.org/officeDocument/2006/relationships/hyperlink" Target="https://support.microsoft.com/en-us/powerpoint/morph-transition-tips-and-tric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1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2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1</a:t>
            </a:r>
            <a:endParaRPr lang="zh-CN"/>
          </a:p>
        </p:txBody>
      </p:sp>
      <p:sp>
        <p:nvSpPr>
          <p:cNvPr id="4" name="header.gradient.3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4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梯形的 32 种 PPT 创意</a:t>
            </a:r>
            <a:endParaRPr lang="zh-CN"/>
          </a:p>
        </p:txBody>
      </p:sp>
      <p:sp>
        <p:nvSpPr>
          <p:cNvPr id="6" name="header.library.5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梯形创意图鉴</a:t>
            </a:r>
            <a:endParaRPr lang="zh-CN"/>
          </a:p>
        </p:txBody>
      </p:sp>
      <p:sp>
        <p:nvSpPr>
          <p:cNvPr id="7" name="info.lead.6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7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8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9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以8组比较呈现32个可编辑构图，按内容关系选择梯形的开合方向与组合方式。</a:t>
            </a:r>
            <a:endParaRPr lang="zh-CN"/>
          </a:p>
        </p:txBody>
      </p:sp>
      <p:sp>
        <p:nvSpPr>
          <p:cNvPr id="11" name="guide.panels.geometry.1"/>
          <p:cNvSpPr/>
          <p:nvPr/>
        </p:nvSpPr>
        <p:spPr>
          <a:xfrm>
            <a:off x="457200" y="1847850"/>
            <a:ext cx="6191250" cy="466725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2" name="guide.panels.selection.2"/>
          <p:cNvSpPr/>
          <p:nvPr/>
        </p:nvSpPr>
        <p:spPr>
          <a:xfrm>
            <a:off x="6858000" y="1847850"/>
            <a:ext cx="4876800" cy="466725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3" name="text.12.10"/>
          <p:cNvSpPr txBox="1"/>
          <p:nvPr/>
        </p:nvSpPr>
        <p:spPr>
          <a:xfrm>
            <a:off x="666750" y="2057400"/>
            <a:ext cx="557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2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平行边决定开合</a:t>
            </a:r>
            <a:endParaRPr lang="zh-CN"/>
          </a:p>
        </p:txBody>
      </p:sp>
      <p:sp>
        <p:nvSpPr>
          <p:cNvPr id="14" name="guide.geometry.open.1"/>
          <p:cNvSpPr/>
          <p:nvPr/>
        </p:nvSpPr>
        <p:spPr>
          <a:xfrm>
            <a:off x="904875" y="2686050"/>
            <a:ext cx="1381125" cy="120015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5000" h="126000">
                <a:moveTo>
                  <a:pt x="42050" y="0"/>
                </a:moveTo>
                <a:lnTo>
                  <a:pt x="102950" y="0"/>
                </a:lnTo>
                <a:lnTo>
                  <a:pt x="145000" y="126000"/>
                </a:lnTo>
                <a:lnTo>
                  <a:pt x="0" y="126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5" name="guide.geometry.close.2"/>
          <p:cNvSpPr/>
          <p:nvPr/>
        </p:nvSpPr>
        <p:spPr>
          <a:xfrm>
            <a:off x="2733675" y="2686050"/>
            <a:ext cx="1381125" cy="120015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5000" h="126000">
                <a:moveTo>
                  <a:pt x="0" y="0"/>
                </a:moveTo>
                <a:lnTo>
                  <a:pt x="145000" y="0"/>
                </a:lnTo>
                <a:lnTo>
                  <a:pt x="102950" y="126000"/>
                </a:lnTo>
                <a:lnTo>
                  <a:pt x="42050" y="126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16" name="guide.geometry.channel.3"/>
          <p:cNvSpPr/>
          <p:nvPr/>
        </p:nvSpPr>
        <p:spPr>
          <a:xfrm>
            <a:off x="4619625" y="2686050"/>
            <a:ext cx="1381125" cy="120015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5000" h="126000">
                <a:moveTo>
                  <a:pt x="0" y="0"/>
                </a:moveTo>
                <a:lnTo>
                  <a:pt x="145000" y="37000"/>
                </a:lnTo>
                <a:lnTo>
                  <a:pt x="145000" y="89000"/>
                </a:lnTo>
                <a:lnTo>
                  <a:pt x="0" y="12600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17" name="guide.geometry.label.4.11"/>
          <p:cNvSpPr txBox="1"/>
          <p:nvPr/>
        </p:nvSpPr>
        <p:spPr>
          <a:xfrm>
            <a:off x="876300" y="4019550"/>
            <a:ext cx="14382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展开</a:t>
            </a:r>
            <a:endParaRPr lang="zh-CN"/>
          </a:p>
        </p:txBody>
      </p:sp>
      <p:sp>
        <p:nvSpPr>
          <p:cNvPr id="18" name="guide.geometry.label.5.12"/>
          <p:cNvSpPr txBox="1"/>
          <p:nvPr/>
        </p:nvSpPr>
        <p:spPr>
          <a:xfrm>
            <a:off x="2705100" y="4019550"/>
            <a:ext cx="14382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收束</a:t>
            </a:r>
            <a:endParaRPr lang="zh-CN"/>
          </a:p>
        </p:txBody>
      </p:sp>
      <p:sp>
        <p:nvSpPr>
          <p:cNvPr id="19" name="guide.geometry.label.6.13"/>
          <p:cNvSpPr txBox="1"/>
          <p:nvPr/>
        </p:nvSpPr>
        <p:spPr>
          <a:xfrm>
            <a:off x="4438650" y="4019550"/>
            <a:ext cx="17240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横向汇流</a:t>
            </a:r>
            <a:endParaRPr lang="zh-CN"/>
          </a:p>
        </p:txBody>
      </p:sp>
      <p:sp>
        <p:nvSpPr>
          <p:cNvPr id="20" name="text.19.14"/>
          <p:cNvSpPr txBox="1"/>
          <p:nvPr/>
        </p:nvSpPr>
        <p:spPr>
          <a:xfrm>
            <a:off x="666750" y="4800600"/>
            <a:ext cx="5572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旋转、镜像与拼接，改变同一形状的阅读方向。</a:t>
            </a:r>
            <a:endParaRPr lang="zh-CN"/>
          </a:p>
        </p:txBody>
      </p:sp>
      <p:sp>
        <p:nvSpPr>
          <p:cNvPr id="21" name="text.20.15"/>
          <p:cNvSpPr txBox="1"/>
          <p:nvPr/>
        </p:nvSpPr>
        <p:spPr>
          <a:xfrm>
            <a:off x="666750" y="5924550"/>
            <a:ext cx="55721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图形面积和透视距离均为结构示意。</a:t>
            </a:r>
            <a:endParaRPr lang="zh-CN"/>
          </a:p>
        </p:txBody>
      </p:sp>
      <p:sp>
        <p:nvSpPr>
          <p:cNvPr id="22" name="text.21.16"/>
          <p:cNvSpPr txBox="1"/>
          <p:nvPr/>
        </p:nvSpPr>
        <p:spPr>
          <a:xfrm>
            <a:off x="7124700" y="2057400"/>
            <a:ext cx="4238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2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按内容关系选择</a:t>
            </a:r>
            <a:endParaRPr lang="zh-CN"/>
          </a:p>
        </p:txBody>
      </p:sp>
      <p:sp>
        <p:nvSpPr>
          <p:cNvPr id="23" name="text.22.17"/>
          <p:cNvSpPr txBox="1"/>
          <p:nvPr/>
        </p:nvSpPr>
        <p:spPr>
          <a:xfrm>
            <a:off x="7124700" y="261937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层级与收束</a:t>
            </a:r>
            <a:endParaRPr lang="zh-CN"/>
          </a:p>
        </p:txBody>
      </p:sp>
      <p:sp>
        <p:nvSpPr>
          <p:cNvPr id="24" name="text.23.18"/>
          <p:cNvSpPr txBox="1"/>
          <p:nvPr/>
        </p:nvSpPr>
        <p:spPr>
          <a:xfrm>
            <a:off x="10496550" y="2619375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72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 页</a:t>
            </a:r>
            <a:endParaRPr lang="zh-CN"/>
          </a:p>
        </p:txBody>
      </p:sp>
      <p:sp>
        <p:nvSpPr>
          <p:cNvPr id="25" name="text.24.19"/>
          <p:cNvSpPr txBox="1"/>
          <p:nvPr/>
        </p:nvSpPr>
        <p:spPr>
          <a:xfrm>
            <a:off x="7124700" y="30289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汇聚与环绕</a:t>
            </a:r>
            <a:endParaRPr lang="zh-CN"/>
          </a:p>
        </p:txBody>
      </p:sp>
      <p:sp>
        <p:nvSpPr>
          <p:cNvPr id="26" name="text.25.20"/>
          <p:cNvSpPr txBox="1"/>
          <p:nvPr/>
        </p:nvSpPr>
        <p:spPr>
          <a:xfrm>
            <a:off x="10496550" y="3028950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72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3 页</a:t>
            </a:r>
            <a:endParaRPr lang="zh-CN"/>
          </a:p>
        </p:txBody>
      </p:sp>
      <p:sp>
        <p:nvSpPr>
          <p:cNvPr id="27" name="text.26.21"/>
          <p:cNvSpPr txBox="1"/>
          <p:nvPr/>
        </p:nvSpPr>
        <p:spPr>
          <a:xfrm>
            <a:off x="7124700" y="34385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折叠与推进</a:t>
            </a:r>
            <a:endParaRPr lang="zh-CN"/>
          </a:p>
        </p:txBody>
      </p:sp>
      <p:sp>
        <p:nvSpPr>
          <p:cNvPr id="28" name="text.27.22"/>
          <p:cNvSpPr txBox="1"/>
          <p:nvPr/>
        </p:nvSpPr>
        <p:spPr>
          <a:xfrm>
            <a:off x="10496550" y="3438525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72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4 页</a:t>
            </a:r>
            <a:endParaRPr lang="zh-CN"/>
          </a:p>
        </p:txBody>
      </p:sp>
      <p:sp>
        <p:nvSpPr>
          <p:cNvPr id="29" name="text.28.23"/>
          <p:cNvSpPr txBox="1"/>
          <p:nvPr/>
        </p:nvSpPr>
        <p:spPr>
          <a:xfrm>
            <a:off x="7124700" y="38481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透视与空间</a:t>
            </a:r>
            <a:endParaRPr lang="zh-CN"/>
          </a:p>
        </p:txBody>
      </p:sp>
      <p:sp>
        <p:nvSpPr>
          <p:cNvPr id="30" name="text.29.24"/>
          <p:cNvSpPr txBox="1"/>
          <p:nvPr/>
        </p:nvSpPr>
        <p:spPr>
          <a:xfrm>
            <a:off x="10496550" y="3848100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72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5 页</a:t>
            </a:r>
            <a:endParaRPr lang="zh-CN"/>
          </a:p>
        </p:txBody>
      </p:sp>
      <p:sp>
        <p:nvSpPr>
          <p:cNvPr id="31" name="text.30.25"/>
          <p:cNvSpPr txBox="1"/>
          <p:nvPr/>
        </p:nvSpPr>
        <p:spPr>
          <a:xfrm>
            <a:off x="7124700" y="425767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聚焦与支撑</a:t>
            </a:r>
            <a:endParaRPr lang="zh-CN"/>
          </a:p>
        </p:txBody>
      </p:sp>
      <p:sp>
        <p:nvSpPr>
          <p:cNvPr id="32" name="text.31.26"/>
          <p:cNvSpPr txBox="1"/>
          <p:nvPr/>
        </p:nvSpPr>
        <p:spPr>
          <a:xfrm>
            <a:off x="10496550" y="4257675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72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6 页</a:t>
            </a:r>
            <a:endParaRPr lang="zh-CN"/>
          </a:p>
        </p:txBody>
      </p:sp>
      <p:sp>
        <p:nvSpPr>
          <p:cNvPr id="33" name="text.32.27"/>
          <p:cNvSpPr txBox="1"/>
          <p:nvPr/>
        </p:nvSpPr>
        <p:spPr>
          <a:xfrm>
            <a:off x="7124700" y="46672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物件与权衡</a:t>
            </a:r>
            <a:endParaRPr lang="zh-CN"/>
          </a:p>
        </p:txBody>
      </p:sp>
      <p:sp>
        <p:nvSpPr>
          <p:cNvPr id="34" name="text.33.28"/>
          <p:cNvSpPr txBox="1"/>
          <p:nvPr/>
        </p:nvSpPr>
        <p:spPr>
          <a:xfrm>
            <a:off x="10496550" y="4667250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72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7 页</a:t>
            </a:r>
            <a:endParaRPr lang="zh-CN"/>
          </a:p>
        </p:txBody>
      </p:sp>
      <p:sp>
        <p:nvSpPr>
          <p:cNvPr id="35" name="text.34.29"/>
          <p:cNvSpPr txBox="1"/>
          <p:nvPr/>
        </p:nvSpPr>
        <p:spPr>
          <a:xfrm>
            <a:off x="7124700" y="50768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旋转与拼接</a:t>
            </a:r>
            <a:endParaRPr lang="zh-CN"/>
          </a:p>
        </p:txBody>
      </p:sp>
      <p:sp>
        <p:nvSpPr>
          <p:cNvPr id="36" name="text.35.30"/>
          <p:cNvSpPr txBox="1"/>
          <p:nvPr/>
        </p:nvSpPr>
        <p:spPr>
          <a:xfrm>
            <a:off x="10496550" y="5076825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72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8 页</a:t>
            </a:r>
            <a:endParaRPr lang="zh-CN"/>
          </a:p>
        </p:txBody>
      </p:sp>
      <p:sp>
        <p:nvSpPr>
          <p:cNvPr id="37" name="text.36.31"/>
          <p:cNvSpPr txBox="1"/>
          <p:nvPr/>
        </p:nvSpPr>
        <p:spPr>
          <a:xfrm>
            <a:off x="7124700" y="54864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页面与取景</a:t>
            </a:r>
            <a:endParaRPr lang="zh-CN"/>
          </a:p>
        </p:txBody>
      </p:sp>
      <p:sp>
        <p:nvSpPr>
          <p:cNvPr id="38" name="text.37.32"/>
          <p:cNvSpPr txBox="1"/>
          <p:nvPr/>
        </p:nvSpPr>
        <p:spPr>
          <a:xfrm>
            <a:off x="10496550" y="5486400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72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9 页</a:t>
            </a:r>
            <a:endParaRPr lang="zh-CN"/>
          </a:p>
        </p:txBody>
      </p:sp>
      <p:sp>
        <p:nvSpPr>
          <p:cNvPr id="39" name="footer.rule.454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40" name="footer.label.455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梯形创意参考</a:t>
            </a:r>
            <a:endParaRPr lang="zh-CN"/>
          </a:p>
        </p:txBody>
      </p:sp>
      <p:sp>
        <p:nvSpPr>
          <p:cNvPr id="41" name="footer.page.456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 / 13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33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34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2.1</a:t>
            </a:r>
            <a:endParaRPr lang="zh-CN"/>
          </a:p>
        </p:txBody>
      </p:sp>
      <p:sp>
        <p:nvSpPr>
          <p:cNvPr id="4" name="header.gradient.35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36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层级与收束</a:t>
            </a:r>
            <a:endParaRPr lang="zh-CN"/>
          </a:p>
        </p:txBody>
      </p:sp>
      <p:sp>
        <p:nvSpPr>
          <p:cNvPr id="6" name="header.library.37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梯形创意图鉴</a:t>
            </a:r>
            <a:endParaRPr lang="zh-CN"/>
          </a:p>
        </p:txBody>
      </p:sp>
      <p:sp>
        <p:nvSpPr>
          <p:cNvPr id="7" name="info.lead.38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39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40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41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金字塔强调支撑；漏斗强调筛选；复制网络展开节点；沙漏先收敛再展开。</a:t>
            </a:r>
            <a:endParaRPr lang="zh-CN"/>
          </a:p>
        </p:txBody>
      </p:sp>
      <p:sp>
        <p:nvSpPr>
          <p:cNvPr id="11" name="comparison.case-frame.1"/>
          <p:cNvSpPr/>
          <p:nvPr/>
        </p:nvSpPr>
        <p:spPr>
          <a:xfrm>
            <a:off x="45720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2" name="text.11.42"/>
          <p:cNvSpPr txBox="1"/>
          <p:nvPr/>
        </p:nvSpPr>
        <p:spPr>
          <a:xfrm>
            <a:off x="55245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01</a:t>
            </a:r>
            <a:endParaRPr lang="zh-CN"/>
          </a:p>
        </p:txBody>
      </p:sp>
      <p:sp>
        <p:nvSpPr>
          <p:cNvPr id="13" name="text.12.43"/>
          <p:cNvSpPr txBox="1"/>
          <p:nvPr/>
        </p:nvSpPr>
        <p:spPr>
          <a:xfrm>
            <a:off x="89535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截顶金字塔</a:t>
            </a:r>
            <a:endParaRPr lang="zh-CN"/>
          </a:p>
        </p:txBody>
      </p:sp>
      <p:sp>
        <p:nvSpPr>
          <p:cNvPr id="14" name="text.13.44"/>
          <p:cNvSpPr txBox="1"/>
          <p:nvPr/>
        </p:nvSpPr>
        <p:spPr>
          <a:xfrm>
            <a:off x="531495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1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S14</a:t>
            </a:r>
            <a:endParaRPr lang="zh-CN"/>
          </a:p>
        </p:txBody>
      </p:sp>
      <p:sp>
        <p:nvSpPr>
          <p:cNvPr id="15" name="case.pyramid.tier.1"/>
          <p:cNvSpPr/>
          <p:nvPr/>
        </p:nvSpPr>
        <p:spPr>
          <a:xfrm>
            <a:off x="2447925" y="2266950"/>
            <a:ext cx="1524000" cy="30347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60000" h="37000">
                <a:moveTo>
                  <a:pt x="30000" y="0"/>
                </a:moveTo>
                <a:lnTo>
                  <a:pt x="130000" y="0"/>
                </a:lnTo>
                <a:lnTo>
                  <a:pt x="160000" y="37000"/>
                </a:lnTo>
                <a:lnTo>
                  <a:pt x="0" y="37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6" name="case.pyramid.label.2.45"/>
          <p:cNvSpPr txBox="1"/>
          <p:nvPr/>
        </p:nvSpPr>
        <p:spPr>
          <a:xfrm>
            <a:off x="2447925" y="2271713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战略目标</a:t>
            </a:r>
            <a:endParaRPr lang="zh-CN"/>
          </a:p>
        </p:txBody>
      </p:sp>
      <p:sp>
        <p:nvSpPr>
          <p:cNvPr id="17" name="case.pyramid.tier.3"/>
          <p:cNvSpPr/>
          <p:nvPr/>
        </p:nvSpPr>
        <p:spPr>
          <a:xfrm>
            <a:off x="2114550" y="2627842"/>
            <a:ext cx="2190750" cy="30347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30000" h="37000">
                <a:moveTo>
                  <a:pt x="30000" y="0"/>
                </a:moveTo>
                <a:lnTo>
                  <a:pt x="200000" y="0"/>
                </a:lnTo>
                <a:lnTo>
                  <a:pt x="230000" y="37000"/>
                </a:lnTo>
                <a:lnTo>
                  <a:pt x="0" y="3700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18" name="case.pyramid.label.4.46"/>
          <p:cNvSpPr txBox="1"/>
          <p:nvPr/>
        </p:nvSpPr>
        <p:spPr>
          <a:xfrm>
            <a:off x="2114550" y="2632604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关键能力</a:t>
            </a:r>
            <a:endParaRPr lang="zh-CN"/>
          </a:p>
        </p:txBody>
      </p:sp>
      <p:sp>
        <p:nvSpPr>
          <p:cNvPr id="19" name="case.pyramid.tier.5"/>
          <p:cNvSpPr/>
          <p:nvPr/>
        </p:nvSpPr>
        <p:spPr>
          <a:xfrm>
            <a:off x="1781175" y="2988733"/>
            <a:ext cx="2857500" cy="30347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00000" h="37000">
                <a:moveTo>
                  <a:pt x="30000" y="0"/>
                </a:moveTo>
                <a:lnTo>
                  <a:pt x="270000" y="0"/>
                </a:lnTo>
                <a:lnTo>
                  <a:pt x="300000" y="37000"/>
                </a:lnTo>
                <a:lnTo>
                  <a:pt x="0" y="37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20" name="case.pyramid.label.6.47"/>
          <p:cNvSpPr txBox="1"/>
          <p:nvPr/>
        </p:nvSpPr>
        <p:spPr>
          <a:xfrm>
            <a:off x="1781175" y="2993496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业务流程</a:t>
            </a:r>
            <a:endParaRPr lang="zh-CN"/>
          </a:p>
        </p:txBody>
      </p:sp>
      <p:sp>
        <p:nvSpPr>
          <p:cNvPr id="21" name="case.pyramid.tier.7"/>
          <p:cNvSpPr/>
          <p:nvPr/>
        </p:nvSpPr>
        <p:spPr>
          <a:xfrm>
            <a:off x="1447800" y="3349625"/>
            <a:ext cx="3524250" cy="30347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70000" h="37000">
                <a:moveTo>
                  <a:pt x="30000" y="0"/>
                </a:moveTo>
                <a:lnTo>
                  <a:pt x="340000" y="0"/>
                </a:lnTo>
                <a:lnTo>
                  <a:pt x="370000" y="37000"/>
                </a:lnTo>
                <a:lnTo>
                  <a:pt x="0" y="3700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22" name="case.pyramid.label.8.48"/>
          <p:cNvSpPr txBox="1"/>
          <p:nvPr/>
        </p:nvSpPr>
        <p:spPr>
          <a:xfrm>
            <a:off x="1447800" y="3354388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数据基础</a:t>
            </a:r>
            <a:endParaRPr lang="zh-CN"/>
          </a:p>
        </p:txBody>
      </p:sp>
      <p:sp>
        <p:nvSpPr>
          <p:cNvPr id="23" name="text.22.49"/>
          <p:cNvSpPr txBox="1"/>
          <p:nvPr/>
        </p:nvSpPr>
        <p:spPr>
          <a:xfrm>
            <a:off x="60007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支撑关系：下层基础承托上层目标</a:t>
            </a:r>
            <a:endParaRPr lang="zh-CN"/>
          </a:p>
        </p:txBody>
      </p:sp>
      <p:sp>
        <p:nvSpPr>
          <p:cNvPr id="24" name="comparison.case-frame.2"/>
          <p:cNvSpPr/>
          <p:nvPr/>
        </p:nvSpPr>
        <p:spPr>
          <a:xfrm>
            <a:off x="622935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25" name="text.24.50"/>
          <p:cNvSpPr txBox="1"/>
          <p:nvPr/>
        </p:nvSpPr>
        <p:spPr>
          <a:xfrm>
            <a:off x="632460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02</a:t>
            </a:r>
            <a:endParaRPr lang="zh-CN"/>
          </a:p>
        </p:txBody>
      </p:sp>
      <p:sp>
        <p:nvSpPr>
          <p:cNvPr id="26" name="text.25.51"/>
          <p:cNvSpPr txBox="1"/>
          <p:nvPr/>
        </p:nvSpPr>
        <p:spPr>
          <a:xfrm>
            <a:off x="666750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逐级筛选漏斗</a:t>
            </a:r>
            <a:endParaRPr lang="zh-CN"/>
          </a:p>
        </p:txBody>
      </p:sp>
      <p:sp>
        <p:nvSpPr>
          <p:cNvPr id="27" name="text.26.52"/>
          <p:cNvSpPr txBox="1"/>
          <p:nvPr/>
        </p:nvSpPr>
        <p:spPr>
          <a:xfrm>
            <a:off x="1108710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2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S14</a:t>
            </a:r>
            <a:endParaRPr lang="zh-CN"/>
          </a:p>
        </p:txBody>
      </p:sp>
      <p:sp>
        <p:nvSpPr>
          <p:cNvPr id="28" name="case.funnel.stage.1"/>
          <p:cNvSpPr/>
          <p:nvPr/>
        </p:nvSpPr>
        <p:spPr>
          <a:xfrm>
            <a:off x="7077075" y="2266950"/>
            <a:ext cx="3810000" cy="30347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00000" h="37000">
                <a:moveTo>
                  <a:pt x="0" y="0"/>
                </a:moveTo>
                <a:lnTo>
                  <a:pt x="400000" y="0"/>
                </a:lnTo>
                <a:lnTo>
                  <a:pt x="371500" y="37000"/>
                </a:lnTo>
                <a:lnTo>
                  <a:pt x="28500" y="37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9" name="case.funnel.label.2.53"/>
          <p:cNvSpPr txBox="1"/>
          <p:nvPr/>
        </p:nvSpPr>
        <p:spPr>
          <a:xfrm>
            <a:off x="7077075" y="2271713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线索进入</a:t>
            </a:r>
            <a:endParaRPr lang="zh-CN"/>
          </a:p>
        </p:txBody>
      </p:sp>
      <p:sp>
        <p:nvSpPr>
          <p:cNvPr id="30" name="case.funnel.stage.3"/>
          <p:cNvSpPr/>
          <p:nvPr/>
        </p:nvSpPr>
        <p:spPr>
          <a:xfrm>
            <a:off x="7419975" y="2627842"/>
            <a:ext cx="3124200" cy="30347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28000" h="37000">
                <a:moveTo>
                  <a:pt x="0" y="0"/>
                </a:moveTo>
                <a:lnTo>
                  <a:pt x="328000" y="0"/>
                </a:lnTo>
                <a:lnTo>
                  <a:pt x="299500" y="37000"/>
                </a:lnTo>
                <a:lnTo>
                  <a:pt x="28500" y="3700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31" name="case.funnel.label.4.54"/>
          <p:cNvSpPr txBox="1"/>
          <p:nvPr/>
        </p:nvSpPr>
        <p:spPr>
          <a:xfrm>
            <a:off x="7419975" y="2632604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资格判断</a:t>
            </a:r>
            <a:endParaRPr lang="zh-CN"/>
          </a:p>
        </p:txBody>
      </p:sp>
      <p:sp>
        <p:nvSpPr>
          <p:cNvPr id="32" name="case.funnel.stage.5"/>
          <p:cNvSpPr/>
          <p:nvPr/>
        </p:nvSpPr>
        <p:spPr>
          <a:xfrm>
            <a:off x="7762875" y="2988733"/>
            <a:ext cx="2438400" cy="30347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56000" h="37000">
                <a:moveTo>
                  <a:pt x="0" y="0"/>
                </a:moveTo>
                <a:lnTo>
                  <a:pt x="256000" y="0"/>
                </a:lnTo>
                <a:lnTo>
                  <a:pt x="227500" y="37000"/>
                </a:lnTo>
                <a:lnTo>
                  <a:pt x="28500" y="37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33" name="case.funnel.label.6.55"/>
          <p:cNvSpPr txBox="1"/>
          <p:nvPr/>
        </p:nvSpPr>
        <p:spPr>
          <a:xfrm>
            <a:off x="7762875" y="2993496"/>
            <a:ext cx="243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方案沟通</a:t>
            </a:r>
            <a:endParaRPr lang="zh-CN"/>
          </a:p>
        </p:txBody>
      </p:sp>
      <p:sp>
        <p:nvSpPr>
          <p:cNvPr id="34" name="case.funnel.stage.7"/>
          <p:cNvSpPr/>
          <p:nvPr/>
        </p:nvSpPr>
        <p:spPr>
          <a:xfrm>
            <a:off x="8105775" y="3349625"/>
            <a:ext cx="1752600" cy="30347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84000" h="37000">
                <a:moveTo>
                  <a:pt x="0" y="0"/>
                </a:moveTo>
                <a:lnTo>
                  <a:pt x="184000" y="0"/>
                </a:lnTo>
                <a:lnTo>
                  <a:pt x="155500" y="37000"/>
                </a:lnTo>
                <a:lnTo>
                  <a:pt x="28500" y="3700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35" name="case.funnel.label.8.56"/>
          <p:cNvSpPr txBox="1"/>
          <p:nvPr/>
        </p:nvSpPr>
        <p:spPr>
          <a:xfrm>
            <a:off x="8105775" y="3354388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形成合作</a:t>
            </a:r>
            <a:endParaRPr lang="zh-CN"/>
          </a:p>
        </p:txBody>
      </p:sp>
      <p:sp>
        <p:nvSpPr>
          <p:cNvPr id="36" name="text.35.57"/>
          <p:cNvSpPr txBox="1"/>
          <p:nvPr/>
        </p:nvSpPr>
        <p:spPr>
          <a:xfrm>
            <a:off x="637222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筛选关系：同一对象沿阶段逐级减少</a:t>
            </a:r>
            <a:endParaRPr lang="zh-CN"/>
          </a:p>
        </p:txBody>
      </p:sp>
      <p:sp>
        <p:nvSpPr>
          <p:cNvPr id="37" name="comparison.case-frame.3"/>
          <p:cNvSpPr/>
          <p:nvPr/>
        </p:nvSpPr>
        <p:spPr>
          <a:xfrm>
            <a:off x="45720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38" name="text.37.58"/>
          <p:cNvSpPr txBox="1"/>
          <p:nvPr/>
        </p:nvSpPr>
        <p:spPr>
          <a:xfrm>
            <a:off x="55245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03</a:t>
            </a:r>
            <a:endParaRPr lang="zh-CN"/>
          </a:p>
        </p:txBody>
      </p:sp>
      <p:sp>
        <p:nvSpPr>
          <p:cNvPr id="39" name="text.38.59"/>
          <p:cNvSpPr txBox="1"/>
          <p:nvPr/>
        </p:nvSpPr>
        <p:spPr>
          <a:xfrm>
            <a:off x="89535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试点复制网络</a:t>
            </a:r>
            <a:endParaRPr lang="zh-CN"/>
          </a:p>
        </p:txBody>
      </p:sp>
      <p:sp>
        <p:nvSpPr>
          <p:cNvPr id="40" name="text.39.60"/>
          <p:cNvSpPr txBox="1"/>
          <p:nvPr/>
        </p:nvSpPr>
        <p:spPr>
          <a:xfrm>
            <a:off x="531495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原创</a:t>
            </a:r>
            <a:endParaRPr lang="zh-CN"/>
          </a:p>
        </p:txBody>
      </p:sp>
      <p:sp>
        <p:nvSpPr>
          <p:cNvPr id="41" name="case.expansion.replica.1"/>
          <p:cNvSpPr/>
          <p:nvPr/>
        </p:nvSpPr>
        <p:spPr>
          <a:xfrm>
            <a:off x="2676525" y="4705350"/>
            <a:ext cx="1066800" cy="328083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12000" h="40000">
                <a:moveTo>
                  <a:pt x="11200" y="0"/>
                </a:moveTo>
                <a:lnTo>
                  <a:pt x="100800" y="0"/>
                </a:lnTo>
                <a:lnTo>
                  <a:pt x="112000" y="40000"/>
                </a:lnTo>
                <a:lnTo>
                  <a:pt x="0" y="40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2" name="case.expansion.label.2.61"/>
          <p:cNvSpPr txBox="1"/>
          <p:nvPr/>
        </p:nvSpPr>
        <p:spPr>
          <a:xfrm>
            <a:off x="2676525" y="4726517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试点</a:t>
            </a:r>
            <a:endParaRPr lang="zh-CN"/>
          </a:p>
        </p:txBody>
      </p:sp>
      <p:sp>
        <p:nvSpPr>
          <p:cNvPr id="43" name="case.expansion.replica.3"/>
          <p:cNvSpPr/>
          <p:nvPr/>
        </p:nvSpPr>
        <p:spPr>
          <a:xfrm>
            <a:off x="1704975" y="5246688"/>
            <a:ext cx="1066800" cy="328083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12000" h="40000">
                <a:moveTo>
                  <a:pt x="11200" y="0"/>
                </a:moveTo>
                <a:lnTo>
                  <a:pt x="100800" y="0"/>
                </a:lnTo>
                <a:lnTo>
                  <a:pt x="112000" y="40000"/>
                </a:lnTo>
                <a:lnTo>
                  <a:pt x="0" y="4000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44" name="case.expansion.label.4.62"/>
          <p:cNvSpPr txBox="1"/>
          <p:nvPr/>
        </p:nvSpPr>
        <p:spPr>
          <a:xfrm>
            <a:off x="1704975" y="5267854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区域甲</a:t>
            </a:r>
            <a:endParaRPr lang="zh-CN"/>
          </a:p>
        </p:txBody>
      </p:sp>
      <p:sp>
        <p:nvSpPr>
          <p:cNvPr id="45" name="case.expansion.replica.5"/>
          <p:cNvSpPr/>
          <p:nvPr/>
        </p:nvSpPr>
        <p:spPr>
          <a:xfrm>
            <a:off x="3648075" y="5246688"/>
            <a:ext cx="1066800" cy="328083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12000" h="40000">
                <a:moveTo>
                  <a:pt x="11200" y="0"/>
                </a:moveTo>
                <a:lnTo>
                  <a:pt x="100800" y="0"/>
                </a:lnTo>
                <a:lnTo>
                  <a:pt x="112000" y="40000"/>
                </a:lnTo>
                <a:lnTo>
                  <a:pt x="0" y="4000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46" name="case.expansion.label.6.63"/>
          <p:cNvSpPr txBox="1"/>
          <p:nvPr/>
        </p:nvSpPr>
        <p:spPr>
          <a:xfrm>
            <a:off x="3648075" y="5267854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区域乙</a:t>
            </a:r>
            <a:endParaRPr lang="zh-CN"/>
          </a:p>
        </p:txBody>
      </p:sp>
      <p:sp>
        <p:nvSpPr>
          <p:cNvPr id="47" name="case.expansion.replica.7"/>
          <p:cNvSpPr/>
          <p:nvPr/>
        </p:nvSpPr>
        <p:spPr>
          <a:xfrm>
            <a:off x="952500" y="5820833"/>
            <a:ext cx="1066800" cy="328083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12000" h="40000">
                <a:moveTo>
                  <a:pt x="11200" y="0"/>
                </a:moveTo>
                <a:lnTo>
                  <a:pt x="100800" y="0"/>
                </a:lnTo>
                <a:lnTo>
                  <a:pt x="112000" y="40000"/>
                </a:lnTo>
                <a:lnTo>
                  <a:pt x="0" y="4000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48" name="case.expansion.label.8.64"/>
          <p:cNvSpPr txBox="1"/>
          <p:nvPr/>
        </p:nvSpPr>
        <p:spPr>
          <a:xfrm>
            <a:off x="952500" y="58420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站点甲</a:t>
            </a:r>
            <a:endParaRPr lang="zh-CN"/>
          </a:p>
        </p:txBody>
      </p:sp>
      <p:sp>
        <p:nvSpPr>
          <p:cNvPr id="49" name="case.expansion.replica.9"/>
          <p:cNvSpPr/>
          <p:nvPr/>
        </p:nvSpPr>
        <p:spPr>
          <a:xfrm>
            <a:off x="2676525" y="5820833"/>
            <a:ext cx="1066800" cy="328083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12000" h="40000">
                <a:moveTo>
                  <a:pt x="11200" y="0"/>
                </a:moveTo>
                <a:lnTo>
                  <a:pt x="100800" y="0"/>
                </a:lnTo>
                <a:lnTo>
                  <a:pt x="112000" y="40000"/>
                </a:lnTo>
                <a:lnTo>
                  <a:pt x="0" y="4000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50" name="case.expansion.label.10.65"/>
          <p:cNvSpPr txBox="1"/>
          <p:nvPr/>
        </p:nvSpPr>
        <p:spPr>
          <a:xfrm>
            <a:off x="2676525" y="58420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站点乙</a:t>
            </a:r>
            <a:endParaRPr lang="zh-CN"/>
          </a:p>
        </p:txBody>
      </p:sp>
      <p:sp>
        <p:nvSpPr>
          <p:cNvPr id="51" name="case.expansion.replica.11"/>
          <p:cNvSpPr/>
          <p:nvPr/>
        </p:nvSpPr>
        <p:spPr>
          <a:xfrm>
            <a:off x="4400550" y="5820833"/>
            <a:ext cx="1066800" cy="328083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12000" h="40000">
                <a:moveTo>
                  <a:pt x="11200" y="0"/>
                </a:moveTo>
                <a:lnTo>
                  <a:pt x="100800" y="0"/>
                </a:lnTo>
                <a:lnTo>
                  <a:pt x="112000" y="40000"/>
                </a:lnTo>
                <a:lnTo>
                  <a:pt x="0" y="4000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52" name="case.expansion.label.12.66"/>
          <p:cNvSpPr txBox="1"/>
          <p:nvPr/>
        </p:nvSpPr>
        <p:spPr>
          <a:xfrm>
            <a:off x="4400550" y="58420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站点丙</a:t>
            </a:r>
            <a:endParaRPr lang="zh-CN"/>
          </a:p>
        </p:txBody>
      </p:sp>
      <p:cxnSp>
        <p:nvCxnSpPr>
          <p:cNvPr id="53" name="case.expansion.copyLink.13"/>
          <p:cNvCxnSpPr>
            <a:stCxn id="41" idx="2"/>
            <a:endCxn id="43" idx="0"/>
          </p:cNvCxnSpPr>
          <p:nvPr/>
        </p:nvCxnSpPr>
        <p:spPr>
          <a:xfrm flipH="1">
            <a:off x="2238375" y="5033433"/>
            <a:ext cx="971550" cy="213254"/>
          </a:xfrm>
          <a:prstGeom prst="line">
            <a:avLst/>
          </a:prstGeom>
          <a:ln w="13944">
            <a:solidFill>
              <a:srgbClr val="0759BE"/>
            </a:solidFill>
            <a:prstDash val="solid"/>
          </a:ln>
        </p:spPr>
      </p:cxnSp>
      <p:cxnSp>
        <p:nvCxnSpPr>
          <p:cNvPr id="54" name="case.expansion.copyLink.14"/>
          <p:cNvCxnSpPr>
            <a:stCxn id="41" idx="2"/>
            <a:endCxn id="45" idx="0"/>
          </p:cNvCxnSpPr>
          <p:nvPr/>
        </p:nvCxnSpPr>
        <p:spPr>
          <a:xfrm>
            <a:off x="3209925" y="5033433"/>
            <a:ext cx="971550" cy="213254"/>
          </a:xfrm>
          <a:prstGeom prst="line">
            <a:avLst/>
          </a:prstGeom>
          <a:ln w="13944">
            <a:solidFill>
              <a:srgbClr val="0759BE"/>
            </a:solidFill>
            <a:prstDash val="solid"/>
          </a:ln>
        </p:spPr>
      </p:cxnSp>
      <p:cxnSp>
        <p:nvCxnSpPr>
          <p:cNvPr id="55" name="case.expansion.copyLink.15"/>
          <p:cNvCxnSpPr>
            <a:stCxn id="43" idx="2"/>
            <a:endCxn id="47" idx="0"/>
          </p:cNvCxnSpPr>
          <p:nvPr/>
        </p:nvCxnSpPr>
        <p:spPr>
          <a:xfrm flipH="1">
            <a:off x="1485900" y="5574771"/>
            <a:ext cx="752475" cy="246062"/>
          </a:xfrm>
          <a:prstGeom prst="line">
            <a:avLst/>
          </a:prstGeom>
          <a:ln w="13944">
            <a:solidFill>
              <a:srgbClr val="0759BE"/>
            </a:solidFill>
            <a:prstDash val="solid"/>
          </a:ln>
        </p:spPr>
      </p:cxnSp>
      <p:cxnSp>
        <p:nvCxnSpPr>
          <p:cNvPr id="56" name="case.expansion.copyLink.16"/>
          <p:cNvCxnSpPr>
            <a:stCxn id="43" idx="2"/>
            <a:endCxn id="49" idx="0"/>
          </p:cNvCxnSpPr>
          <p:nvPr/>
        </p:nvCxnSpPr>
        <p:spPr>
          <a:xfrm>
            <a:off x="2238375" y="5574771"/>
            <a:ext cx="971550" cy="246062"/>
          </a:xfrm>
          <a:prstGeom prst="line">
            <a:avLst/>
          </a:prstGeom>
          <a:ln w="13944">
            <a:solidFill>
              <a:srgbClr val="0759BE"/>
            </a:solidFill>
            <a:prstDash val="solid"/>
          </a:ln>
        </p:spPr>
      </p:cxnSp>
      <p:cxnSp>
        <p:nvCxnSpPr>
          <p:cNvPr id="57" name="case.expansion.copyLink.17"/>
          <p:cNvCxnSpPr>
            <a:stCxn id="45" idx="2"/>
            <a:endCxn id="51" idx="0"/>
          </p:cNvCxnSpPr>
          <p:nvPr/>
        </p:nvCxnSpPr>
        <p:spPr>
          <a:xfrm>
            <a:off x="4181475" y="5574771"/>
            <a:ext cx="752475" cy="246062"/>
          </a:xfrm>
          <a:prstGeom prst="line">
            <a:avLst/>
          </a:prstGeom>
          <a:ln w="13944">
            <a:solidFill>
              <a:srgbClr val="0759BE"/>
            </a:solidFill>
            <a:prstDash val="solid"/>
          </a:ln>
        </p:spPr>
      </p:cxnSp>
      <p:sp>
        <p:nvSpPr>
          <p:cNvPr id="58" name="text.57.67"/>
          <p:cNvSpPr txBox="1"/>
          <p:nvPr/>
        </p:nvSpPr>
        <p:spPr>
          <a:xfrm>
            <a:off x="60007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复制关系：一个试点扩展为多个站点</a:t>
            </a:r>
            <a:endParaRPr lang="zh-CN"/>
          </a:p>
        </p:txBody>
      </p:sp>
      <p:sp>
        <p:nvSpPr>
          <p:cNvPr id="59" name="comparison.case-frame.4"/>
          <p:cNvSpPr/>
          <p:nvPr/>
        </p:nvSpPr>
        <p:spPr>
          <a:xfrm>
            <a:off x="622935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60" name="text.59.68"/>
          <p:cNvSpPr txBox="1"/>
          <p:nvPr/>
        </p:nvSpPr>
        <p:spPr>
          <a:xfrm>
            <a:off x="632460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04</a:t>
            </a:r>
            <a:endParaRPr lang="zh-CN"/>
          </a:p>
        </p:txBody>
      </p:sp>
      <p:sp>
        <p:nvSpPr>
          <p:cNvPr id="61" name="text.60.69"/>
          <p:cNvSpPr txBox="1"/>
          <p:nvPr/>
        </p:nvSpPr>
        <p:spPr>
          <a:xfrm>
            <a:off x="666750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收敛与展开的沙漏</a:t>
            </a:r>
            <a:endParaRPr lang="zh-CN"/>
          </a:p>
        </p:txBody>
      </p:sp>
      <p:sp>
        <p:nvSpPr>
          <p:cNvPr id="62" name="text.61.70"/>
          <p:cNvSpPr txBox="1"/>
          <p:nvPr/>
        </p:nvSpPr>
        <p:spPr>
          <a:xfrm>
            <a:off x="1108710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3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S14</a:t>
            </a:r>
            <a:endParaRPr lang="zh-CN"/>
          </a:p>
        </p:txBody>
      </p:sp>
      <p:sp>
        <p:nvSpPr>
          <p:cNvPr id="63" name="case.hourglass.upper.1"/>
          <p:cNvSpPr/>
          <p:nvPr/>
        </p:nvSpPr>
        <p:spPr>
          <a:xfrm>
            <a:off x="7305675" y="4705350"/>
            <a:ext cx="3352800" cy="615156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52000" h="75000">
                <a:moveTo>
                  <a:pt x="0" y="0"/>
                </a:moveTo>
                <a:lnTo>
                  <a:pt x="352000" y="0"/>
                </a:lnTo>
                <a:lnTo>
                  <a:pt x="223520" y="75000"/>
                </a:lnTo>
                <a:lnTo>
                  <a:pt x="128480" y="75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64" name="case.hourglass.lower.2"/>
          <p:cNvSpPr/>
          <p:nvPr/>
        </p:nvSpPr>
        <p:spPr>
          <a:xfrm>
            <a:off x="7305675" y="5517356"/>
            <a:ext cx="3352800" cy="615156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52000" h="75000">
                <a:moveTo>
                  <a:pt x="128480" y="0"/>
                </a:moveTo>
                <a:lnTo>
                  <a:pt x="223520" y="0"/>
                </a:lnTo>
                <a:lnTo>
                  <a:pt x="352000" y="75000"/>
                </a:lnTo>
                <a:lnTo>
                  <a:pt x="0" y="75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65" name="case.hourglass.label.3.71"/>
          <p:cNvSpPr txBox="1"/>
          <p:nvPr/>
        </p:nvSpPr>
        <p:spPr>
          <a:xfrm>
            <a:off x="7315200" y="4725855"/>
            <a:ext cx="333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广泛收集</a:t>
            </a:r>
            <a:endParaRPr lang="zh-CN"/>
          </a:p>
        </p:txBody>
      </p:sp>
      <p:sp>
        <p:nvSpPr>
          <p:cNvPr id="66" name="case.hourglass.label.4.72"/>
          <p:cNvSpPr txBox="1"/>
          <p:nvPr/>
        </p:nvSpPr>
        <p:spPr>
          <a:xfrm>
            <a:off x="8448675" y="5031978"/>
            <a:ext cx="1066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筛选</a:t>
            </a:r>
            <a:endParaRPr lang="zh-CN"/>
          </a:p>
        </p:txBody>
      </p:sp>
      <p:sp>
        <p:nvSpPr>
          <p:cNvPr id="67" name="case.hourglass.interface.5"/>
          <p:cNvSpPr/>
          <p:nvPr/>
        </p:nvSpPr>
        <p:spPr>
          <a:xfrm>
            <a:off x="8334375" y="5295900"/>
            <a:ext cx="1295400" cy="246063"/>
          </a:xfrm>
          <a:prstGeom prst="rect">
            <a:avLst/>
          </a:prstGeom>
          <a:solidFill>
            <a:srgbClr val="FFFFFF"/>
          </a:solidFill>
          <a:ln w="10663">
            <a:solidFill>
              <a:srgbClr val="0759BE"/>
            </a:solidFill>
            <a:prstDash val="solid"/>
          </a:ln>
        </p:spPr>
      </p:sp>
      <p:sp>
        <p:nvSpPr>
          <p:cNvPr id="68" name="case.hourglass.label.6.73"/>
          <p:cNvSpPr txBox="1"/>
          <p:nvPr/>
        </p:nvSpPr>
        <p:spPr>
          <a:xfrm>
            <a:off x="8334375" y="5276056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共同原则</a:t>
            </a:r>
            <a:endParaRPr lang="zh-CN"/>
          </a:p>
        </p:txBody>
      </p:sp>
      <p:sp>
        <p:nvSpPr>
          <p:cNvPr id="69" name="case.hourglass.label.7.74"/>
          <p:cNvSpPr txBox="1"/>
          <p:nvPr/>
        </p:nvSpPr>
        <p:spPr>
          <a:xfrm>
            <a:off x="7410450" y="5773076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多种落地方案</a:t>
            </a:r>
            <a:endParaRPr lang="zh-CN"/>
          </a:p>
        </p:txBody>
      </p:sp>
      <p:sp>
        <p:nvSpPr>
          <p:cNvPr id="70" name="text.69.75"/>
          <p:cNvSpPr txBox="1"/>
          <p:nvPr/>
        </p:nvSpPr>
        <p:spPr>
          <a:xfrm>
            <a:off x="637222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双向结构：共同原则衔接收敛与展开</a:t>
            </a:r>
            <a:endParaRPr lang="zh-CN"/>
          </a:p>
        </p:txBody>
      </p:sp>
      <p:sp>
        <p:nvSpPr>
          <p:cNvPr id="71" name="footer.rule.457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72" name="footer.label.458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梯形创意参考</a:t>
            </a:r>
            <a:endParaRPr lang="zh-CN"/>
          </a:p>
        </p:txBody>
      </p:sp>
      <p:sp>
        <p:nvSpPr>
          <p:cNvPr id="73" name="footer.page.459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 / 13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76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77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2.2</a:t>
            </a:r>
            <a:endParaRPr lang="zh-CN"/>
          </a:p>
        </p:txBody>
      </p:sp>
      <p:sp>
        <p:nvSpPr>
          <p:cNvPr id="4" name="header.gradient.78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79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汇聚与环绕</a:t>
            </a:r>
            <a:endParaRPr lang="zh-CN"/>
          </a:p>
        </p:txBody>
      </p:sp>
      <p:sp>
        <p:nvSpPr>
          <p:cNvPr id="6" name="header.library.80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梯形创意图鉴</a:t>
            </a:r>
            <a:endParaRPr lang="zh-CN"/>
          </a:p>
        </p:txBody>
      </p:sp>
      <p:sp>
        <p:nvSpPr>
          <p:cNvPr id="7" name="info.lead.81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82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83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84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通道组织横向处理；蝶形连接两端；四向汇聚突出成果；六瓣环列出主题构成。</a:t>
            </a:r>
            <a:endParaRPr lang="zh-CN"/>
          </a:p>
        </p:txBody>
      </p:sp>
      <p:sp>
        <p:nvSpPr>
          <p:cNvPr id="11" name="comparison.case-frame.1"/>
          <p:cNvSpPr/>
          <p:nvPr/>
        </p:nvSpPr>
        <p:spPr>
          <a:xfrm>
            <a:off x="45720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2" name="text.11.85"/>
          <p:cNvSpPr txBox="1"/>
          <p:nvPr/>
        </p:nvSpPr>
        <p:spPr>
          <a:xfrm>
            <a:off x="55245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05</a:t>
            </a:r>
            <a:endParaRPr lang="zh-CN"/>
          </a:p>
        </p:txBody>
      </p:sp>
      <p:sp>
        <p:nvSpPr>
          <p:cNvPr id="13" name="text.12.86"/>
          <p:cNvSpPr txBox="1"/>
          <p:nvPr/>
        </p:nvSpPr>
        <p:spPr>
          <a:xfrm>
            <a:off x="89535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横向收束通道</a:t>
            </a:r>
            <a:endParaRPr lang="zh-CN"/>
          </a:p>
        </p:txBody>
      </p:sp>
      <p:sp>
        <p:nvSpPr>
          <p:cNvPr id="14" name="text.13.87"/>
          <p:cNvSpPr txBox="1"/>
          <p:nvPr/>
        </p:nvSpPr>
        <p:spPr>
          <a:xfrm>
            <a:off x="531495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1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S14</a:t>
            </a:r>
            <a:endParaRPr lang="zh-CN"/>
          </a:p>
        </p:txBody>
      </p:sp>
      <p:sp>
        <p:nvSpPr>
          <p:cNvPr id="15" name="case.horizontal.body.1"/>
          <p:cNvSpPr/>
          <p:nvPr/>
        </p:nvSpPr>
        <p:spPr>
          <a:xfrm>
            <a:off x="914400" y="2348971"/>
            <a:ext cx="4133850" cy="129592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34000" h="158000">
                <a:moveTo>
                  <a:pt x="0" y="0"/>
                </a:moveTo>
                <a:lnTo>
                  <a:pt x="434000" y="52000"/>
                </a:lnTo>
                <a:lnTo>
                  <a:pt x="434000" y="106000"/>
                </a:lnTo>
                <a:lnTo>
                  <a:pt x="0" y="15800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16" name="case.horizontal.band.2"/>
          <p:cNvSpPr/>
          <p:nvPr/>
        </p:nvSpPr>
        <p:spPr>
          <a:xfrm>
            <a:off x="2352675" y="2496608"/>
            <a:ext cx="1323975" cy="1000654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39000" h="122000">
                <a:moveTo>
                  <a:pt x="0" y="0"/>
                </a:moveTo>
                <a:lnTo>
                  <a:pt x="139000" y="17000"/>
                </a:lnTo>
                <a:lnTo>
                  <a:pt x="139000" y="105000"/>
                </a:lnTo>
                <a:lnTo>
                  <a:pt x="0" y="122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17" name="case.horizontal.core.3"/>
          <p:cNvSpPr/>
          <p:nvPr/>
        </p:nvSpPr>
        <p:spPr>
          <a:xfrm>
            <a:off x="3676650" y="2636044"/>
            <a:ext cx="1371600" cy="721783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4000" h="88000">
                <a:moveTo>
                  <a:pt x="0" y="0"/>
                </a:moveTo>
                <a:lnTo>
                  <a:pt x="144000" y="17000"/>
                </a:lnTo>
                <a:lnTo>
                  <a:pt x="144000" y="71000"/>
                </a:lnTo>
                <a:lnTo>
                  <a:pt x="0" y="88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8" name="case.horizontal.label.4.88"/>
          <p:cNvSpPr txBox="1"/>
          <p:nvPr/>
        </p:nvSpPr>
        <p:spPr>
          <a:xfrm>
            <a:off x="904875" y="2844535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原始资料</a:t>
            </a:r>
            <a:endParaRPr lang="zh-CN"/>
          </a:p>
        </p:txBody>
      </p:sp>
      <p:sp>
        <p:nvSpPr>
          <p:cNvPr id="19" name="case.horizontal.label.5.89"/>
          <p:cNvSpPr txBox="1"/>
          <p:nvPr/>
        </p:nvSpPr>
        <p:spPr>
          <a:xfrm>
            <a:off x="2286000" y="2844535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问题整理</a:t>
            </a:r>
            <a:endParaRPr lang="zh-CN"/>
          </a:p>
        </p:txBody>
      </p:sp>
      <p:sp>
        <p:nvSpPr>
          <p:cNvPr id="20" name="case.horizontal.label.6.90"/>
          <p:cNvSpPr txBox="1"/>
          <p:nvPr/>
        </p:nvSpPr>
        <p:spPr>
          <a:xfrm>
            <a:off x="3667125" y="2844535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核心判断</a:t>
            </a:r>
            <a:endParaRPr lang="zh-CN"/>
          </a:p>
        </p:txBody>
      </p:sp>
      <p:sp>
        <p:nvSpPr>
          <p:cNvPr id="21" name="case.horizontal.result.7"/>
          <p:cNvSpPr/>
          <p:nvPr/>
        </p:nvSpPr>
        <p:spPr>
          <a:xfrm>
            <a:off x="5210175" y="2865702"/>
            <a:ext cx="495300" cy="262467"/>
          </a:xfrm>
          <a:prstGeom prst="right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2" name="text.21.91"/>
          <p:cNvSpPr txBox="1"/>
          <p:nvPr/>
        </p:nvSpPr>
        <p:spPr>
          <a:xfrm>
            <a:off x="60007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横向处理：由宽入口整理到窄出口</a:t>
            </a:r>
            <a:endParaRPr lang="zh-CN"/>
          </a:p>
        </p:txBody>
      </p:sp>
      <p:sp>
        <p:nvSpPr>
          <p:cNvPr id="23" name="comparison.case-frame.2"/>
          <p:cNvSpPr/>
          <p:nvPr/>
        </p:nvSpPr>
        <p:spPr>
          <a:xfrm>
            <a:off x="622935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24" name="text.23.92"/>
          <p:cNvSpPr txBox="1"/>
          <p:nvPr/>
        </p:nvSpPr>
        <p:spPr>
          <a:xfrm>
            <a:off x="632460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06</a:t>
            </a:r>
            <a:endParaRPr lang="zh-CN"/>
          </a:p>
        </p:txBody>
      </p:sp>
      <p:sp>
        <p:nvSpPr>
          <p:cNvPr id="25" name="text.24.93"/>
          <p:cNvSpPr txBox="1"/>
          <p:nvPr/>
        </p:nvSpPr>
        <p:spPr>
          <a:xfrm>
            <a:off x="666750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共享接口的蝶形</a:t>
            </a:r>
            <a:endParaRPr lang="zh-CN"/>
          </a:p>
        </p:txBody>
      </p:sp>
      <p:sp>
        <p:nvSpPr>
          <p:cNvPr id="26" name="text.25.94"/>
          <p:cNvSpPr txBox="1"/>
          <p:nvPr/>
        </p:nvSpPr>
        <p:spPr>
          <a:xfrm>
            <a:off x="1108710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原创</a:t>
            </a:r>
            <a:endParaRPr lang="zh-CN"/>
          </a:p>
        </p:txBody>
      </p:sp>
      <p:sp>
        <p:nvSpPr>
          <p:cNvPr id="27" name="case.bowtie.left.1"/>
          <p:cNvSpPr/>
          <p:nvPr/>
        </p:nvSpPr>
        <p:spPr>
          <a:xfrm>
            <a:off x="6696075" y="2348971"/>
            <a:ext cx="1895475" cy="129592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99000" h="158000">
                <a:moveTo>
                  <a:pt x="0" y="0"/>
                </a:moveTo>
                <a:lnTo>
                  <a:pt x="199000" y="48000"/>
                </a:lnTo>
                <a:lnTo>
                  <a:pt x="199000" y="110000"/>
                </a:lnTo>
                <a:lnTo>
                  <a:pt x="0" y="158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8" name="case.bowtie.right.2"/>
          <p:cNvSpPr/>
          <p:nvPr/>
        </p:nvSpPr>
        <p:spPr>
          <a:xfrm>
            <a:off x="9372600" y="2348971"/>
            <a:ext cx="1895475" cy="129592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99000" h="158000">
                <a:moveTo>
                  <a:pt x="0" y="48000"/>
                </a:moveTo>
                <a:lnTo>
                  <a:pt x="199000" y="0"/>
                </a:lnTo>
                <a:lnTo>
                  <a:pt x="199000" y="158000"/>
                </a:lnTo>
                <a:lnTo>
                  <a:pt x="0" y="110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29" name="case.bowtie.center.3"/>
          <p:cNvSpPr/>
          <p:nvPr/>
        </p:nvSpPr>
        <p:spPr>
          <a:xfrm>
            <a:off x="8591550" y="2742671"/>
            <a:ext cx="781050" cy="508529"/>
          </a:xfrm>
          <a:prstGeom prst="rect">
            <a:avLst/>
          </a:prstGeom>
          <a:solidFill>
            <a:srgbClr val="FFFFFF"/>
          </a:solidFill>
          <a:ln w="12303">
            <a:solidFill>
              <a:srgbClr val="0759BE"/>
            </a:solidFill>
            <a:prstDash val="solid"/>
          </a:ln>
        </p:spPr>
      </p:sp>
      <p:sp>
        <p:nvSpPr>
          <p:cNvPr id="30" name="case.bowtie.label.4.95"/>
          <p:cNvSpPr txBox="1"/>
          <p:nvPr/>
        </p:nvSpPr>
        <p:spPr>
          <a:xfrm>
            <a:off x="8591550" y="2844535"/>
            <a:ext cx="781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接口</a:t>
            </a:r>
            <a:endParaRPr lang="zh-CN"/>
          </a:p>
        </p:txBody>
      </p:sp>
      <p:sp>
        <p:nvSpPr>
          <p:cNvPr id="31" name="case.bowtie.label.5.96"/>
          <p:cNvSpPr txBox="1"/>
          <p:nvPr/>
        </p:nvSpPr>
        <p:spPr>
          <a:xfrm>
            <a:off x="6810375" y="2834349"/>
            <a:ext cx="1619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供应端</a:t>
            </a:r>
            <a:endParaRPr lang="zh-CN"/>
          </a:p>
        </p:txBody>
      </p:sp>
      <p:sp>
        <p:nvSpPr>
          <p:cNvPr id="32" name="case.bowtie.label.6.97"/>
          <p:cNvSpPr txBox="1"/>
          <p:nvPr/>
        </p:nvSpPr>
        <p:spPr>
          <a:xfrm>
            <a:off x="9525000" y="2834349"/>
            <a:ext cx="1619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使用端</a:t>
            </a:r>
            <a:endParaRPr lang="zh-CN"/>
          </a:p>
        </p:txBody>
      </p:sp>
      <p:sp>
        <p:nvSpPr>
          <p:cNvPr id="33" name="text.32.98"/>
          <p:cNvSpPr txBox="1"/>
          <p:nvPr/>
        </p:nvSpPr>
        <p:spPr>
          <a:xfrm>
            <a:off x="637222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双端协同：不同来源与用途共享接口</a:t>
            </a:r>
            <a:endParaRPr lang="zh-CN"/>
          </a:p>
        </p:txBody>
      </p:sp>
      <p:sp>
        <p:nvSpPr>
          <p:cNvPr id="34" name="comparison.case-frame.3"/>
          <p:cNvSpPr/>
          <p:nvPr/>
        </p:nvSpPr>
        <p:spPr>
          <a:xfrm>
            <a:off x="45720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35" name="text.34.99"/>
          <p:cNvSpPr txBox="1"/>
          <p:nvPr/>
        </p:nvSpPr>
        <p:spPr>
          <a:xfrm>
            <a:off x="55245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07</a:t>
            </a:r>
            <a:endParaRPr lang="zh-CN"/>
          </a:p>
        </p:txBody>
      </p:sp>
      <p:sp>
        <p:nvSpPr>
          <p:cNvPr id="36" name="text.35.100"/>
          <p:cNvSpPr txBox="1"/>
          <p:nvPr/>
        </p:nvSpPr>
        <p:spPr>
          <a:xfrm>
            <a:off x="89535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四向协同汇聚</a:t>
            </a:r>
            <a:endParaRPr lang="zh-CN"/>
          </a:p>
        </p:txBody>
      </p:sp>
      <p:sp>
        <p:nvSpPr>
          <p:cNvPr id="37" name="text.36.101"/>
          <p:cNvSpPr txBox="1"/>
          <p:nvPr/>
        </p:nvSpPr>
        <p:spPr>
          <a:xfrm>
            <a:off x="531495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2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S04</a:t>
            </a:r>
            <a:endParaRPr lang="zh-CN"/>
          </a:p>
        </p:txBody>
      </p:sp>
      <p:sp>
        <p:nvSpPr>
          <p:cNvPr id="38" name="case.converge.north.1"/>
          <p:cNvSpPr/>
          <p:nvPr/>
        </p:nvSpPr>
        <p:spPr>
          <a:xfrm>
            <a:off x="2238375" y="4705350"/>
            <a:ext cx="1943100" cy="45111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04000" h="55000">
                <a:moveTo>
                  <a:pt x="0" y="0"/>
                </a:moveTo>
                <a:lnTo>
                  <a:pt x="204000" y="0"/>
                </a:lnTo>
                <a:lnTo>
                  <a:pt x="151000" y="55000"/>
                </a:lnTo>
                <a:lnTo>
                  <a:pt x="53000" y="55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39" name="case.converge.south.2"/>
          <p:cNvSpPr/>
          <p:nvPr/>
        </p:nvSpPr>
        <p:spPr>
          <a:xfrm>
            <a:off x="2238375" y="5714206"/>
            <a:ext cx="1943100" cy="45111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04000" h="55000">
                <a:moveTo>
                  <a:pt x="53000" y="0"/>
                </a:moveTo>
                <a:lnTo>
                  <a:pt x="151000" y="0"/>
                </a:lnTo>
                <a:lnTo>
                  <a:pt x="204000" y="55000"/>
                </a:lnTo>
                <a:lnTo>
                  <a:pt x="0" y="5500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40" name="case.converge.west.3"/>
          <p:cNvSpPr/>
          <p:nvPr/>
        </p:nvSpPr>
        <p:spPr>
          <a:xfrm>
            <a:off x="923925" y="4951413"/>
            <a:ext cx="1695450" cy="98425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78000" h="120000">
                <a:moveTo>
                  <a:pt x="0" y="0"/>
                </a:moveTo>
                <a:lnTo>
                  <a:pt x="178000" y="29000"/>
                </a:lnTo>
                <a:lnTo>
                  <a:pt x="178000" y="89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1" name="case.converge.east.4"/>
          <p:cNvSpPr/>
          <p:nvPr/>
        </p:nvSpPr>
        <p:spPr>
          <a:xfrm>
            <a:off x="3800475" y="4951413"/>
            <a:ext cx="1695450" cy="98425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78000" h="120000">
                <a:moveTo>
                  <a:pt x="0" y="29000"/>
                </a:moveTo>
                <a:lnTo>
                  <a:pt x="178000" y="0"/>
                </a:lnTo>
                <a:lnTo>
                  <a:pt x="178000" y="120000"/>
                </a:lnTo>
                <a:lnTo>
                  <a:pt x="0" y="8900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42" name="case.converge.hub.5"/>
          <p:cNvSpPr/>
          <p:nvPr/>
        </p:nvSpPr>
        <p:spPr>
          <a:xfrm>
            <a:off x="2705100" y="5238485"/>
            <a:ext cx="1009650" cy="393700"/>
          </a:xfrm>
          <a:prstGeom prst="rect">
            <a:avLst/>
          </a:prstGeom>
          <a:solidFill>
            <a:srgbClr val="FFFFFF"/>
          </a:solidFill>
          <a:ln w="12303">
            <a:solidFill>
              <a:srgbClr val="0759BE"/>
            </a:solidFill>
            <a:prstDash val="solid"/>
          </a:ln>
        </p:spPr>
      </p:sp>
      <p:sp>
        <p:nvSpPr>
          <p:cNvPr id="43" name="case.converge.label.6.102"/>
          <p:cNvSpPr txBox="1"/>
          <p:nvPr/>
        </p:nvSpPr>
        <p:spPr>
          <a:xfrm>
            <a:off x="2705100" y="5273410"/>
            <a:ext cx="1009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联合方案</a:t>
            </a:r>
            <a:endParaRPr lang="zh-CN"/>
          </a:p>
        </p:txBody>
      </p:sp>
      <p:sp>
        <p:nvSpPr>
          <p:cNvPr id="44" name="case.converge.label.7.103"/>
          <p:cNvSpPr txBox="1"/>
          <p:nvPr/>
        </p:nvSpPr>
        <p:spPr>
          <a:xfrm>
            <a:off x="2305050" y="4741598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研究</a:t>
            </a:r>
            <a:endParaRPr lang="zh-CN"/>
          </a:p>
        </p:txBody>
      </p:sp>
      <p:sp>
        <p:nvSpPr>
          <p:cNvPr id="45" name="case.converge.label.8.104"/>
          <p:cNvSpPr txBox="1"/>
          <p:nvPr/>
        </p:nvSpPr>
        <p:spPr>
          <a:xfrm>
            <a:off x="1162050" y="5282935"/>
            <a:ext cx="1285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工程</a:t>
            </a:r>
            <a:endParaRPr lang="zh-CN"/>
          </a:p>
        </p:txBody>
      </p:sp>
      <p:sp>
        <p:nvSpPr>
          <p:cNvPr id="46" name="case.converge.label.9.105"/>
          <p:cNvSpPr txBox="1"/>
          <p:nvPr/>
        </p:nvSpPr>
        <p:spPr>
          <a:xfrm>
            <a:off x="3971925" y="5282935"/>
            <a:ext cx="1285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业务</a:t>
            </a:r>
            <a:endParaRPr lang="zh-CN"/>
          </a:p>
        </p:txBody>
      </p:sp>
      <p:sp>
        <p:nvSpPr>
          <p:cNvPr id="47" name="case.converge.label.10.106"/>
          <p:cNvSpPr txBox="1"/>
          <p:nvPr/>
        </p:nvSpPr>
        <p:spPr>
          <a:xfrm>
            <a:off x="2305050" y="5832475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运营</a:t>
            </a:r>
            <a:endParaRPr lang="zh-CN"/>
          </a:p>
        </p:txBody>
      </p:sp>
      <p:sp>
        <p:nvSpPr>
          <p:cNvPr id="48" name="text.47.107"/>
          <p:cNvSpPr txBox="1"/>
          <p:nvPr/>
        </p:nvSpPr>
        <p:spPr>
          <a:xfrm>
            <a:off x="60007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联合产出：并列工作线向中心汇聚</a:t>
            </a:r>
            <a:endParaRPr lang="zh-CN"/>
          </a:p>
        </p:txBody>
      </p:sp>
      <p:sp>
        <p:nvSpPr>
          <p:cNvPr id="49" name="comparison.case-frame.4"/>
          <p:cNvSpPr/>
          <p:nvPr/>
        </p:nvSpPr>
        <p:spPr>
          <a:xfrm>
            <a:off x="622935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50" name="text.49.108"/>
          <p:cNvSpPr txBox="1"/>
          <p:nvPr/>
        </p:nvSpPr>
        <p:spPr>
          <a:xfrm>
            <a:off x="632460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08</a:t>
            </a:r>
            <a:endParaRPr lang="zh-CN"/>
          </a:p>
        </p:txBody>
      </p:sp>
      <p:sp>
        <p:nvSpPr>
          <p:cNvPr id="51" name="text.50.109"/>
          <p:cNvSpPr txBox="1"/>
          <p:nvPr/>
        </p:nvSpPr>
        <p:spPr>
          <a:xfrm>
            <a:off x="666750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六瓣梯形环</a:t>
            </a:r>
            <a:endParaRPr lang="zh-CN"/>
          </a:p>
        </p:txBody>
      </p:sp>
      <p:sp>
        <p:nvSpPr>
          <p:cNvPr id="52" name="text.51.110"/>
          <p:cNvSpPr txBox="1"/>
          <p:nvPr/>
        </p:nvSpPr>
        <p:spPr>
          <a:xfrm>
            <a:off x="1108710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3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S08</a:t>
            </a:r>
            <a:endParaRPr lang="zh-CN"/>
          </a:p>
        </p:txBody>
      </p:sp>
      <p:sp>
        <p:nvSpPr>
          <p:cNvPr id="53" name="case.radial.petal.1"/>
          <p:cNvSpPr/>
          <p:nvPr/>
        </p:nvSpPr>
        <p:spPr>
          <a:xfrm>
            <a:off x="8170038" y="4793610"/>
            <a:ext cx="1624074" cy="324964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70506" h="39620">
                <a:moveTo>
                  <a:pt x="42627" y="39620"/>
                </a:moveTo>
                <a:lnTo>
                  <a:pt x="127880" y="39620"/>
                </a:lnTo>
                <a:lnTo>
                  <a:pt x="170506" y="0"/>
                </a:lnTo>
                <a:lnTo>
                  <a:pt x="0" y="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4" name="case.radial.label.2.111"/>
          <p:cNvSpPr txBox="1"/>
          <p:nvPr/>
        </p:nvSpPr>
        <p:spPr>
          <a:xfrm>
            <a:off x="8562975" y="4759325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观察</a:t>
            </a:r>
            <a:endParaRPr lang="zh-CN"/>
          </a:p>
        </p:txBody>
      </p:sp>
      <p:sp>
        <p:nvSpPr>
          <p:cNvPr id="55" name="case.radial.petal.3"/>
          <p:cNvSpPr/>
          <p:nvPr/>
        </p:nvSpPr>
        <p:spPr>
          <a:xfrm>
            <a:off x="9506979" y="4846684"/>
            <a:ext cx="1336942" cy="570316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0361" h="69533">
                <a:moveTo>
                  <a:pt x="0" y="36384"/>
                </a:moveTo>
                <a:lnTo>
                  <a:pt x="42627" y="69533"/>
                </a:lnTo>
                <a:lnTo>
                  <a:pt x="140361" y="66298"/>
                </a:lnTo>
                <a:lnTo>
                  <a:pt x="55108" y="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56" name="case.radial.label.4.112"/>
          <p:cNvSpPr txBox="1"/>
          <p:nvPr/>
        </p:nvSpPr>
        <p:spPr>
          <a:xfrm>
            <a:off x="9775562" y="5029994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定义</a:t>
            </a:r>
            <a:endParaRPr lang="zh-CN"/>
          </a:p>
        </p:txBody>
      </p:sp>
      <p:sp>
        <p:nvSpPr>
          <p:cNvPr id="57" name="case.radial.petal.5"/>
          <p:cNvSpPr/>
          <p:nvPr/>
        </p:nvSpPr>
        <p:spPr>
          <a:xfrm>
            <a:off x="9506979" y="5470075"/>
            <a:ext cx="1336942" cy="570316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0361" h="69533">
                <a:moveTo>
                  <a:pt x="42627" y="0"/>
                </a:moveTo>
                <a:lnTo>
                  <a:pt x="0" y="33149"/>
                </a:lnTo>
                <a:lnTo>
                  <a:pt x="55108" y="69533"/>
                </a:lnTo>
                <a:lnTo>
                  <a:pt x="140361" y="3235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58" name="case.radial.label.6.113"/>
          <p:cNvSpPr txBox="1"/>
          <p:nvPr/>
        </p:nvSpPr>
        <p:spPr>
          <a:xfrm>
            <a:off x="9775562" y="5571331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构想</a:t>
            </a:r>
            <a:endParaRPr lang="zh-CN"/>
          </a:p>
        </p:txBody>
      </p:sp>
      <p:sp>
        <p:nvSpPr>
          <p:cNvPr id="59" name="case.radial.petal.7"/>
          <p:cNvSpPr/>
          <p:nvPr/>
        </p:nvSpPr>
        <p:spPr>
          <a:xfrm>
            <a:off x="8170038" y="5768501"/>
            <a:ext cx="1624074" cy="324964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70506" h="39620">
                <a:moveTo>
                  <a:pt x="127880" y="0"/>
                </a:moveTo>
                <a:lnTo>
                  <a:pt x="42627" y="0"/>
                </a:lnTo>
                <a:lnTo>
                  <a:pt x="0" y="39620"/>
                </a:lnTo>
                <a:lnTo>
                  <a:pt x="170506" y="3962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60" name="case.radial.label.8.114"/>
          <p:cNvSpPr txBox="1"/>
          <p:nvPr/>
        </p:nvSpPr>
        <p:spPr>
          <a:xfrm>
            <a:off x="8562975" y="5842000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试验</a:t>
            </a:r>
            <a:endParaRPr lang="zh-CN"/>
          </a:p>
        </p:txBody>
      </p:sp>
      <p:sp>
        <p:nvSpPr>
          <p:cNvPr id="61" name="case.radial.petal.9"/>
          <p:cNvSpPr/>
          <p:nvPr/>
        </p:nvSpPr>
        <p:spPr>
          <a:xfrm>
            <a:off x="7120229" y="5470075"/>
            <a:ext cx="1336942" cy="570316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0361" h="69533">
                <a:moveTo>
                  <a:pt x="140361" y="33149"/>
                </a:moveTo>
                <a:lnTo>
                  <a:pt x="97735" y="0"/>
                </a:lnTo>
                <a:lnTo>
                  <a:pt x="0" y="3235"/>
                </a:lnTo>
                <a:lnTo>
                  <a:pt x="85253" y="69533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62" name="case.radial.label.10.115"/>
          <p:cNvSpPr txBox="1"/>
          <p:nvPr/>
        </p:nvSpPr>
        <p:spPr>
          <a:xfrm>
            <a:off x="7350388" y="5571331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评估</a:t>
            </a:r>
            <a:endParaRPr lang="zh-CN"/>
          </a:p>
        </p:txBody>
      </p:sp>
      <p:sp>
        <p:nvSpPr>
          <p:cNvPr id="63" name="case.radial.petal.11"/>
          <p:cNvSpPr/>
          <p:nvPr/>
        </p:nvSpPr>
        <p:spPr>
          <a:xfrm>
            <a:off x="7120229" y="4846684"/>
            <a:ext cx="1336942" cy="570316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0361" h="69533">
                <a:moveTo>
                  <a:pt x="97735" y="69533"/>
                </a:moveTo>
                <a:lnTo>
                  <a:pt x="140361" y="36384"/>
                </a:lnTo>
                <a:lnTo>
                  <a:pt x="85253" y="0"/>
                </a:lnTo>
                <a:lnTo>
                  <a:pt x="0" y="66298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64" name="case.radial.label.12.116"/>
          <p:cNvSpPr txBox="1"/>
          <p:nvPr/>
        </p:nvSpPr>
        <p:spPr>
          <a:xfrm>
            <a:off x="7350388" y="5029994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迭代</a:t>
            </a:r>
            <a:endParaRPr lang="zh-CN"/>
          </a:p>
        </p:txBody>
      </p:sp>
      <p:sp>
        <p:nvSpPr>
          <p:cNvPr id="65" name="case.radial.center.13"/>
          <p:cNvSpPr/>
          <p:nvPr/>
        </p:nvSpPr>
        <p:spPr>
          <a:xfrm>
            <a:off x="8201025" y="5140060"/>
            <a:ext cx="1562100" cy="606954"/>
          </a:xfrm>
          <a:prstGeom prst="ellipse">
            <a:avLst/>
          </a:prstGeom>
          <a:solidFill>
            <a:srgbClr val="FFFFFF"/>
          </a:solidFill>
          <a:ln w="9843">
            <a:solidFill>
              <a:srgbClr val="0759BE"/>
            </a:solidFill>
            <a:prstDash val="solid"/>
          </a:ln>
        </p:spPr>
      </p:sp>
      <p:sp>
        <p:nvSpPr>
          <p:cNvPr id="66" name="case.radial.label.14.117"/>
          <p:cNvSpPr txBox="1"/>
          <p:nvPr/>
        </p:nvSpPr>
        <p:spPr>
          <a:xfrm>
            <a:off x="8277225" y="5272088"/>
            <a:ext cx="1409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设计活动</a:t>
            </a:r>
            <a:endParaRPr lang="zh-CN"/>
          </a:p>
        </p:txBody>
      </p:sp>
      <p:sp>
        <p:nvSpPr>
          <p:cNvPr id="67" name="text.66.118"/>
          <p:cNvSpPr txBox="1"/>
          <p:nvPr/>
        </p:nvSpPr>
        <p:spPr>
          <a:xfrm>
            <a:off x="637222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主题构成：六项活动围绕共同主题</a:t>
            </a:r>
            <a:endParaRPr lang="zh-CN"/>
          </a:p>
        </p:txBody>
      </p:sp>
      <p:sp>
        <p:nvSpPr>
          <p:cNvPr id="68" name="footer.rule.460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9" name="footer.label.461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梯形创意参考</a:t>
            </a:r>
            <a:endParaRPr lang="zh-CN"/>
          </a:p>
        </p:txBody>
      </p:sp>
      <p:sp>
        <p:nvSpPr>
          <p:cNvPr id="70" name="footer.page.462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3 / 13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119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120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2.3</a:t>
            </a:r>
            <a:endParaRPr lang="zh-CN"/>
          </a:p>
        </p:txBody>
      </p:sp>
      <p:sp>
        <p:nvSpPr>
          <p:cNvPr id="4" name="header.gradient.121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122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折叠与推进</a:t>
            </a:r>
            <a:endParaRPr lang="zh-CN"/>
          </a:p>
        </p:txBody>
      </p:sp>
      <p:sp>
        <p:nvSpPr>
          <p:cNvPr id="6" name="header.library.123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梯形创意图鉴</a:t>
            </a:r>
            <a:endParaRPr lang="zh-CN"/>
          </a:p>
        </p:txBody>
      </p:sp>
      <p:sp>
        <p:nvSpPr>
          <p:cNvPr id="7" name="info.lead.124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125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126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127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闭环围出整体；折页展开叙事；丝带保留折返路径；台阶强调相邻阶段。</a:t>
            </a:r>
            <a:endParaRPr lang="zh-CN"/>
          </a:p>
        </p:txBody>
      </p:sp>
      <p:sp>
        <p:nvSpPr>
          <p:cNvPr id="11" name="comparison.case-frame.1"/>
          <p:cNvSpPr/>
          <p:nvPr/>
        </p:nvSpPr>
        <p:spPr>
          <a:xfrm>
            <a:off x="45720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2" name="text.11.128"/>
          <p:cNvSpPr txBox="1"/>
          <p:nvPr/>
        </p:nvSpPr>
        <p:spPr>
          <a:xfrm>
            <a:off x="55245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09</a:t>
            </a:r>
            <a:endParaRPr lang="zh-CN"/>
          </a:p>
        </p:txBody>
      </p:sp>
      <p:sp>
        <p:nvSpPr>
          <p:cNvPr id="13" name="text.12.129"/>
          <p:cNvSpPr txBox="1"/>
          <p:nvPr/>
        </p:nvSpPr>
        <p:spPr>
          <a:xfrm>
            <a:off x="89535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四段方形闭环</a:t>
            </a:r>
            <a:endParaRPr lang="zh-CN"/>
          </a:p>
        </p:txBody>
      </p:sp>
      <p:sp>
        <p:nvSpPr>
          <p:cNvPr id="14" name="text.13.130"/>
          <p:cNvSpPr txBox="1"/>
          <p:nvPr/>
        </p:nvSpPr>
        <p:spPr>
          <a:xfrm>
            <a:off x="531495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1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S08</a:t>
            </a:r>
            <a:endParaRPr lang="zh-CN"/>
          </a:p>
        </p:txBody>
      </p:sp>
      <p:sp>
        <p:nvSpPr>
          <p:cNvPr id="15" name="case.cycle.top.1"/>
          <p:cNvSpPr/>
          <p:nvPr/>
        </p:nvSpPr>
        <p:spPr>
          <a:xfrm>
            <a:off x="1876425" y="2266950"/>
            <a:ext cx="2667000" cy="35269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80000" h="43000">
                <a:moveTo>
                  <a:pt x="0" y="0"/>
                </a:moveTo>
                <a:lnTo>
                  <a:pt x="280000" y="0"/>
                </a:lnTo>
                <a:lnTo>
                  <a:pt x="235000" y="43000"/>
                </a:lnTo>
                <a:lnTo>
                  <a:pt x="45000" y="43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6" name="case.cycle.right.2"/>
          <p:cNvSpPr/>
          <p:nvPr/>
        </p:nvSpPr>
        <p:spPr>
          <a:xfrm>
            <a:off x="4114800" y="2266950"/>
            <a:ext cx="428625" cy="1459971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5000" h="178000">
                <a:moveTo>
                  <a:pt x="45000" y="0"/>
                </a:moveTo>
                <a:lnTo>
                  <a:pt x="45000" y="178000"/>
                </a:lnTo>
                <a:lnTo>
                  <a:pt x="0" y="135000"/>
                </a:lnTo>
                <a:lnTo>
                  <a:pt x="0" y="4300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17" name="case.cycle.bottom.3"/>
          <p:cNvSpPr/>
          <p:nvPr/>
        </p:nvSpPr>
        <p:spPr>
          <a:xfrm>
            <a:off x="1876425" y="3374231"/>
            <a:ext cx="2667000" cy="35269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80000" h="43000">
                <a:moveTo>
                  <a:pt x="280000" y="43000"/>
                </a:moveTo>
                <a:lnTo>
                  <a:pt x="0" y="43000"/>
                </a:lnTo>
                <a:lnTo>
                  <a:pt x="45000" y="0"/>
                </a:lnTo>
                <a:lnTo>
                  <a:pt x="235000" y="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18" name="case.cycle.left.4"/>
          <p:cNvSpPr/>
          <p:nvPr/>
        </p:nvSpPr>
        <p:spPr>
          <a:xfrm>
            <a:off x="1876425" y="2266950"/>
            <a:ext cx="428625" cy="1459971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5000" h="178000">
                <a:moveTo>
                  <a:pt x="0" y="178000"/>
                </a:moveTo>
                <a:lnTo>
                  <a:pt x="0" y="0"/>
                </a:lnTo>
                <a:lnTo>
                  <a:pt x="45000" y="43000"/>
                </a:lnTo>
                <a:lnTo>
                  <a:pt x="45000" y="13500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19" name="case.cycle.label.5.131"/>
          <p:cNvSpPr txBox="1"/>
          <p:nvPr/>
        </p:nvSpPr>
        <p:spPr>
          <a:xfrm>
            <a:off x="2447925" y="2287455"/>
            <a:ext cx="1524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计划</a:t>
            </a:r>
            <a:endParaRPr lang="zh-CN"/>
          </a:p>
        </p:txBody>
      </p:sp>
      <p:sp>
        <p:nvSpPr>
          <p:cNvPr id="20" name="case.cycle.label.6.132"/>
          <p:cNvSpPr txBox="1"/>
          <p:nvPr/>
        </p:nvSpPr>
        <p:spPr>
          <a:xfrm>
            <a:off x="4124325" y="2816622"/>
            <a:ext cx="4095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执行</a:t>
            </a:r>
            <a:endParaRPr lang="zh-CN"/>
          </a:p>
        </p:txBody>
      </p:sp>
      <p:sp>
        <p:nvSpPr>
          <p:cNvPr id="21" name="case.cycle.label.7.133"/>
          <p:cNvSpPr txBox="1"/>
          <p:nvPr/>
        </p:nvSpPr>
        <p:spPr>
          <a:xfrm>
            <a:off x="2447925" y="3394736"/>
            <a:ext cx="1524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检查</a:t>
            </a:r>
            <a:endParaRPr lang="zh-CN"/>
          </a:p>
        </p:txBody>
      </p:sp>
      <p:sp>
        <p:nvSpPr>
          <p:cNvPr id="22" name="case.cycle.label.8.134"/>
          <p:cNvSpPr txBox="1"/>
          <p:nvPr/>
        </p:nvSpPr>
        <p:spPr>
          <a:xfrm>
            <a:off x="1885950" y="2816622"/>
            <a:ext cx="4095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改进</a:t>
            </a:r>
            <a:endParaRPr lang="zh-CN"/>
          </a:p>
        </p:txBody>
      </p:sp>
      <p:sp>
        <p:nvSpPr>
          <p:cNvPr id="23" name="case.cycle.label.9.135"/>
          <p:cNvSpPr txBox="1"/>
          <p:nvPr/>
        </p:nvSpPr>
        <p:spPr>
          <a:xfrm>
            <a:off x="2409825" y="2824824"/>
            <a:ext cx="1600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持续优化</a:t>
            </a:r>
            <a:endParaRPr lang="zh-CN"/>
          </a:p>
        </p:txBody>
      </p:sp>
      <p:sp>
        <p:nvSpPr>
          <p:cNvPr id="24" name="text.23.136"/>
          <p:cNvSpPr txBox="1"/>
          <p:nvPr/>
        </p:nvSpPr>
        <p:spPr>
          <a:xfrm>
            <a:off x="60007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整体组成：四片围合，中心保留共同目标</a:t>
            </a:r>
            <a:endParaRPr lang="zh-CN"/>
          </a:p>
        </p:txBody>
      </p:sp>
      <p:sp>
        <p:nvSpPr>
          <p:cNvPr id="25" name="comparison.case-frame.2"/>
          <p:cNvSpPr/>
          <p:nvPr/>
        </p:nvSpPr>
        <p:spPr>
          <a:xfrm>
            <a:off x="622935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26" name="text.25.137"/>
          <p:cNvSpPr txBox="1"/>
          <p:nvPr/>
        </p:nvSpPr>
        <p:spPr>
          <a:xfrm>
            <a:off x="632460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10</a:t>
            </a:r>
            <a:endParaRPr lang="zh-CN"/>
          </a:p>
        </p:txBody>
      </p:sp>
      <p:sp>
        <p:nvSpPr>
          <p:cNvPr id="27" name="text.26.138"/>
          <p:cNvSpPr txBox="1"/>
          <p:nvPr/>
        </p:nvSpPr>
        <p:spPr>
          <a:xfrm>
            <a:off x="666750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手风琴折页</a:t>
            </a:r>
            <a:endParaRPr lang="zh-CN"/>
          </a:p>
        </p:txBody>
      </p:sp>
      <p:sp>
        <p:nvSpPr>
          <p:cNvPr id="28" name="text.27.139"/>
          <p:cNvSpPr txBox="1"/>
          <p:nvPr/>
        </p:nvSpPr>
        <p:spPr>
          <a:xfrm>
            <a:off x="1108710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2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S03</a:t>
            </a:r>
            <a:endParaRPr lang="zh-CN"/>
          </a:p>
        </p:txBody>
      </p:sp>
      <p:sp>
        <p:nvSpPr>
          <p:cNvPr id="29" name="case.accordion.fold.1"/>
          <p:cNvSpPr/>
          <p:nvPr/>
        </p:nvSpPr>
        <p:spPr>
          <a:xfrm>
            <a:off x="6572250" y="2480204"/>
            <a:ext cx="962025" cy="124671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01000" h="152000">
                <a:moveTo>
                  <a:pt x="0" y="0"/>
                </a:moveTo>
                <a:lnTo>
                  <a:pt x="101000" y="28000"/>
                </a:lnTo>
                <a:lnTo>
                  <a:pt x="101000" y="124000"/>
                </a:lnTo>
                <a:lnTo>
                  <a:pt x="0" y="152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30" name="case.accordion.label.2.140"/>
          <p:cNvSpPr txBox="1"/>
          <p:nvPr/>
        </p:nvSpPr>
        <p:spPr>
          <a:xfrm>
            <a:off x="6600825" y="2925233"/>
            <a:ext cx="904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背景</a:t>
            </a:r>
            <a:endParaRPr lang="zh-CN"/>
          </a:p>
        </p:txBody>
      </p:sp>
      <p:sp>
        <p:nvSpPr>
          <p:cNvPr id="31" name="case.accordion.fold.3"/>
          <p:cNvSpPr/>
          <p:nvPr/>
        </p:nvSpPr>
        <p:spPr>
          <a:xfrm>
            <a:off x="7534275" y="2480204"/>
            <a:ext cx="962025" cy="124671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01000" h="152000">
                <a:moveTo>
                  <a:pt x="0" y="28000"/>
                </a:moveTo>
                <a:lnTo>
                  <a:pt x="101000" y="0"/>
                </a:lnTo>
                <a:lnTo>
                  <a:pt x="101000" y="152000"/>
                </a:lnTo>
                <a:lnTo>
                  <a:pt x="0" y="124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2" name="case.accordion.label.4.141"/>
          <p:cNvSpPr txBox="1"/>
          <p:nvPr/>
        </p:nvSpPr>
        <p:spPr>
          <a:xfrm>
            <a:off x="7562850" y="2925233"/>
            <a:ext cx="904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问题</a:t>
            </a:r>
            <a:endParaRPr lang="zh-CN"/>
          </a:p>
        </p:txBody>
      </p:sp>
      <p:sp>
        <p:nvSpPr>
          <p:cNvPr id="33" name="case.accordion.fold.5"/>
          <p:cNvSpPr/>
          <p:nvPr/>
        </p:nvSpPr>
        <p:spPr>
          <a:xfrm>
            <a:off x="8496300" y="2480204"/>
            <a:ext cx="962025" cy="124671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01000" h="152000">
                <a:moveTo>
                  <a:pt x="0" y="0"/>
                </a:moveTo>
                <a:lnTo>
                  <a:pt x="101000" y="28000"/>
                </a:lnTo>
                <a:lnTo>
                  <a:pt x="101000" y="124000"/>
                </a:lnTo>
                <a:lnTo>
                  <a:pt x="0" y="152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34" name="case.accordion.label.6.142"/>
          <p:cNvSpPr txBox="1"/>
          <p:nvPr/>
        </p:nvSpPr>
        <p:spPr>
          <a:xfrm>
            <a:off x="8524875" y="2925233"/>
            <a:ext cx="904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方法</a:t>
            </a:r>
            <a:endParaRPr lang="zh-CN"/>
          </a:p>
        </p:txBody>
      </p:sp>
      <p:sp>
        <p:nvSpPr>
          <p:cNvPr id="35" name="case.accordion.fold.7"/>
          <p:cNvSpPr/>
          <p:nvPr/>
        </p:nvSpPr>
        <p:spPr>
          <a:xfrm>
            <a:off x="9458325" y="2480204"/>
            <a:ext cx="962025" cy="124671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01000" h="152000">
                <a:moveTo>
                  <a:pt x="0" y="28000"/>
                </a:moveTo>
                <a:lnTo>
                  <a:pt x="101000" y="0"/>
                </a:lnTo>
                <a:lnTo>
                  <a:pt x="101000" y="152000"/>
                </a:lnTo>
                <a:lnTo>
                  <a:pt x="0" y="124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6" name="case.accordion.label.8.143"/>
          <p:cNvSpPr txBox="1"/>
          <p:nvPr/>
        </p:nvSpPr>
        <p:spPr>
          <a:xfrm>
            <a:off x="9486900" y="2925233"/>
            <a:ext cx="904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证据</a:t>
            </a:r>
            <a:endParaRPr lang="zh-CN"/>
          </a:p>
        </p:txBody>
      </p:sp>
      <p:sp>
        <p:nvSpPr>
          <p:cNvPr id="37" name="case.accordion.fold.9"/>
          <p:cNvSpPr/>
          <p:nvPr/>
        </p:nvSpPr>
        <p:spPr>
          <a:xfrm>
            <a:off x="10420350" y="2480204"/>
            <a:ext cx="962025" cy="124671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01000" h="152000">
                <a:moveTo>
                  <a:pt x="0" y="0"/>
                </a:moveTo>
                <a:lnTo>
                  <a:pt x="101000" y="28000"/>
                </a:lnTo>
                <a:lnTo>
                  <a:pt x="101000" y="124000"/>
                </a:lnTo>
                <a:lnTo>
                  <a:pt x="0" y="152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38" name="case.accordion.label.10.144"/>
          <p:cNvSpPr txBox="1"/>
          <p:nvPr/>
        </p:nvSpPr>
        <p:spPr>
          <a:xfrm>
            <a:off x="10448925" y="2925233"/>
            <a:ext cx="904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结论</a:t>
            </a:r>
            <a:endParaRPr lang="zh-CN"/>
          </a:p>
        </p:txBody>
      </p:sp>
      <p:sp>
        <p:nvSpPr>
          <p:cNvPr id="39" name="text.38.145"/>
          <p:cNvSpPr txBox="1"/>
          <p:nvPr/>
        </p:nvSpPr>
        <p:spPr>
          <a:xfrm>
            <a:off x="637222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连续叙事：相邻折面依次展开内容</a:t>
            </a:r>
            <a:endParaRPr lang="zh-CN"/>
          </a:p>
        </p:txBody>
      </p:sp>
      <p:sp>
        <p:nvSpPr>
          <p:cNvPr id="40" name="comparison.case-frame.3"/>
          <p:cNvSpPr/>
          <p:nvPr/>
        </p:nvSpPr>
        <p:spPr>
          <a:xfrm>
            <a:off x="45720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41" name="text.40.146"/>
          <p:cNvSpPr txBox="1"/>
          <p:nvPr/>
        </p:nvSpPr>
        <p:spPr>
          <a:xfrm>
            <a:off x="55245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11</a:t>
            </a:r>
            <a:endParaRPr lang="zh-CN"/>
          </a:p>
        </p:txBody>
      </p:sp>
      <p:sp>
        <p:nvSpPr>
          <p:cNvPr id="42" name="text.41.147"/>
          <p:cNvSpPr txBox="1"/>
          <p:nvPr/>
        </p:nvSpPr>
        <p:spPr>
          <a:xfrm>
            <a:off x="89535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折返丝带流程</a:t>
            </a:r>
            <a:endParaRPr lang="zh-CN"/>
          </a:p>
        </p:txBody>
      </p:sp>
      <p:sp>
        <p:nvSpPr>
          <p:cNvPr id="43" name="text.42.148"/>
          <p:cNvSpPr txBox="1"/>
          <p:nvPr/>
        </p:nvSpPr>
        <p:spPr>
          <a:xfrm>
            <a:off x="531495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3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S03</a:t>
            </a:r>
            <a:endParaRPr lang="zh-CN"/>
          </a:p>
        </p:txBody>
      </p:sp>
      <p:sp>
        <p:nvSpPr>
          <p:cNvPr id="44" name="case.ribbon.ribbon.1"/>
          <p:cNvSpPr/>
          <p:nvPr/>
        </p:nvSpPr>
        <p:spPr>
          <a:xfrm>
            <a:off x="1209675" y="4779169"/>
            <a:ext cx="3762375" cy="319881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95000" h="39000">
                <a:moveTo>
                  <a:pt x="0" y="0"/>
                </a:moveTo>
                <a:lnTo>
                  <a:pt x="395000" y="0"/>
                </a:lnTo>
                <a:lnTo>
                  <a:pt x="349000" y="39000"/>
                </a:lnTo>
                <a:lnTo>
                  <a:pt x="46000" y="39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5" name="case.ribbon.ribbon.2"/>
          <p:cNvSpPr/>
          <p:nvPr/>
        </p:nvSpPr>
        <p:spPr>
          <a:xfrm>
            <a:off x="4533900" y="4779169"/>
            <a:ext cx="438150" cy="1107281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6000" h="135000">
                <a:moveTo>
                  <a:pt x="0" y="39000"/>
                </a:moveTo>
                <a:lnTo>
                  <a:pt x="46000" y="0"/>
                </a:lnTo>
                <a:lnTo>
                  <a:pt x="46000" y="96000"/>
                </a:lnTo>
                <a:lnTo>
                  <a:pt x="0" y="135000"/>
                </a:lnTo>
                <a:close/>
              </a:path>
            </a:pathLst>
          </a:custGeom>
          <a:solidFill>
            <a:srgbClr val="074A9B"/>
          </a:solidFill>
          <a:ln w="0">
            <a:noFill/>
            <a:prstDash val="solid"/>
          </a:ln>
        </p:spPr>
      </p:sp>
      <p:sp>
        <p:nvSpPr>
          <p:cNvPr id="46" name="case.ribbon.ribbon.3"/>
          <p:cNvSpPr/>
          <p:nvPr/>
        </p:nvSpPr>
        <p:spPr>
          <a:xfrm>
            <a:off x="1209675" y="5566569"/>
            <a:ext cx="3762375" cy="319881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95000" h="39000">
                <a:moveTo>
                  <a:pt x="46000" y="0"/>
                </a:moveTo>
                <a:lnTo>
                  <a:pt x="395000" y="0"/>
                </a:lnTo>
                <a:lnTo>
                  <a:pt x="349000" y="39000"/>
                </a:lnTo>
                <a:lnTo>
                  <a:pt x="0" y="39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47" name="case.ribbon.ribbon.4"/>
          <p:cNvSpPr/>
          <p:nvPr/>
        </p:nvSpPr>
        <p:spPr>
          <a:xfrm>
            <a:off x="1209675" y="5566569"/>
            <a:ext cx="438150" cy="606954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6000" h="74000">
                <a:moveTo>
                  <a:pt x="0" y="39000"/>
                </a:moveTo>
                <a:lnTo>
                  <a:pt x="46000" y="0"/>
                </a:lnTo>
                <a:lnTo>
                  <a:pt x="46000" y="74000"/>
                </a:lnTo>
                <a:lnTo>
                  <a:pt x="0" y="7400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48" name="case.ribbon.label.5.149"/>
          <p:cNvSpPr txBox="1"/>
          <p:nvPr/>
        </p:nvSpPr>
        <p:spPr>
          <a:xfrm>
            <a:off x="1828800" y="4773083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识别问题</a:t>
            </a:r>
            <a:endParaRPr lang="zh-CN"/>
          </a:p>
        </p:txBody>
      </p:sp>
      <p:sp>
        <p:nvSpPr>
          <p:cNvPr id="49" name="case.ribbon.label.6.150"/>
          <p:cNvSpPr txBox="1"/>
          <p:nvPr/>
        </p:nvSpPr>
        <p:spPr>
          <a:xfrm>
            <a:off x="1828800" y="5560483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提出假设</a:t>
            </a:r>
            <a:endParaRPr lang="zh-CN"/>
          </a:p>
        </p:txBody>
      </p:sp>
      <p:sp>
        <p:nvSpPr>
          <p:cNvPr id="50" name="case.ribbon.label.7.151"/>
          <p:cNvSpPr txBox="1"/>
          <p:nvPr/>
        </p:nvSpPr>
        <p:spPr>
          <a:xfrm>
            <a:off x="1209675" y="5900076"/>
            <a:ext cx="438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验证</a:t>
            </a:r>
            <a:endParaRPr lang="zh-CN"/>
          </a:p>
        </p:txBody>
      </p:sp>
      <p:sp>
        <p:nvSpPr>
          <p:cNvPr id="51" name="text.50.152"/>
          <p:cNvSpPr txBox="1"/>
          <p:nvPr/>
        </p:nvSpPr>
        <p:spPr>
          <a:xfrm>
            <a:off x="60007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路径连续：折返面连接相邻处理阶段</a:t>
            </a:r>
            <a:endParaRPr lang="zh-CN"/>
          </a:p>
        </p:txBody>
      </p:sp>
      <p:sp>
        <p:nvSpPr>
          <p:cNvPr id="52" name="comparison.case-frame.4"/>
          <p:cNvSpPr/>
          <p:nvPr/>
        </p:nvSpPr>
        <p:spPr>
          <a:xfrm>
            <a:off x="622935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53" name="text.52.153"/>
          <p:cNvSpPr txBox="1"/>
          <p:nvPr/>
        </p:nvSpPr>
        <p:spPr>
          <a:xfrm>
            <a:off x="632460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12</a:t>
            </a:r>
            <a:endParaRPr lang="zh-CN"/>
          </a:p>
        </p:txBody>
      </p:sp>
      <p:sp>
        <p:nvSpPr>
          <p:cNvPr id="54" name="text.53.154"/>
          <p:cNvSpPr txBox="1"/>
          <p:nvPr/>
        </p:nvSpPr>
        <p:spPr>
          <a:xfrm>
            <a:off x="666750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逐级抬升的台阶</a:t>
            </a:r>
            <a:endParaRPr lang="zh-CN"/>
          </a:p>
        </p:txBody>
      </p:sp>
      <p:sp>
        <p:nvSpPr>
          <p:cNvPr id="55" name="text.54.155"/>
          <p:cNvSpPr txBox="1"/>
          <p:nvPr/>
        </p:nvSpPr>
        <p:spPr>
          <a:xfrm>
            <a:off x="1108710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4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S10</a:t>
            </a:r>
            <a:endParaRPr lang="zh-CN"/>
          </a:p>
        </p:txBody>
      </p:sp>
      <p:sp>
        <p:nvSpPr>
          <p:cNvPr id="56" name="case.steps.step.1"/>
          <p:cNvSpPr/>
          <p:nvPr/>
        </p:nvSpPr>
        <p:spPr>
          <a:xfrm>
            <a:off x="6496050" y="5722408"/>
            <a:ext cx="1162050" cy="43471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22000" h="53000">
                <a:moveTo>
                  <a:pt x="16470" y="0"/>
                </a:moveTo>
                <a:lnTo>
                  <a:pt x="105530" y="0"/>
                </a:lnTo>
                <a:lnTo>
                  <a:pt x="122000" y="53000"/>
                </a:lnTo>
                <a:lnTo>
                  <a:pt x="0" y="5300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57" name="case.steps.label.2.156"/>
          <p:cNvSpPr txBox="1"/>
          <p:nvPr/>
        </p:nvSpPr>
        <p:spPr>
          <a:xfrm>
            <a:off x="6534150" y="5781940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准备</a:t>
            </a:r>
            <a:endParaRPr lang="zh-CN"/>
          </a:p>
        </p:txBody>
      </p:sp>
      <p:sp>
        <p:nvSpPr>
          <p:cNvPr id="58" name="case.steps.join.3"/>
          <p:cNvSpPr/>
          <p:nvPr/>
        </p:nvSpPr>
        <p:spPr>
          <a:xfrm flipV="1">
            <a:off x="7581900" y="5640388"/>
            <a:ext cx="257175" cy="303477"/>
          </a:xfrm>
          <a:prstGeom prst="line">
            <a:avLst/>
          </a:prstGeom>
          <a:noFill/>
          <a:ln w="14764">
            <a:solidFill>
              <a:srgbClr val="A6B4C0"/>
            </a:solidFill>
            <a:prstDash val="solid"/>
          </a:ln>
        </p:spPr>
      </p:sp>
      <p:sp>
        <p:nvSpPr>
          <p:cNvPr id="59" name="case.steps.step.4"/>
          <p:cNvSpPr/>
          <p:nvPr/>
        </p:nvSpPr>
        <p:spPr>
          <a:xfrm>
            <a:off x="7762875" y="5418931"/>
            <a:ext cx="1162050" cy="43471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22000" h="53000">
                <a:moveTo>
                  <a:pt x="16470" y="0"/>
                </a:moveTo>
                <a:lnTo>
                  <a:pt x="105530" y="0"/>
                </a:lnTo>
                <a:lnTo>
                  <a:pt x="122000" y="53000"/>
                </a:lnTo>
                <a:lnTo>
                  <a:pt x="0" y="53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60" name="case.steps.label.5.157"/>
          <p:cNvSpPr txBox="1"/>
          <p:nvPr/>
        </p:nvSpPr>
        <p:spPr>
          <a:xfrm>
            <a:off x="7800975" y="5478463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试点</a:t>
            </a:r>
            <a:endParaRPr lang="zh-CN"/>
          </a:p>
        </p:txBody>
      </p:sp>
      <p:sp>
        <p:nvSpPr>
          <p:cNvPr id="61" name="case.steps.join.6"/>
          <p:cNvSpPr/>
          <p:nvPr/>
        </p:nvSpPr>
        <p:spPr>
          <a:xfrm flipV="1">
            <a:off x="8848725" y="5336910"/>
            <a:ext cx="257175" cy="303477"/>
          </a:xfrm>
          <a:prstGeom prst="line">
            <a:avLst/>
          </a:prstGeom>
          <a:noFill/>
          <a:ln w="14764">
            <a:solidFill>
              <a:srgbClr val="A6B4C0"/>
            </a:solidFill>
            <a:prstDash val="solid"/>
          </a:ln>
        </p:spPr>
      </p:sp>
      <p:sp>
        <p:nvSpPr>
          <p:cNvPr id="62" name="case.steps.step.7"/>
          <p:cNvSpPr/>
          <p:nvPr/>
        </p:nvSpPr>
        <p:spPr>
          <a:xfrm>
            <a:off x="9029700" y="5115454"/>
            <a:ext cx="1162050" cy="43471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22000" h="53000">
                <a:moveTo>
                  <a:pt x="16470" y="0"/>
                </a:moveTo>
                <a:lnTo>
                  <a:pt x="105530" y="0"/>
                </a:lnTo>
                <a:lnTo>
                  <a:pt x="122000" y="53000"/>
                </a:lnTo>
                <a:lnTo>
                  <a:pt x="0" y="5300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63" name="case.steps.label.8.158"/>
          <p:cNvSpPr txBox="1"/>
          <p:nvPr/>
        </p:nvSpPr>
        <p:spPr>
          <a:xfrm>
            <a:off x="9067800" y="517498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扩展</a:t>
            </a:r>
            <a:endParaRPr lang="zh-CN"/>
          </a:p>
        </p:txBody>
      </p:sp>
      <p:sp>
        <p:nvSpPr>
          <p:cNvPr id="64" name="case.steps.join.9"/>
          <p:cNvSpPr/>
          <p:nvPr/>
        </p:nvSpPr>
        <p:spPr>
          <a:xfrm flipV="1">
            <a:off x="10115550" y="5033433"/>
            <a:ext cx="257175" cy="303477"/>
          </a:xfrm>
          <a:prstGeom prst="line">
            <a:avLst/>
          </a:prstGeom>
          <a:noFill/>
          <a:ln w="14764">
            <a:solidFill>
              <a:srgbClr val="A6B4C0"/>
            </a:solidFill>
            <a:prstDash val="solid"/>
          </a:ln>
        </p:spPr>
      </p:sp>
      <p:sp>
        <p:nvSpPr>
          <p:cNvPr id="65" name="case.steps.step.10"/>
          <p:cNvSpPr/>
          <p:nvPr/>
        </p:nvSpPr>
        <p:spPr>
          <a:xfrm>
            <a:off x="10296525" y="4811977"/>
            <a:ext cx="1162050" cy="43471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22000" h="53000">
                <a:moveTo>
                  <a:pt x="16470" y="0"/>
                </a:moveTo>
                <a:lnTo>
                  <a:pt x="105530" y="0"/>
                </a:lnTo>
                <a:lnTo>
                  <a:pt x="122000" y="53000"/>
                </a:lnTo>
                <a:lnTo>
                  <a:pt x="0" y="53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66" name="case.steps.label.11.159"/>
          <p:cNvSpPr txBox="1"/>
          <p:nvPr/>
        </p:nvSpPr>
        <p:spPr>
          <a:xfrm>
            <a:off x="10334625" y="4871508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稳定</a:t>
            </a:r>
            <a:endParaRPr lang="zh-CN"/>
          </a:p>
        </p:txBody>
      </p:sp>
      <p:sp>
        <p:nvSpPr>
          <p:cNvPr id="67" name="text.66.160"/>
          <p:cNvSpPr txBox="1"/>
          <p:nvPr/>
        </p:nvSpPr>
        <p:spPr>
          <a:xfrm>
            <a:off x="637222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阶段推进：沿抬升位置依次到达落点</a:t>
            </a:r>
            <a:endParaRPr lang="zh-CN"/>
          </a:p>
        </p:txBody>
      </p:sp>
      <p:sp>
        <p:nvSpPr>
          <p:cNvPr id="68" name="footer.rule.463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9" name="footer.label.464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梯形创意参考</a:t>
            </a:r>
            <a:endParaRPr lang="zh-CN"/>
          </a:p>
        </p:txBody>
      </p:sp>
      <p:sp>
        <p:nvSpPr>
          <p:cNvPr id="70" name="footer.page.465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4 / 13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161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162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2.4</a:t>
            </a:r>
            <a:endParaRPr lang="zh-CN"/>
          </a:p>
        </p:txBody>
      </p:sp>
      <p:sp>
        <p:nvSpPr>
          <p:cNvPr id="4" name="header.gradient.163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164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透视与空间</a:t>
            </a:r>
            <a:endParaRPr lang="zh-CN"/>
          </a:p>
        </p:txBody>
      </p:sp>
      <p:sp>
        <p:nvSpPr>
          <p:cNvPr id="6" name="header.library.165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梯形创意图鉴</a:t>
            </a:r>
            <a:endParaRPr lang="zh-CN"/>
          </a:p>
        </p:txBody>
      </p:sp>
      <p:sp>
        <p:nvSpPr>
          <p:cNvPr id="7" name="info.lead.166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167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168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169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道路突出远端目标；跑道并列工作线；画廊选择当前焦点；层片分开系统层级。</a:t>
            </a:r>
            <a:endParaRPr lang="zh-CN"/>
          </a:p>
        </p:txBody>
      </p:sp>
      <p:sp>
        <p:nvSpPr>
          <p:cNvPr id="11" name="comparison.case-frame.1"/>
          <p:cNvSpPr/>
          <p:nvPr/>
        </p:nvSpPr>
        <p:spPr>
          <a:xfrm>
            <a:off x="45720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2" name="text.11.170"/>
          <p:cNvSpPr txBox="1"/>
          <p:nvPr/>
        </p:nvSpPr>
        <p:spPr>
          <a:xfrm>
            <a:off x="55245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13</a:t>
            </a:r>
            <a:endParaRPr lang="zh-CN"/>
          </a:p>
        </p:txBody>
      </p:sp>
      <p:sp>
        <p:nvSpPr>
          <p:cNvPr id="13" name="text.12.171"/>
          <p:cNvSpPr txBox="1"/>
          <p:nvPr/>
        </p:nvSpPr>
        <p:spPr>
          <a:xfrm>
            <a:off x="89535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通向目标的透视道路</a:t>
            </a:r>
            <a:endParaRPr lang="zh-CN"/>
          </a:p>
        </p:txBody>
      </p:sp>
      <p:sp>
        <p:nvSpPr>
          <p:cNvPr id="14" name="text.13.172"/>
          <p:cNvSpPr txBox="1"/>
          <p:nvPr/>
        </p:nvSpPr>
        <p:spPr>
          <a:xfrm>
            <a:off x="531495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1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S05</a:t>
            </a:r>
            <a:endParaRPr lang="zh-CN"/>
          </a:p>
        </p:txBody>
      </p:sp>
      <p:sp>
        <p:nvSpPr>
          <p:cNvPr id="15" name="case.road.road.1"/>
          <p:cNvSpPr/>
          <p:nvPr/>
        </p:nvSpPr>
        <p:spPr>
          <a:xfrm>
            <a:off x="1924050" y="2447396"/>
            <a:ext cx="3048000" cy="1172898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20000" h="143000">
                <a:moveTo>
                  <a:pt x="121600" y="0"/>
                </a:moveTo>
                <a:lnTo>
                  <a:pt x="198400" y="0"/>
                </a:lnTo>
                <a:lnTo>
                  <a:pt x="320000" y="143000"/>
                </a:lnTo>
                <a:lnTo>
                  <a:pt x="0" y="14300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16" name="case.road.lane.2"/>
          <p:cNvSpPr/>
          <p:nvPr/>
        </p:nvSpPr>
        <p:spPr>
          <a:xfrm>
            <a:off x="3267075" y="2447396"/>
            <a:ext cx="361950" cy="1172898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8000" h="143000">
                <a:moveTo>
                  <a:pt x="13000" y="0"/>
                </a:moveTo>
                <a:lnTo>
                  <a:pt x="25000" y="0"/>
                </a:lnTo>
                <a:lnTo>
                  <a:pt x="38000" y="143000"/>
                </a:lnTo>
                <a:lnTo>
                  <a:pt x="0" y="143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case.road.marker.3"/>
          <p:cNvSpPr/>
          <p:nvPr/>
        </p:nvSpPr>
        <p:spPr>
          <a:xfrm>
            <a:off x="3409950" y="2709863"/>
            <a:ext cx="76200" cy="98425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8" name="case.road.marker.4"/>
          <p:cNvSpPr/>
          <p:nvPr/>
        </p:nvSpPr>
        <p:spPr>
          <a:xfrm>
            <a:off x="3390900" y="3005138"/>
            <a:ext cx="114300" cy="131233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9" name="case.road.marker.5"/>
          <p:cNvSpPr/>
          <p:nvPr/>
        </p:nvSpPr>
        <p:spPr>
          <a:xfrm>
            <a:off x="3371850" y="3349625"/>
            <a:ext cx="152400" cy="164042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0" name="case.road.label.6.173"/>
          <p:cNvSpPr txBox="1"/>
          <p:nvPr/>
        </p:nvSpPr>
        <p:spPr>
          <a:xfrm>
            <a:off x="2924175" y="2206757"/>
            <a:ext cx="1047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目标</a:t>
            </a:r>
            <a:endParaRPr lang="zh-CN"/>
          </a:p>
        </p:txBody>
      </p:sp>
      <p:sp>
        <p:nvSpPr>
          <p:cNvPr id="21" name="case.road.label.7.174"/>
          <p:cNvSpPr txBox="1"/>
          <p:nvPr/>
        </p:nvSpPr>
        <p:spPr>
          <a:xfrm>
            <a:off x="2924175" y="3510889"/>
            <a:ext cx="1047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当下</a:t>
            </a:r>
            <a:endParaRPr lang="zh-CN"/>
          </a:p>
        </p:txBody>
      </p:sp>
      <p:sp>
        <p:nvSpPr>
          <p:cNvPr id="22" name="case.road.label.8.175"/>
          <p:cNvSpPr txBox="1"/>
          <p:nvPr/>
        </p:nvSpPr>
        <p:spPr>
          <a:xfrm>
            <a:off x="1809750" y="2550583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远</a:t>
            </a:r>
            <a:endParaRPr lang="zh-CN"/>
          </a:p>
        </p:txBody>
      </p:sp>
      <p:sp>
        <p:nvSpPr>
          <p:cNvPr id="23" name="case.road.label.9.176"/>
          <p:cNvSpPr txBox="1"/>
          <p:nvPr/>
        </p:nvSpPr>
        <p:spPr>
          <a:xfrm>
            <a:off x="1409700" y="3370792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近</a:t>
            </a:r>
            <a:endParaRPr lang="zh-CN"/>
          </a:p>
        </p:txBody>
      </p:sp>
      <p:sp>
        <p:nvSpPr>
          <p:cNvPr id="24" name="text.23.177"/>
          <p:cNvSpPr txBox="1"/>
          <p:nvPr/>
        </p:nvSpPr>
        <p:spPr>
          <a:xfrm>
            <a:off x="60007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单一路线：目标位于道路的远端</a:t>
            </a:r>
            <a:endParaRPr lang="zh-CN"/>
          </a:p>
        </p:txBody>
      </p:sp>
      <p:sp>
        <p:nvSpPr>
          <p:cNvPr id="25" name="comparison.case-frame.2"/>
          <p:cNvSpPr/>
          <p:nvPr/>
        </p:nvSpPr>
        <p:spPr>
          <a:xfrm>
            <a:off x="622935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26" name="text.25.178"/>
          <p:cNvSpPr txBox="1"/>
          <p:nvPr/>
        </p:nvSpPr>
        <p:spPr>
          <a:xfrm>
            <a:off x="632460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14</a:t>
            </a:r>
            <a:endParaRPr lang="zh-CN"/>
          </a:p>
        </p:txBody>
      </p:sp>
      <p:sp>
        <p:nvSpPr>
          <p:cNvPr id="27" name="text.26.179"/>
          <p:cNvSpPr txBox="1"/>
          <p:nvPr/>
        </p:nvSpPr>
        <p:spPr>
          <a:xfrm>
            <a:off x="666750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共同目标的并行跑道</a:t>
            </a:r>
            <a:endParaRPr lang="zh-CN"/>
          </a:p>
        </p:txBody>
      </p:sp>
      <p:sp>
        <p:nvSpPr>
          <p:cNvPr id="28" name="text.27.180"/>
          <p:cNvSpPr txBox="1"/>
          <p:nvPr/>
        </p:nvSpPr>
        <p:spPr>
          <a:xfrm>
            <a:off x="1108710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2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S05</a:t>
            </a:r>
            <a:endParaRPr lang="zh-CN"/>
          </a:p>
        </p:txBody>
      </p:sp>
      <p:sp>
        <p:nvSpPr>
          <p:cNvPr id="29" name="case.lanes.lane.1"/>
          <p:cNvSpPr/>
          <p:nvPr/>
        </p:nvSpPr>
        <p:spPr>
          <a:xfrm>
            <a:off x="6762750" y="2463800"/>
            <a:ext cx="2009775" cy="125491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11000" h="153000">
                <a:moveTo>
                  <a:pt x="178000" y="0"/>
                </a:moveTo>
                <a:lnTo>
                  <a:pt x="211000" y="0"/>
                </a:lnTo>
                <a:lnTo>
                  <a:pt x="146000" y="153000"/>
                </a:lnTo>
                <a:lnTo>
                  <a:pt x="0" y="153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0" name="case.lanes.label.2.181"/>
          <p:cNvSpPr txBox="1"/>
          <p:nvPr/>
        </p:nvSpPr>
        <p:spPr>
          <a:xfrm>
            <a:off x="6810375" y="3327135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技术</a:t>
            </a:r>
            <a:endParaRPr lang="zh-CN"/>
          </a:p>
        </p:txBody>
      </p:sp>
      <p:sp>
        <p:nvSpPr>
          <p:cNvPr id="31" name="case.lanes.lane.3"/>
          <p:cNvSpPr/>
          <p:nvPr/>
        </p:nvSpPr>
        <p:spPr>
          <a:xfrm>
            <a:off x="8286750" y="2463800"/>
            <a:ext cx="1390650" cy="125491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6000" h="153000">
                <a:moveTo>
                  <a:pt x="57000" y="0"/>
                </a:moveTo>
                <a:lnTo>
                  <a:pt x="90000" y="0"/>
                </a:lnTo>
                <a:lnTo>
                  <a:pt x="146000" y="153000"/>
                </a:lnTo>
                <a:lnTo>
                  <a:pt x="0" y="15300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32" name="case.lanes.label.4.182"/>
          <p:cNvSpPr txBox="1"/>
          <p:nvPr/>
        </p:nvSpPr>
        <p:spPr>
          <a:xfrm>
            <a:off x="8334375" y="3327135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交付</a:t>
            </a:r>
            <a:endParaRPr lang="zh-CN"/>
          </a:p>
        </p:txBody>
      </p:sp>
      <p:sp>
        <p:nvSpPr>
          <p:cNvPr id="33" name="case.lanes.lane.5"/>
          <p:cNvSpPr/>
          <p:nvPr/>
        </p:nvSpPr>
        <p:spPr>
          <a:xfrm>
            <a:off x="9201150" y="2463800"/>
            <a:ext cx="2000250" cy="125491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10000" h="153000">
                <a:moveTo>
                  <a:pt x="0" y="0"/>
                </a:moveTo>
                <a:lnTo>
                  <a:pt x="33000" y="0"/>
                </a:lnTo>
                <a:lnTo>
                  <a:pt x="210000" y="153000"/>
                </a:lnTo>
                <a:lnTo>
                  <a:pt x="64000" y="153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34" name="case.lanes.label.6.183"/>
          <p:cNvSpPr txBox="1"/>
          <p:nvPr/>
        </p:nvSpPr>
        <p:spPr>
          <a:xfrm>
            <a:off x="9858375" y="3327135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市场</a:t>
            </a:r>
            <a:endParaRPr lang="zh-CN"/>
          </a:p>
        </p:txBody>
      </p:sp>
      <p:sp>
        <p:nvSpPr>
          <p:cNvPr id="35" name="case.lanes.label.7.184"/>
          <p:cNvSpPr txBox="1"/>
          <p:nvPr/>
        </p:nvSpPr>
        <p:spPr>
          <a:xfrm>
            <a:off x="8248650" y="2206096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同一目标</a:t>
            </a:r>
            <a:endParaRPr lang="zh-CN"/>
          </a:p>
        </p:txBody>
      </p:sp>
      <p:sp>
        <p:nvSpPr>
          <p:cNvPr id="36" name="text.35.185"/>
          <p:cNvSpPr txBox="1"/>
          <p:nvPr/>
        </p:nvSpPr>
        <p:spPr>
          <a:xfrm>
            <a:off x="637222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并行路线：各条工作线朝向同一目标</a:t>
            </a:r>
            <a:endParaRPr lang="zh-CN"/>
          </a:p>
        </p:txBody>
      </p:sp>
      <p:sp>
        <p:nvSpPr>
          <p:cNvPr id="37" name="comparison.case-frame.3"/>
          <p:cNvSpPr/>
          <p:nvPr/>
        </p:nvSpPr>
        <p:spPr>
          <a:xfrm>
            <a:off x="45720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38" name="text.37.186"/>
          <p:cNvSpPr txBox="1"/>
          <p:nvPr/>
        </p:nvSpPr>
        <p:spPr>
          <a:xfrm>
            <a:off x="55245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15</a:t>
            </a:r>
            <a:endParaRPr lang="zh-CN"/>
          </a:p>
        </p:txBody>
      </p:sp>
      <p:sp>
        <p:nvSpPr>
          <p:cNvPr id="39" name="text.38.187"/>
          <p:cNvSpPr txBox="1"/>
          <p:nvPr/>
        </p:nvSpPr>
        <p:spPr>
          <a:xfrm>
            <a:off x="89535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透视画廊比较</a:t>
            </a:r>
            <a:endParaRPr lang="zh-CN"/>
          </a:p>
        </p:txBody>
      </p:sp>
      <p:sp>
        <p:nvSpPr>
          <p:cNvPr id="40" name="text.39.188"/>
          <p:cNvSpPr txBox="1"/>
          <p:nvPr/>
        </p:nvSpPr>
        <p:spPr>
          <a:xfrm>
            <a:off x="531495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3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S07</a:t>
            </a:r>
            <a:endParaRPr lang="zh-CN"/>
          </a:p>
        </p:txBody>
      </p:sp>
      <p:sp>
        <p:nvSpPr>
          <p:cNvPr id="41" name="case.gallery.left.1"/>
          <p:cNvSpPr/>
          <p:nvPr/>
        </p:nvSpPr>
        <p:spPr>
          <a:xfrm>
            <a:off x="781050" y="4943210"/>
            <a:ext cx="1333500" cy="1156494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0000" h="141000">
                <a:moveTo>
                  <a:pt x="0" y="0"/>
                </a:moveTo>
                <a:lnTo>
                  <a:pt x="140000" y="27000"/>
                </a:lnTo>
                <a:lnTo>
                  <a:pt x="140000" y="114000"/>
                </a:lnTo>
                <a:lnTo>
                  <a:pt x="0" y="141000"/>
                </a:lnTo>
                <a:close/>
              </a:path>
            </a:pathLst>
          </a:custGeom>
          <a:solidFill>
            <a:srgbClr val="BDD5F1"/>
          </a:solidFill>
          <a:ln w="11483">
            <a:solidFill>
              <a:srgbClr val="0759BE"/>
            </a:solidFill>
            <a:prstDash val="solid"/>
          </a:ln>
        </p:spPr>
      </p:sp>
      <p:sp>
        <p:nvSpPr>
          <p:cNvPr id="42" name="case.gallery.front.2"/>
          <p:cNvSpPr/>
          <p:nvPr/>
        </p:nvSpPr>
        <p:spPr>
          <a:xfrm>
            <a:off x="2400300" y="4770967"/>
            <a:ext cx="1619250" cy="1353344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3" name="case.gallery.right.3"/>
          <p:cNvSpPr/>
          <p:nvPr/>
        </p:nvSpPr>
        <p:spPr>
          <a:xfrm>
            <a:off x="4305300" y="4943210"/>
            <a:ext cx="1333500" cy="1156494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0000" h="141000">
                <a:moveTo>
                  <a:pt x="0" y="27000"/>
                </a:moveTo>
                <a:lnTo>
                  <a:pt x="140000" y="0"/>
                </a:lnTo>
                <a:lnTo>
                  <a:pt x="140000" y="141000"/>
                </a:lnTo>
                <a:lnTo>
                  <a:pt x="0" y="114000"/>
                </a:lnTo>
                <a:close/>
              </a:path>
            </a:pathLst>
          </a:custGeom>
          <a:solidFill>
            <a:srgbClr val="BDD5F1"/>
          </a:solidFill>
          <a:ln w="11483">
            <a:solidFill>
              <a:srgbClr val="0759BE"/>
            </a:solidFill>
            <a:prstDash val="solid"/>
          </a:ln>
        </p:spPr>
      </p:sp>
      <p:sp>
        <p:nvSpPr>
          <p:cNvPr id="44" name="case.gallery.label.4.189"/>
          <p:cNvSpPr txBox="1"/>
          <p:nvPr/>
        </p:nvSpPr>
        <p:spPr>
          <a:xfrm>
            <a:off x="809625" y="537183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方案甲</a:t>
            </a:r>
            <a:endParaRPr lang="zh-CN"/>
          </a:p>
        </p:txBody>
      </p:sp>
      <p:sp>
        <p:nvSpPr>
          <p:cNvPr id="45" name="case.gallery.label.5.190"/>
          <p:cNvSpPr txBox="1"/>
          <p:nvPr/>
        </p:nvSpPr>
        <p:spPr>
          <a:xfrm>
            <a:off x="2457450" y="5017823"/>
            <a:ext cx="1504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方案乙</a:t>
            </a:r>
            <a:endParaRPr lang="zh-CN"/>
          </a:p>
        </p:txBody>
      </p:sp>
      <p:sp>
        <p:nvSpPr>
          <p:cNvPr id="46" name="case.gallery.label.6.191"/>
          <p:cNvSpPr txBox="1"/>
          <p:nvPr/>
        </p:nvSpPr>
        <p:spPr>
          <a:xfrm>
            <a:off x="2457450" y="5529659"/>
            <a:ext cx="1504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当前关注</a:t>
            </a:r>
            <a:endParaRPr lang="zh-CN"/>
          </a:p>
        </p:txBody>
      </p:sp>
      <p:sp>
        <p:nvSpPr>
          <p:cNvPr id="47" name="case.gallery.label.7.192"/>
          <p:cNvSpPr txBox="1"/>
          <p:nvPr/>
        </p:nvSpPr>
        <p:spPr>
          <a:xfrm>
            <a:off x="4343400" y="537183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方案丙</a:t>
            </a:r>
            <a:endParaRPr lang="zh-CN"/>
          </a:p>
        </p:txBody>
      </p:sp>
      <p:sp>
        <p:nvSpPr>
          <p:cNvPr id="48" name="text.47.193"/>
          <p:cNvSpPr txBox="1"/>
          <p:nvPr/>
        </p:nvSpPr>
        <p:spPr>
          <a:xfrm>
            <a:off x="60007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当前焦点：正视主方案，保留侧面比较</a:t>
            </a:r>
            <a:endParaRPr lang="zh-CN"/>
          </a:p>
        </p:txBody>
      </p:sp>
      <p:sp>
        <p:nvSpPr>
          <p:cNvPr id="49" name="comparison.case-frame.4"/>
          <p:cNvSpPr/>
          <p:nvPr/>
        </p:nvSpPr>
        <p:spPr>
          <a:xfrm>
            <a:off x="622935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50" name="text.49.194"/>
          <p:cNvSpPr txBox="1"/>
          <p:nvPr/>
        </p:nvSpPr>
        <p:spPr>
          <a:xfrm>
            <a:off x="632460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16</a:t>
            </a:r>
            <a:endParaRPr lang="zh-CN"/>
          </a:p>
        </p:txBody>
      </p:sp>
      <p:sp>
        <p:nvSpPr>
          <p:cNvPr id="51" name="text.50.195"/>
          <p:cNvSpPr txBox="1"/>
          <p:nvPr/>
        </p:nvSpPr>
        <p:spPr>
          <a:xfrm>
            <a:off x="666750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分离的空间层片</a:t>
            </a:r>
            <a:endParaRPr lang="zh-CN"/>
          </a:p>
        </p:txBody>
      </p:sp>
      <p:sp>
        <p:nvSpPr>
          <p:cNvPr id="52" name="text.51.196"/>
          <p:cNvSpPr txBox="1"/>
          <p:nvPr/>
        </p:nvSpPr>
        <p:spPr>
          <a:xfrm>
            <a:off x="1108710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4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S06</a:t>
            </a:r>
            <a:endParaRPr lang="zh-CN"/>
          </a:p>
        </p:txBody>
      </p:sp>
      <p:sp>
        <p:nvSpPr>
          <p:cNvPr id="53" name="case.layers.sheet.1"/>
          <p:cNvSpPr/>
          <p:nvPr/>
        </p:nvSpPr>
        <p:spPr>
          <a:xfrm>
            <a:off x="7239000" y="5722408"/>
            <a:ext cx="3486150" cy="418306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66000" h="51000">
                <a:moveTo>
                  <a:pt x="58560" y="0"/>
                </a:moveTo>
                <a:lnTo>
                  <a:pt x="307440" y="0"/>
                </a:lnTo>
                <a:lnTo>
                  <a:pt x="366000" y="51000"/>
                </a:lnTo>
                <a:lnTo>
                  <a:pt x="0" y="51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54" name="case.layers.label.2.197"/>
          <p:cNvSpPr txBox="1"/>
          <p:nvPr/>
        </p:nvSpPr>
        <p:spPr>
          <a:xfrm>
            <a:off x="7743825" y="5783263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数据层</a:t>
            </a:r>
            <a:endParaRPr lang="zh-CN"/>
          </a:p>
        </p:txBody>
      </p:sp>
      <p:sp>
        <p:nvSpPr>
          <p:cNvPr id="55" name="case.layers.sheet.3"/>
          <p:cNvSpPr/>
          <p:nvPr/>
        </p:nvSpPr>
        <p:spPr>
          <a:xfrm>
            <a:off x="7239000" y="5238485"/>
            <a:ext cx="3486150" cy="418306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66000" h="51000">
                <a:moveTo>
                  <a:pt x="58560" y="0"/>
                </a:moveTo>
                <a:lnTo>
                  <a:pt x="307440" y="0"/>
                </a:lnTo>
                <a:lnTo>
                  <a:pt x="366000" y="51000"/>
                </a:lnTo>
                <a:lnTo>
                  <a:pt x="0" y="5100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56" name="case.layers.label.4.198"/>
          <p:cNvSpPr txBox="1"/>
          <p:nvPr/>
        </p:nvSpPr>
        <p:spPr>
          <a:xfrm>
            <a:off x="7743825" y="529934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服务层</a:t>
            </a:r>
            <a:endParaRPr lang="zh-CN"/>
          </a:p>
        </p:txBody>
      </p:sp>
      <p:sp>
        <p:nvSpPr>
          <p:cNvPr id="57" name="case.layers.sheet.5"/>
          <p:cNvSpPr/>
          <p:nvPr/>
        </p:nvSpPr>
        <p:spPr>
          <a:xfrm>
            <a:off x="7239000" y="4754563"/>
            <a:ext cx="3486150" cy="418306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66000" h="51000">
                <a:moveTo>
                  <a:pt x="58560" y="0"/>
                </a:moveTo>
                <a:lnTo>
                  <a:pt x="307440" y="0"/>
                </a:lnTo>
                <a:lnTo>
                  <a:pt x="366000" y="51000"/>
                </a:lnTo>
                <a:lnTo>
                  <a:pt x="0" y="51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8" name="case.layers.label.6.199"/>
          <p:cNvSpPr txBox="1"/>
          <p:nvPr/>
        </p:nvSpPr>
        <p:spPr>
          <a:xfrm>
            <a:off x="7743825" y="4815417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交互层</a:t>
            </a:r>
            <a:endParaRPr lang="zh-CN"/>
          </a:p>
        </p:txBody>
      </p:sp>
      <p:sp>
        <p:nvSpPr>
          <p:cNvPr id="59" name="case.layers.guide.7"/>
          <p:cNvSpPr/>
          <p:nvPr/>
        </p:nvSpPr>
        <p:spPr>
          <a:xfrm>
            <a:off x="7600950" y="4926806"/>
            <a:ext cx="95" cy="1205706"/>
          </a:xfrm>
          <a:prstGeom prst="line">
            <a:avLst/>
          </a:prstGeom>
          <a:noFill/>
          <a:ln w="8202">
            <a:solidFill>
              <a:srgbClr val="A6B4C0"/>
            </a:solidFill>
            <a:prstDash val="dash"/>
          </a:ln>
        </p:spPr>
      </p:sp>
      <p:sp>
        <p:nvSpPr>
          <p:cNvPr id="60" name="case.layers.guide.8"/>
          <p:cNvSpPr/>
          <p:nvPr/>
        </p:nvSpPr>
        <p:spPr>
          <a:xfrm>
            <a:off x="10363200" y="4926806"/>
            <a:ext cx="95" cy="1205706"/>
          </a:xfrm>
          <a:prstGeom prst="line">
            <a:avLst/>
          </a:prstGeom>
          <a:noFill/>
          <a:ln w="8202">
            <a:solidFill>
              <a:srgbClr val="A6B4C0"/>
            </a:solidFill>
            <a:prstDash val="dash"/>
          </a:ln>
        </p:spPr>
      </p:sp>
      <p:sp>
        <p:nvSpPr>
          <p:cNvPr id="61" name="text.60.200"/>
          <p:cNvSpPr txBox="1"/>
          <p:nvPr/>
        </p:nvSpPr>
        <p:spPr>
          <a:xfrm>
            <a:off x="637222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系统层级：同一视角下纵向分离层片</a:t>
            </a:r>
            <a:endParaRPr lang="zh-CN"/>
          </a:p>
        </p:txBody>
      </p:sp>
      <p:sp>
        <p:nvSpPr>
          <p:cNvPr id="62" name="footer.rule.466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3" name="footer.label.467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梯形创意参考</a:t>
            </a:r>
            <a:endParaRPr lang="zh-CN"/>
          </a:p>
        </p:txBody>
      </p:sp>
      <p:sp>
        <p:nvSpPr>
          <p:cNvPr id="64" name="footer.page.468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5 / 13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201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202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2.5</a:t>
            </a:r>
            <a:endParaRPr lang="zh-CN"/>
          </a:p>
        </p:txBody>
      </p:sp>
      <p:sp>
        <p:nvSpPr>
          <p:cNvPr id="4" name="header.gradient.203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204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聚焦与支撑</a:t>
            </a:r>
            <a:endParaRPr lang="zh-CN"/>
          </a:p>
        </p:txBody>
      </p:sp>
      <p:sp>
        <p:nvSpPr>
          <p:cNvPr id="6" name="header.library.205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梯形创意图鉴</a:t>
            </a:r>
            <a:endParaRPr lang="zh-CN"/>
          </a:p>
        </p:txBody>
      </p:sp>
      <p:sp>
        <p:nvSpPr>
          <p:cNvPr id="7" name="info.lead.206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207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208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209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聚光灯集中注意；台座承托成果；桥梁跨越差距；拱石共同支撑目标。</a:t>
            </a:r>
            <a:endParaRPr lang="zh-CN"/>
          </a:p>
        </p:txBody>
      </p:sp>
      <p:sp>
        <p:nvSpPr>
          <p:cNvPr id="11" name="comparison.case-frame.1"/>
          <p:cNvSpPr/>
          <p:nvPr/>
        </p:nvSpPr>
        <p:spPr>
          <a:xfrm>
            <a:off x="45720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2" name="text.11.210"/>
          <p:cNvSpPr txBox="1"/>
          <p:nvPr/>
        </p:nvSpPr>
        <p:spPr>
          <a:xfrm>
            <a:off x="55245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17</a:t>
            </a:r>
            <a:endParaRPr lang="zh-CN"/>
          </a:p>
        </p:txBody>
      </p:sp>
      <p:sp>
        <p:nvSpPr>
          <p:cNvPr id="13" name="text.12.211"/>
          <p:cNvSpPr txBox="1"/>
          <p:nvPr/>
        </p:nvSpPr>
        <p:spPr>
          <a:xfrm>
            <a:off x="89535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梯形聚光灯</a:t>
            </a:r>
            <a:endParaRPr lang="zh-CN"/>
          </a:p>
        </p:txBody>
      </p:sp>
      <p:sp>
        <p:nvSpPr>
          <p:cNvPr id="14" name="text.13.212"/>
          <p:cNvSpPr txBox="1"/>
          <p:nvPr/>
        </p:nvSpPr>
        <p:spPr>
          <a:xfrm>
            <a:off x="531495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1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S01</a:t>
            </a:r>
            <a:endParaRPr lang="zh-CN"/>
          </a:p>
        </p:txBody>
      </p:sp>
      <p:sp>
        <p:nvSpPr>
          <p:cNvPr id="15" name="case.spotlight.stage.1"/>
          <p:cNvSpPr/>
          <p:nvPr/>
        </p:nvSpPr>
        <p:spPr>
          <a:xfrm>
            <a:off x="990600" y="3546475"/>
            <a:ext cx="4438650" cy="164042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66000" h="20000">
                <a:moveTo>
                  <a:pt x="13980" y="0"/>
                </a:moveTo>
                <a:lnTo>
                  <a:pt x="452020" y="0"/>
                </a:lnTo>
                <a:lnTo>
                  <a:pt x="466000" y="20000"/>
                </a:lnTo>
                <a:lnTo>
                  <a:pt x="0" y="20000"/>
                </a:lnTo>
                <a:close/>
              </a:path>
            </a:pathLst>
          </a:custGeom>
          <a:solidFill>
            <a:srgbClr val="074A9B"/>
          </a:solidFill>
          <a:ln w="0">
            <a:noFill/>
            <a:prstDash val="solid"/>
          </a:ln>
        </p:spPr>
      </p:sp>
      <p:sp>
        <p:nvSpPr>
          <p:cNvPr id="16" name="case.spotlight.secondary.left.2"/>
          <p:cNvSpPr/>
          <p:nvPr/>
        </p:nvSpPr>
        <p:spPr>
          <a:xfrm>
            <a:off x="1276350" y="3218392"/>
            <a:ext cx="333375" cy="287073"/>
          </a:xfrm>
          <a:prstGeom prst="ellipse">
            <a:avLst/>
          </a:prstGeom>
          <a:solidFill>
            <a:srgbClr val="ECF2FA"/>
          </a:solidFill>
          <a:ln w="0">
            <a:noFill/>
            <a:prstDash val="solid"/>
          </a:ln>
        </p:spPr>
      </p:sp>
      <p:sp>
        <p:nvSpPr>
          <p:cNvPr id="17" name="case.spotlight.secondary.right.3"/>
          <p:cNvSpPr/>
          <p:nvPr/>
        </p:nvSpPr>
        <p:spPr>
          <a:xfrm>
            <a:off x="4810125" y="3218392"/>
            <a:ext cx="333375" cy="287073"/>
          </a:xfrm>
          <a:prstGeom prst="ellipse">
            <a:avLst/>
          </a:prstGeom>
          <a:solidFill>
            <a:srgbClr val="ECF2FA"/>
          </a:solidFill>
          <a:ln w="0">
            <a:noFill/>
            <a:prstDash val="solid"/>
          </a:ln>
        </p:spPr>
      </p:sp>
      <p:sp>
        <p:nvSpPr>
          <p:cNvPr id="18" name="case.spotlight.beam.4"/>
          <p:cNvSpPr/>
          <p:nvPr/>
        </p:nvSpPr>
        <p:spPr>
          <a:xfrm>
            <a:off x="1638300" y="2586831"/>
            <a:ext cx="3143250" cy="976048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30000" h="119000">
                <a:moveTo>
                  <a:pt x="135300" y="0"/>
                </a:moveTo>
                <a:lnTo>
                  <a:pt x="194700" y="0"/>
                </a:lnTo>
                <a:lnTo>
                  <a:pt x="330000" y="119000"/>
                </a:lnTo>
                <a:lnTo>
                  <a:pt x="0" y="119000"/>
                </a:lnTo>
                <a:close/>
              </a:path>
            </a:pathLst>
          </a:custGeom>
          <a:solidFill>
            <a:srgbClr val="DDEBFA"/>
          </a:solidFill>
          <a:ln w="0">
            <a:noFill/>
            <a:prstDash val="solid"/>
          </a:ln>
        </p:spPr>
      </p:sp>
      <p:sp>
        <p:nvSpPr>
          <p:cNvPr id="19" name="case.spotlight.focus.5"/>
          <p:cNvSpPr/>
          <p:nvPr/>
        </p:nvSpPr>
        <p:spPr>
          <a:xfrm>
            <a:off x="2867025" y="3087158"/>
            <a:ext cx="685800" cy="590550"/>
          </a:xfrm>
          <a:prstGeom prst="ellipse">
            <a:avLst/>
          </a:prstGeom>
          <a:solidFill>
            <a:srgbClr val="FFFFFF"/>
          </a:solidFill>
          <a:ln w="12303">
            <a:solidFill>
              <a:srgbClr val="0759BE"/>
            </a:solidFill>
            <a:prstDash val="solid"/>
          </a:ln>
        </p:spPr>
      </p:sp>
      <p:sp>
        <p:nvSpPr>
          <p:cNvPr id="20" name="case.spotlight.label.6.213"/>
          <p:cNvSpPr txBox="1"/>
          <p:nvPr/>
        </p:nvSpPr>
        <p:spPr>
          <a:xfrm>
            <a:off x="2895600" y="3221170"/>
            <a:ext cx="6286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焦点</a:t>
            </a:r>
            <a:endParaRPr lang="zh-CN"/>
          </a:p>
        </p:txBody>
      </p:sp>
      <p:sp>
        <p:nvSpPr>
          <p:cNvPr id="21" name="case.spotlight.mount.7"/>
          <p:cNvSpPr/>
          <p:nvPr/>
        </p:nvSpPr>
        <p:spPr>
          <a:xfrm>
            <a:off x="3009900" y="2266950"/>
            <a:ext cx="400050" cy="98425"/>
          </a:xfrm>
          <a:prstGeom prst="rect">
            <a:avLst/>
          </a:prstGeom>
          <a:solidFill>
            <a:srgbClr val="074A9B"/>
          </a:solidFill>
          <a:ln w="0">
            <a:noFill/>
            <a:prstDash val="solid"/>
          </a:ln>
        </p:spPr>
      </p:sp>
      <p:sp>
        <p:nvSpPr>
          <p:cNvPr id="22" name="case.spotlight.lamp.8"/>
          <p:cNvSpPr/>
          <p:nvPr/>
        </p:nvSpPr>
        <p:spPr>
          <a:xfrm>
            <a:off x="2889885" y="2357173"/>
            <a:ext cx="640080" cy="221456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67200" h="27000">
                <a:moveTo>
                  <a:pt x="0" y="0"/>
                </a:moveTo>
                <a:lnTo>
                  <a:pt x="67200" y="0"/>
                </a:lnTo>
                <a:lnTo>
                  <a:pt x="58400" y="27000"/>
                </a:lnTo>
                <a:lnTo>
                  <a:pt x="8800" y="27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3" name="case.spotlight.leftRay.9"/>
          <p:cNvSpPr/>
          <p:nvPr/>
        </p:nvSpPr>
        <p:spPr>
          <a:xfrm flipH="1">
            <a:off x="1638300" y="2586831"/>
            <a:ext cx="1343025" cy="976048"/>
          </a:xfrm>
          <a:prstGeom prst="line">
            <a:avLst/>
          </a:prstGeom>
          <a:noFill/>
          <a:ln w="9022">
            <a:solidFill>
              <a:srgbClr val="9BBFE9"/>
            </a:solidFill>
            <a:prstDash val="solid"/>
          </a:ln>
        </p:spPr>
      </p:sp>
      <p:sp>
        <p:nvSpPr>
          <p:cNvPr id="24" name="case.spotlight.rightRay.10"/>
          <p:cNvSpPr/>
          <p:nvPr/>
        </p:nvSpPr>
        <p:spPr>
          <a:xfrm>
            <a:off x="3438525" y="2586831"/>
            <a:ext cx="1343025" cy="976048"/>
          </a:xfrm>
          <a:prstGeom prst="line">
            <a:avLst/>
          </a:prstGeom>
          <a:noFill/>
          <a:ln w="9022">
            <a:solidFill>
              <a:srgbClr val="9BBFE9"/>
            </a:solidFill>
            <a:prstDash val="solid"/>
          </a:ln>
        </p:spPr>
      </p:sp>
      <p:sp>
        <p:nvSpPr>
          <p:cNvPr id="25" name="text.24.214"/>
          <p:cNvSpPr txBox="1"/>
          <p:nvPr/>
        </p:nvSpPr>
        <p:spPr>
          <a:xfrm>
            <a:off x="60007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注意焦点：光束把视线引向当前对象</a:t>
            </a:r>
            <a:endParaRPr lang="zh-CN"/>
          </a:p>
        </p:txBody>
      </p:sp>
      <p:sp>
        <p:nvSpPr>
          <p:cNvPr id="26" name="comparison.case-frame.2"/>
          <p:cNvSpPr/>
          <p:nvPr/>
        </p:nvSpPr>
        <p:spPr>
          <a:xfrm>
            <a:off x="622935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27" name="text.26.215"/>
          <p:cNvSpPr txBox="1"/>
          <p:nvPr/>
        </p:nvSpPr>
        <p:spPr>
          <a:xfrm>
            <a:off x="632460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18</a:t>
            </a:r>
            <a:endParaRPr lang="zh-CN"/>
          </a:p>
        </p:txBody>
      </p:sp>
      <p:sp>
        <p:nvSpPr>
          <p:cNvPr id="28" name="text.27.216"/>
          <p:cNvSpPr txBox="1"/>
          <p:nvPr/>
        </p:nvSpPr>
        <p:spPr>
          <a:xfrm>
            <a:off x="666750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成果展示台</a:t>
            </a:r>
            <a:endParaRPr lang="zh-CN"/>
          </a:p>
        </p:txBody>
      </p:sp>
      <p:sp>
        <p:nvSpPr>
          <p:cNvPr id="29" name="text.28.217"/>
          <p:cNvSpPr txBox="1"/>
          <p:nvPr/>
        </p:nvSpPr>
        <p:spPr>
          <a:xfrm>
            <a:off x="1108710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2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S06</a:t>
            </a:r>
            <a:endParaRPr lang="zh-CN"/>
          </a:p>
        </p:txBody>
      </p:sp>
      <p:sp>
        <p:nvSpPr>
          <p:cNvPr id="30" name="case.platform.top.1"/>
          <p:cNvSpPr/>
          <p:nvPr/>
        </p:nvSpPr>
        <p:spPr>
          <a:xfrm>
            <a:off x="7219950" y="3029744"/>
            <a:ext cx="3524250" cy="39370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70000" h="48000">
                <a:moveTo>
                  <a:pt x="55500" y="0"/>
                </a:moveTo>
                <a:lnTo>
                  <a:pt x="314500" y="0"/>
                </a:lnTo>
                <a:lnTo>
                  <a:pt x="370000" y="48000"/>
                </a:lnTo>
                <a:lnTo>
                  <a:pt x="0" y="48000"/>
                </a:lnTo>
                <a:close/>
              </a:path>
            </a:pathLst>
          </a:custGeom>
          <a:solidFill>
            <a:srgbClr val="BDD5F1"/>
          </a:solidFill>
          <a:ln w="9843">
            <a:solidFill>
              <a:srgbClr val="0759BE"/>
            </a:solidFill>
            <a:prstDash val="solid"/>
          </a:ln>
        </p:spPr>
      </p:sp>
      <p:sp>
        <p:nvSpPr>
          <p:cNvPr id="31" name="case.platform.front.2"/>
          <p:cNvSpPr/>
          <p:nvPr/>
        </p:nvSpPr>
        <p:spPr>
          <a:xfrm>
            <a:off x="7219950" y="3423444"/>
            <a:ext cx="3524250" cy="29527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70000" h="36000">
                <a:moveTo>
                  <a:pt x="0" y="0"/>
                </a:moveTo>
                <a:lnTo>
                  <a:pt x="370000" y="0"/>
                </a:lnTo>
                <a:lnTo>
                  <a:pt x="353350" y="36000"/>
                </a:lnTo>
                <a:lnTo>
                  <a:pt x="16650" y="36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2" name="case.platform.result.3"/>
          <p:cNvSpPr/>
          <p:nvPr/>
        </p:nvSpPr>
        <p:spPr>
          <a:xfrm>
            <a:off x="8239125" y="2283354"/>
            <a:ext cx="1485900" cy="935038"/>
          </a:xfrm>
          <a:prstGeom prst="rect">
            <a:avLst/>
          </a:prstGeom>
          <a:solidFill>
            <a:srgbClr val="074A9B"/>
          </a:solidFill>
          <a:ln w="0">
            <a:noFill/>
            <a:prstDash val="solid"/>
          </a:ln>
        </p:spPr>
      </p:sp>
      <p:sp>
        <p:nvSpPr>
          <p:cNvPr id="33" name="case.platform.label.4.218"/>
          <p:cNvSpPr txBox="1"/>
          <p:nvPr/>
        </p:nvSpPr>
        <p:spPr>
          <a:xfrm>
            <a:off x="8286750" y="2571221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项目成果</a:t>
            </a:r>
            <a:endParaRPr lang="zh-CN"/>
          </a:p>
        </p:txBody>
      </p:sp>
      <p:sp>
        <p:nvSpPr>
          <p:cNvPr id="34" name="case.platform.label.5.219"/>
          <p:cNvSpPr txBox="1"/>
          <p:nvPr/>
        </p:nvSpPr>
        <p:spPr>
          <a:xfrm>
            <a:off x="7800975" y="3419343"/>
            <a:ext cx="2362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公共支撑</a:t>
            </a:r>
            <a:endParaRPr lang="zh-CN"/>
          </a:p>
        </p:txBody>
      </p:sp>
      <p:sp>
        <p:nvSpPr>
          <p:cNvPr id="35" name="text.34.220"/>
          <p:cNvSpPr txBox="1"/>
          <p:nvPr/>
        </p:nvSpPr>
        <p:spPr>
          <a:xfrm>
            <a:off x="637222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承托位置：台座区分成果与公共基础</a:t>
            </a:r>
            <a:endParaRPr lang="zh-CN"/>
          </a:p>
        </p:txBody>
      </p:sp>
      <p:sp>
        <p:nvSpPr>
          <p:cNvPr id="36" name="comparison.case-frame.3"/>
          <p:cNvSpPr/>
          <p:nvPr/>
        </p:nvSpPr>
        <p:spPr>
          <a:xfrm>
            <a:off x="45720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37" name="text.36.221"/>
          <p:cNvSpPr txBox="1"/>
          <p:nvPr/>
        </p:nvSpPr>
        <p:spPr>
          <a:xfrm>
            <a:off x="55245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19</a:t>
            </a:r>
            <a:endParaRPr lang="zh-CN"/>
          </a:p>
        </p:txBody>
      </p:sp>
      <p:sp>
        <p:nvSpPr>
          <p:cNvPr id="38" name="text.37.222"/>
          <p:cNvSpPr txBox="1"/>
          <p:nvPr/>
        </p:nvSpPr>
        <p:spPr>
          <a:xfrm>
            <a:off x="89535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跨越缺口的桥梁</a:t>
            </a:r>
            <a:endParaRPr lang="zh-CN"/>
          </a:p>
        </p:txBody>
      </p:sp>
      <p:sp>
        <p:nvSpPr>
          <p:cNvPr id="39" name="text.38.223"/>
          <p:cNvSpPr txBox="1"/>
          <p:nvPr/>
        </p:nvSpPr>
        <p:spPr>
          <a:xfrm>
            <a:off x="531495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3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S11</a:t>
            </a:r>
            <a:endParaRPr lang="zh-CN"/>
          </a:p>
        </p:txBody>
      </p:sp>
      <p:sp>
        <p:nvSpPr>
          <p:cNvPr id="40" name="case.bridge.label.1.224"/>
          <p:cNvSpPr txBox="1"/>
          <p:nvPr/>
        </p:nvSpPr>
        <p:spPr>
          <a:xfrm>
            <a:off x="1047750" y="4681538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现状</a:t>
            </a:r>
            <a:endParaRPr lang="zh-CN"/>
          </a:p>
        </p:txBody>
      </p:sp>
      <p:sp>
        <p:nvSpPr>
          <p:cNvPr id="41" name="case.bridge.label.2.225"/>
          <p:cNvSpPr txBox="1"/>
          <p:nvPr/>
        </p:nvSpPr>
        <p:spPr>
          <a:xfrm>
            <a:off x="3752850" y="4681538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目标</a:t>
            </a:r>
            <a:endParaRPr lang="zh-CN"/>
          </a:p>
        </p:txBody>
      </p:sp>
      <p:sp>
        <p:nvSpPr>
          <p:cNvPr id="42" name="case.bridge.pier.left.3"/>
          <p:cNvSpPr/>
          <p:nvPr/>
        </p:nvSpPr>
        <p:spPr>
          <a:xfrm>
            <a:off x="1276350" y="5386123"/>
            <a:ext cx="1104900" cy="754592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16000" h="92000">
                <a:moveTo>
                  <a:pt x="20300" y="0"/>
                </a:moveTo>
                <a:lnTo>
                  <a:pt x="95700" y="0"/>
                </a:lnTo>
                <a:lnTo>
                  <a:pt x="116000" y="92000"/>
                </a:lnTo>
                <a:lnTo>
                  <a:pt x="0" y="92000"/>
                </a:lnTo>
                <a:close/>
              </a:path>
            </a:pathLst>
          </a:custGeom>
          <a:solidFill>
            <a:srgbClr val="BDD5F1"/>
          </a:solidFill>
          <a:ln w="9843">
            <a:solidFill>
              <a:srgbClr val="0759BE"/>
            </a:solidFill>
            <a:prstDash val="solid"/>
          </a:ln>
        </p:spPr>
      </p:sp>
      <p:sp>
        <p:nvSpPr>
          <p:cNvPr id="43" name="case.bridge.pier.right.4"/>
          <p:cNvSpPr/>
          <p:nvPr/>
        </p:nvSpPr>
        <p:spPr>
          <a:xfrm>
            <a:off x="4038600" y="5386123"/>
            <a:ext cx="1104900" cy="754592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16000" h="92000">
                <a:moveTo>
                  <a:pt x="20300" y="0"/>
                </a:moveTo>
                <a:lnTo>
                  <a:pt x="95700" y="0"/>
                </a:lnTo>
                <a:lnTo>
                  <a:pt x="116000" y="92000"/>
                </a:lnTo>
                <a:lnTo>
                  <a:pt x="0" y="92000"/>
                </a:lnTo>
                <a:close/>
              </a:path>
            </a:pathLst>
          </a:custGeom>
          <a:solidFill>
            <a:srgbClr val="BDD5F1"/>
          </a:solidFill>
          <a:ln w="9843">
            <a:solidFill>
              <a:srgbClr val="0759BE"/>
            </a:solidFill>
            <a:prstDash val="solid"/>
          </a:ln>
        </p:spPr>
      </p:sp>
      <p:sp>
        <p:nvSpPr>
          <p:cNvPr id="44" name="case.bridge.deck.5"/>
          <p:cNvSpPr/>
          <p:nvPr/>
        </p:nvSpPr>
        <p:spPr>
          <a:xfrm>
            <a:off x="1114425" y="5131858"/>
            <a:ext cx="4191000" cy="287073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5" name="case.bridge.label.6.226"/>
          <p:cNvSpPr txBox="1"/>
          <p:nvPr/>
        </p:nvSpPr>
        <p:spPr>
          <a:xfrm>
            <a:off x="2181225" y="5108707"/>
            <a:ext cx="2057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转化机制</a:t>
            </a:r>
            <a:endParaRPr lang="zh-CN"/>
          </a:p>
        </p:txBody>
      </p:sp>
      <p:sp>
        <p:nvSpPr>
          <p:cNvPr id="46" name="case.bridge.label.7.227"/>
          <p:cNvSpPr txBox="1"/>
          <p:nvPr/>
        </p:nvSpPr>
        <p:spPr>
          <a:xfrm>
            <a:off x="1381125" y="5634964"/>
            <a:ext cx="895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基础</a:t>
            </a:r>
            <a:endParaRPr lang="zh-CN"/>
          </a:p>
        </p:txBody>
      </p:sp>
      <p:sp>
        <p:nvSpPr>
          <p:cNvPr id="47" name="case.bridge.label.8.228"/>
          <p:cNvSpPr txBox="1"/>
          <p:nvPr/>
        </p:nvSpPr>
        <p:spPr>
          <a:xfrm>
            <a:off x="4143375" y="5634964"/>
            <a:ext cx="895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支撑</a:t>
            </a:r>
            <a:endParaRPr lang="zh-CN"/>
          </a:p>
        </p:txBody>
      </p:sp>
      <p:sp>
        <p:nvSpPr>
          <p:cNvPr id="48" name="case.bridge.label.9.229"/>
          <p:cNvSpPr txBox="1"/>
          <p:nvPr/>
        </p:nvSpPr>
        <p:spPr>
          <a:xfrm>
            <a:off x="2447925" y="5634964"/>
            <a:ext cx="1524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能力建设</a:t>
            </a:r>
            <a:endParaRPr lang="zh-CN"/>
          </a:p>
        </p:txBody>
      </p:sp>
      <p:sp>
        <p:nvSpPr>
          <p:cNvPr id="49" name="case.bridge.ground.10"/>
          <p:cNvSpPr/>
          <p:nvPr/>
        </p:nvSpPr>
        <p:spPr>
          <a:xfrm>
            <a:off x="914400" y="6148917"/>
            <a:ext cx="4591050" cy="82"/>
          </a:xfrm>
          <a:prstGeom prst="line">
            <a:avLst/>
          </a:prstGeom>
          <a:noFill/>
          <a:ln w="11483">
            <a:solidFill>
              <a:srgbClr val="A6B4C0"/>
            </a:solidFill>
            <a:prstDash val="solid"/>
          </a:ln>
        </p:spPr>
      </p:sp>
      <p:sp>
        <p:nvSpPr>
          <p:cNvPr id="50" name="text.49.230"/>
          <p:cNvSpPr txBox="1"/>
          <p:nvPr/>
        </p:nvSpPr>
        <p:spPr>
          <a:xfrm>
            <a:off x="60007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跨越差距：中间机制连接现状与目标</a:t>
            </a:r>
            <a:endParaRPr lang="zh-CN"/>
          </a:p>
        </p:txBody>
      </p:sp>
      <p:sp>
        <p:nvSpPr>
          <p:cNvPr id="51" name="comparison.case-frame.4"/>
          <p:cNvSpPr/>
          <p:nvPr/>
        </p:nvSpPr>
        <p:spPr>
          <a:xfrm>
            <a:off x="622935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52" name="text.51.231"/>
          <p:cNvSpPr txBox="1"/>
          <p:nvPr/>
        </p:nvSpPr>
        <p:spPr>
          <a:xfrm>
            <a:off x="632460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20</a:t>
            </a:r>
            <a:endParaRPr lang="zh-CN"/>
          </a:p>
        </p:txBody>
      </p:sp>
      <p:sp>
        <p:nvSpPr>
          <p:cNvPr id="53" name="text.52.232"/>
          <p:cNvSpPr txBox="1"/>
          <p:nvPr/>
        </p:nvSpPr>
        <p:spPr>
          <a:xfrm>
            <a:off x="666750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梯形拱石围合</a:t>
            </a:r>
            <a:endParaRPr lang="zh-CN"/>
          </a:p>
        </p:txBody>
      </p:sp>
      <p:sp>
        <p:nvSpPr>
          <p:cNvPr id="54" name="text.53.233"/>
          <p:cNvSpPr txBox="1"/>
          <p:nvPr/>
        </p:nvSpPr>
        <p:spPr>
          <a:xfrm>
            <a:off x="1108710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4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S11</a:t>
            </a:r>
            <a:endParaRPr lang="zh-CN"/>
          </a:p>
        </p:txBody>
      </p:sp>
      <p:sp>
        <p:nvSpPr>
          <p:cNvPr id="55" name="case.arch.stone.1"/>
          <p:cNvSpPr/>
          <p:nvPr/>
        </p:nvSpPr>
        <p:spPr>
          <a:xfrm>
            <a:off x="7420151" y="5526111"/>
            <a:ext cx="671721" cy="55271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70522" h="67388">
                <a:moveTo>
                  <a:pt x="0" y="66473"/>
                </a:moveTo>
                <a:lnTo>
                  <a:pt x="15172" y="0"/>
                </a:lnTo>
                <a:lnTo>
                  <a:pt x="70522" y="25640"/>
                </a:lnTo>
                <a:lnTo>
                  <a:pt x="60993" y="67388"/>
                </a:lnTo>
                <a:close/>
              </a:path>
            </a:pathLst>
          </a:custGeom>
          <a:solidFill>
            <a:srgbClr val="357BD2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56" name="case.arch.label.2.234"/>
          <p:cNvSpPr txBox="1"/>
          <p:nvPr/>
        </p:nvSpPr>
        <p:spPr>
          <a:xfrm>
            <a:off x="7570919" y="5695447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1</a:t>
            </a:r>
            <a:endParaRPr lang="zh-CN"/>
          </a:p>
        </p:txBody>
      </p:sp>
      <p:sp>
        <p:nvSpPr>
          <p:cNvPr id="57" name="case.arch.stone.3"/>
          <p:cNvSpPr/>
          <p:nvPr/>
        </p:nvSpPr>
        <p:spPr>
          <a:xfrm>
            <a:off x="7584996" y="5052526"/>
            <a:ext cx="773952" cy="66104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81255" h="80595">
                <a:moveTo>
                  <a:pt x="0" y="53307"/>
                </a:moveTo>
                <a:lnTo>
                  <a:pt x="42511" y="0"/>
                </a:lnTo>
                <a:lnTo>
                  <a:pt x="81255" y="47116"/>
                </a:lnTo>
                <a:lnTo>
                  <a:pt x="54556" y="80595"/>
                </a:lnTo>
                <a:close/>
              </a:path>
            </a:pathLst>
          </a:custGeom>
          <a:solidFill>
            <a:srgbClr val="74A5E1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58" name="case.arch.label.4.235"/>
          <p:cNvSpPr txBox="1"/>
          <p:nvPr/>
        </p:nvSpPr>
        <p:spPr>
          <a:xfrm>
            <a:off x="7816458" y="5256394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</a:t>
            </a:r>
            <a:endParaRPr lang="zh-CN"/>
          </a:p>
        </p:txBody>
      </p:sp>
      <p:sp>
        <p:nvSpPr>
          <p:cNvPr id="59" name="case.arch.stone.5"/>
          <p:cNvSpPr/>
          <p:nvPr/>
        </p:nvSpPr>
        <p:spPr>
          <a:xfrm>
            <a:off x="8026550" y="4784723"/>
            <a:ext cx="722893" cy="63845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75894" h="77840">
                <a:moveTo>
                  <a:pt x="0" y="29583"/>
                </a:moveTo>
                <a:lnTo>
                  <a:pt x="61430" y="0"/>
                </a:lnTo>
                <a:lnTo>
                  <a:pt x="75894" y="59260"/>
                </a:lnTo>
                <a:lnTo>
                  <a:pt x="37313" y="77840"/>
                </a:lnTo>
                <a:close/>
              </a:path>
            </a:pathLst>
          </a:custGeom>
          <a:solidFill>
            <a:srgbClr val="BDD5F1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60" name="case.arch.label.6.236"/>
          <p:cNvSpPr txBox="1"/>
          <p:nvPr/>
        </p:nvSpPr>
        <p:spPr>
          <a:xfrm>
            <a:off x="8258904" y="4952561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3</a:t>
            </a:r>
            <a:endParaRPr lang="zh-CN"/>
          </a:p>
        </p:txBody>
      </p:sp>
      <p:sp>
        <p:nvSpPr>
          <p:cNvPr id="61" name="case.arch.stone.7"/>
          <p:cNvSpPr/>
          <p:nvPr/>
        </p:nvSpPr>
        <p:spPr>
          <a:xfrm>
            <a:off x="8657357" y="4775744"/>
            <a:ext cx="649435" cy="489398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68182" h="59668">
                <a:moveTo>
                  <a:pt x="0" y="0"/>
                </a:moveTo>
                <a:lnTo>
                  <a:pt x="68182" y="0"/>
                </a:lnTo>
                <a:lnTo>
                  <a:pt x="55502" y="59668"/>
                </a:lnTo>
                <a:lnTo>
                  <a:pt x="12680" y="59668"/>
                </a:lnTo>
                <a:close/>
              </a:path>
            </a:pathLst>
          </a:custGeom>
          <a:solidFill>
            <a:srgbClr val="0759BE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62" name="case.arch.label.8.237"/>
          <p:cNvSpPr txBox="1"/>
          <p:nvPr/>
        </p:nvSpPr>
        <p:spPr>
          <a:xfrm>
            <a:off x="8810625" y="4844124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4</a:t>
            </a:r>
            <a:endParaRPr lang="zh-CN"/>
          </a:p>
        </p:txBody>
      </p:sp>
      <p:sp>
        <p:nvSpPr>
          <p:cNvPr id="63" name="case.arch.stone.9"/>
          <p:cNvSpPr/>
          <p:nvPr/>
        </p:nvSpPr>
        <p:spPr>
          <a:xfrm>
            <a:off x="9214707" y="4784723"/>
            <a:ext cx="722893" cy="63845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75894" h="77840">
                <a:moveTo>
                  <a:pt x="14464" y="0"/>
                </a:moveTo>
                <a:lnTo>
                  <a:pt x="75894" y="29583"/>
                </a:lnTo>
                <a:lnTo>
                  <a:pt x="38581" y="77840"/>
                </a:lnTo>
                <a:lnTo>
                  <a:pt x="0" y="59260"/>
                </a:lnTo>
                <a:close/>
              </a:path>
            </a:pathLst>
          </a:custGeom>
          <a:solidFill>
            <a:srgbClr val="74A5E1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64" name="case.arch.label.10.238"/>
          <p:cNvSpPr txBox="1"/>
          <p:nvPr/>
        </p:nvSpPr>
        <p:spPr>
          <a:xfrm>
            <a:off x="9362346" y="4952561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5</a:t>
            </a:r>
            <a:endParaRPr lang="zh-CN"/>
          </a:p>
        </p:txBody>
      </p:sp>
      <p:sp>
        <p:nvSpPr>
          <p:cNvPr id="65" name="case.arch.stone.11"/>
          <p:cNvSpPr/>
          <p:nvPr/>
        </p:nvSpPr>
        <p:spPr>
          <a:xfrm>
            <a:off x="9605202" y="5052526"/>
            <a:ext cx="773952" cy="66104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81255" h="80595">
                <a:moveTo>
                  <a:pt x="38744" y="0"/>
                </a:moveTo>
                <a:lnTo>
                  <a:pt x="81255" y="53307"/>
                </a:lnTo>
                <a:lnTo>
                  <a:pt x="26699" y="80595"/>
                </a:lnTo>
                <a:lnTo>
                  <a:pt x="0" y="47116"/>
                </a:lnTo>
                <a:close/>
              </a:path>
            </a:pathLst>
          </a:custGeom>
          <a:solidFill>
            <a:srgbClr val="BDD5F1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66" name="case.arch.label.12.239"/>
          <p:cNvSpPr txBox="1"/>
          <p:nvPr/>
        </p:nvSpPr>
        <p:spPr>
          <a:xfrm>
            <a:off x="9804792" y="5256394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6</a:t>
            </a:r>
            <a:endParaRPr lang="zh-CN"/>
          </a:p>
        </p:txBody>
      </p:sp>
      <p:sp>
        <p:nvSpPr>
          <p:cNvPr id="67" name="case.arch.stone.13"/>
          <p:cNvSpPr/>
          <p:nvPr/>
        </p:nvSpPr>
        <p:spPr>
          <a:xfrm>
            <a:off x="9872278" y="5526111"/>
            <a:ext cx="671721" cy="55271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70522" h="67388">
                <a:moveTo>
                  <a:pt x="55350" y="0"/>
                </a:moveTo>
                <a:lnTo>
                  <a:pt x="70522" y="66473"/>
                </a:lnTo>
                <a:lnTo>
                  <a:pt x="9529" y="67388"/>
                </a:lnTo>
                <a:lnTo>
                  <a:pt x="0" y="25640"/>
                </a:lnTo>
                <a:close/>
              </a:path>
            </a:pathLst>
          </a:custGeom>
          <a:solidFill>
            <a:srgbClr val="357BD2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68" name="case.arch.label.14.240"/>
          <p:cNvSpPr txBox="1"/>
          <p:nvPr/>
        </p:nvSpPr>
        <p:spPr>
          <a:xfrm>
            <a:off x="10050331" y="5695447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7</a:t>
            </a:r>
            <a:endParaRPr lang="zh-CN"/>
          </a:p>
        </p:txBody>
      </p:sp>
      <p:sp>
        <p:nvSpPr>
          <p:cNvPr id="69" name="case.arch.leftBase.15"/>
          <p:cNvSpPr/>
          <p:nvPr/>
        </p:nvSpPr>
        <p:spPr>
          <a:xfrm>
            <a:off x="7315200" y="6083300"/>
            <a:ext cx="809625" cy="90223"/>
          </a:xfrm>
          <a:prstGeom prst="rect">
            <a:avLst/>
          </a:prstGeom>
          <a:solidFill>
            <a:srgbClr val="074A9B"/>
          </a:solidFill>
          <a:ln w="0">
            <a:noFill/>
            <a:prstDash val="solid"/>
          </a:ln>
        </p:spPr>
      </p:sp>
      <p:sp>
        <p:nvSpPr>
          <p:cNvPr id="70" name="case.arch.rightBase.16"/>
          <p:cNvSpPr/>
          <p:nvPr/>
        </p:nvSpPr>
        <p:spPr>
          <a:xfrm>
            <a:off x="9839325" y="6083300"/>
            <a:ext cx="809625" cy="90223"/>
          </a:xfrm>
          <a:prstGeom prst="rect">
            <a:avLst/>
          </a:prstGeom>
          <a:solidFill>
            <a:srgbClr val="074A9B"/>
          </a:solidFill>
          <a:ln w="0">
            <a:noFill/>
            <a:prstDash val="solid"/>
          </a:ln>
        </p:spPr>
      </p:sp>
      <p:sp>
        <p:nvSpPr>
          <p:cNvPr id="71" name="case.arch.label.17.241"/>
          <p:cNvSpPr txBox="1"/>
          <p:nvPr/>
        </p:nvSpPr>
        <p:spPr>
          <a:xfrm>
            <a:off x="8124825" y="5732727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共同目标</a:t>
            </a:r>
            <a:endParaRPr lang="zh-CN"/>
          </a:p>
        </p:txBody>
      </p:sp>
      <p:sp>
        <p:nvSpPr>
          <p:cNvPr id="72" name="text.71.242"/>
          <p:cNvSpPr txBox="1"/>
          <p:nvPr/>
        </p:nvSpPr>
        <p:spPr>
          <a:xfrm>
            <a:off x="637222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共同支撑：多个环节围出成果空间</a:t>
            </a:r>
            <a:endParaRPr lang="zh-CN"/>
          </a:p>
        </p:txBody>
      </p:sp>
      <p:sp>
        <p:nvSpPr>
          <p:cNvPr id="73" name="footer.rule.469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74" name="footer.label.470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梯形创意参考</a:t>
            </a:r>
            <a:endParaRPr lang="zh-CN"/>
          </a:p>
        </p:txBody>
      </p:sp>
      <p:sp>
        <p:nvSpPr>
          <p:cNvPr id="75" name="footer.page.471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6 / 13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243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244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2.6</a:t>
            </a:r>
            <a:endParaRPr lang="zh-CN"/>
          </a:p>
        </p:txBody>
      </p:sp>
      <p:sp>
        <p:nvSpPr>
          <p:cNvPr id="4" name="header.gradient.245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246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物件与权衡</a:t>
            </a:r>
            <a:endParaRPr lang="zh-CN"/>
          </a:p>
        </p:txBody>
      </p:sp>
      <p:sp>
        <p:nvSpPr>
          <p:cNvPr id="6" name="header.library.247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梯形创意图鉴</a:t>
            </a:r>
            <a:endParaRPr lang="zh-CN"/>
          </a:p>
        </p:txBody>
      </p:sp>
      <p:sp>
        <p:nvSpPr>
          <p:cNvPr id="7" name="info.lead.248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249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250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251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袋身容纳资源；书页对照内容；秤盘建立权衡基准；屋顶统合独立职责。</a:t>
            </a:r>
            <a:endParaRPr lang="zh-CN"/>
          </a:p>
        </p:txBody>
      </p:sp>
      <p:sp>
        <p:nvSpPr>
          <p:cNvPr id="11" name="comparison.case-frame.1"/>
          <p:cNvSpPr/>
          <p:nvPr/>
        </p:nvSpPr>
        <p:spPr>
          <a:xfrm>
            <a:off x="45720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2" name="text.11.252"/>
          <p:cNvSpPr txBox="1"/>
          <p:nvPr/>
        </p:nvSpPr>
        <p:spPr>
          <a:xfrm>
            <a:off x="55245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21</a:t>
            </a:r>
            <a:endParaRPr lang="zh-CN"/>
          </a:p>
        </p:txBody>
      </p:sp>
      <p:sp>
        <p:nvSpPr>
          <p:cNvPr id="13" name="text.12.253"/>
          <p:cNvSpPr txBox="1"/>
          <p:nvPr/>
        </p:nvSpPr>
        <p:spPr>
          <a:xfrm>
            <a:off x="89535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购物袋与资源容器</a:t>
            </a:r>
            <a:endParaRPr lang="zh-CN"/>
          </a:p>
        </p:txBody>
      </p:sp>
      <p:sp>
        <p:nvSpPr>
          <p:cNvPr id="14" name="text.13.254"/>
          <p:cNvSpPr txBox="1"/>
          <p:nvPr/>
        </p:nvSpPr>
        <p:spPr>
          <a:xfrm>
            <a:off x="531495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1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S02</a:t>
            </a:r>
            <a:endParaRPr lang="zh-CN"/>
          </a:p>
        </p:txBody>
      </p:sp>
      <p:sp>
        <p:nvSpPr>
          <p:cNvPr id="15" name="case.bag.handle.1"/>
          <p:cNvSpPr/>
          <p:nvPr/>
        </p:nvSpPr>
        <p:spPr>
          <a:xfrm>
            <a:off x="2657475" y="2266950"/>
            <a:ext cx="1104900" cy="918633"/>
          </a:xfrm>
          <a:prstGeom prst="ellipse">
            <a:avLst/>
          </a:prstGeom>
          <a:noFill/>
          <a:ln w="65617">
            <a:solidFill>
              <a:srgbClr val="074A9B"/>
            </a:solidFill>
            <a:prstDash val="solid"/>
          </a:ln>
        </p:spPr>
      </p:sp>
      <p:sp>
        <p:nvSpPr>
          <p:cNvPr id="16" name="case.bag.side.2"/>
          <p:cNvSpPr/>
          <p:nvPr/>
        </p:nvSpPr>
        <p:spPr>
          <a:xfrm>
            <a:off x="2356104" y="2701660"/>
            <a:ext cx="2202942" cy="1017058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31280" h="124000">
                <a:moveTo>
                  <a:pt x="0" y="0"/>
                </a:moveTo>
                <a:lnTo>
                  <a:pt x="231280" y="0"/>
                </a:lnTo>
                <a:lnTo>
                  <a:pt x="204140" y="124000"/>
                </a:lnTo>
                <a:lnTo>
                  <a:pt x="27140" y="124000"/>
                </a:lnTo>
                <a:close/>
              </a:path>
            </a:pathLst>
          </a:custGeom>
          <a:solidFill>
            <a:srgbClr val="074A9B"/>
          </a:solidFill>
          <a:ln w="0">
            <a:noFill/>
            <a:prstDash val="solid"/>
          </a:ln>
        </p:spPr>
      </p:sp>
      <p:sp>
        <p:nvSpPr>
          <p:cNvPr id="17" name="case.bag.front.3"/>
          <p:cNvSpPr/>
          <p:nvPr/>
        </p:nvSpPr>
        <p:spPr>
          <a:xfrm>
            <a:off x="2009775" y="2759075"/>
            <a:ext cx="2247900" cy="959644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36000" h="117000">
                <a:moveTo>
                  <a:pt x="0" y="0"/>
                </a:moveTo>
                <a:lnTo>
                  <a:pt x="236000" y="0"/>
                </a:lnTo>
                <a:lnTo>
                  <a:pt x="212400" y="117000"/>
                </a:lnTo>
                <a:lnTo>
                  <a:pt x="23600" y="117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8" name="case.bag.fold.4"/>
          <p:cNvSpPr/>
          <p:nvPr/>
        </p:nvSpPr>
        <p:spPr>
          <a:xfrm>
            <a:off x="2133600" y="2816490"/>
            <a:ext cx="1990725" cy="57415"/>
          </a:xfrm>
          <a:prstGeom prst="rect">
            <a:avLst/>
          </a:pr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19" name="case.bag.label.5.255"/>
          <p:cNvSpPr txBox="1"/>
          <p:nvPr/>
        </p:nvSpPr>
        <p:spPr>
          <a:xfrm>
            <a:off x="2324100" y="2935684"/>
            <a:ext cx="1619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资源包</a:t>
            </a:r>
            <a:endParaRPr lang="zh-CN"/>
          </a:p>
        </p:txBody>
      </p:sp>
      <p:sp>
        <p:nvSpPr>
          <p:cNvPr id="20" name="case.bag.rule.6"/>
          <p:cNvSpPr/>
          <p:nvPr/>
        </p:nvSpPr>
        <p:spPr>
          <a:xfrm>
            <a:off x="2428875" y="3300413"/>
            <a:ext cx="1409700" cy="82"/>
          </a:xfrm>
          <a:prstGeom prst="line">
            <a:avLst/>
          </a:prstGeom>
          <a:noFill/>
          <a:ln w="8202">
            <a:solidFill>
              <a:srgbClr val="BDD5F1"/>
            </a:solidFill>
            <a:prstDash val="solid"/>
          </a:ln>
        </p:spPr>
      </p:sp>
      <p:sp>
        <p:nvSpPr>
          <p:cNvPr id="21" name="case.bag.label.7.256"/>
          <p:cNvSpPr txBox="1"/>
          <p:nvPr/>
        </p:nvSpPr>
        <p:spPr>
          <a:xfrm>
            <a:off x="2238375" y="3336660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方法与工具</a:t>
            </a:r>
            <a:endParaRPr lang="zh-CN"/>
          </a:p>
        </p:txBody>
      </p:sp>
      <p:sp>
        <p:nvSpPr>
          <p:cNvPr id="22" name="text.21.257"/>
          <p:cNvSpPr txBox="1"/>
          <p:nvPr/>
        </p:nvSpPr>
        <p:spPr>
          <a:xfrm>
            <a:off x="60007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资源容器：组合内容形成可交付的整体</a:t>
            </a:r>
            <a:endParaRPr lang="zh-CN"/>
          </a:p>
        </p:txBody>
      </p:sp>
      <p:sp>
        <p:nvSpPr>
          <p:cNvPr id="23" name="comparison.case-frame.2"/>
          <p:cNvSpPr/>
          <p:nvPr/>
        </p:nvSpPr>
        <p:spPr>
          <a:xfrm>
            <a:off x="622935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24" name="text.23.258"/>
          <p:cNvSpPr txBox="1"/>
          <p:nvPr/>
        </p:nvSpPr>
        <p:spPr>
          <a:xfrm>
            <a:off x="632460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22</a:t>
            </a:r>
            <a:endParaRPr lang="zh-CN"/>
          </a:p>
        </p:txBody>
      </p:sp>
      <p:sp>
        <p:nvSpPr>
          <p:cNvPr id="25" name="text.24.259"/>
          <p:cNvSpPr txBox="1"/>
          <p:nvPr/>
        </p:nvSpPr>
        <p:spPr>
          <a:xfrm>
            <a:off x="666750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镜像梯形书页</a:t>
            </a:r>
            <a:endParaRPr lang="zh-CN"/>
          </a:p>
        </p:txBody>
      </p:sp>
      <p:sp>
        <p:nvSpPr>
          <p:cNvPr id="26" name="text.25.260"/>
          <p:cNvSpPr txBox="1"/>
          <p:nvPr/>
        </p:nvSpPr>
        <p:spPr>
          <a:xfrm>
            <a:off x="1108710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2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S12</a:t>
            </a:r>
            <a:endParaRPr lang="zh-CN"/>
          </a:p>
        </p:txBody>
      </p:sp>
      <p:sp>
        <p:nvSpPr>
          <p:cNvPr id="27" name="case.book.cover.left.1"/>
          <p:cNvSpPr/>
          <p:nvPr/>
        </p:nvSpPr>
        <p:spPr>
          <a:xfrm>
            <a:off x="6791325" y="2439194"/>
            <a:ext cx="2066925" cy="129592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17000" h="158000">
                <a:moveTo>
                  <a:pt x="0" y="0"/>
                </a:moveTo>
                <a:lnTo>
                  <a:pt x="217000" y="33000"/>
                </a:lnTo>
                <a:lnTo>
                  <a:pt x="217000" y="148000"/>
                </a:lnTo>
                <a:lnTo>
                  <a:pt x="0" y="158000"/>
                </a:lnTo>
                <a:close/>
              </a:path>
            </a:pathLst>
          </a:custGeom>
          <a:solidFill>
            <a:srgbClr val="074A9B"/>
          </a:solidFill>
          <a:ln w="0">
            <a:noFill/>
            <a:prstDash val="solid"/>
          </a:ln>
        </p:spPr>
      </p:sp>
      <p:sp>
        <p:nvSpPr>
          <p:cNvPr id="28" name="case.book.cover.right.2"/>
          <p:cNvSpPr/>
          <p:nvPr/>
        </p:nvSpPr>
        <p:spPr>
          <a:xfrm>
            <a:off x="9105900" y="2439194"/>
            <a:ext cx="2066925" cy="129592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17000" h="158000">
                <a:moveTo>
                  <a:pt x="0" y="33000"/>
                </a:moveTo>
                <a:lnTo>
                  <a:pt x="217000" y="0"/>
                </a:lnTo>
                <a:lnTo>
                  <a:pt x="217000" y="158000"/>
                </a:lnTo>
                <a:lnTo>
                  <a:pt x="0" y="148000"/>
                </a:lnTo>
                <a:close/>
              </a:path>
            </a:pathLst>
          </a:custGeom>
          <a:solidFill>
            <a:srgbClr val="074A9B"/>
          </a:solidFill>
          <a:ln w="0">
            <a:noFill/>
            <a:prstDash val="solid"/>
          </a:ln>
        </p:spPr>
      </p:sp>
      <p:sp>
        <p:nvSpPr>
          <p:cNvPr id="29" name="case.book.page.left.3"/>
          <p:cNvSpPr/>
          <p:nvPr/>
        </p:nvSpPr>
        <p:spPr>
          <a:xfrm>
            <a:off x="6896100" y="2365375"/>
            <a:ext cx="1962150" cy="129592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06000" h="158000">
                <a:moveTo>
                  <a:pt x="0" y="0"/>
                </a:moveTo>
                <a:lnTo>
                  <a:pt x="206000" y="35000"/>
                </a:lnTo>
                <a:lnTo>
                  <a:pt x="206000" y="147000"/>
                </a:lnTo>
                <a:lnTo>
                  <a:pt x="0" y="158000"/>
                </a:lnTo>
                <a:close/>
              </a:path>
            </a:pathLst>
          </a:custGeom>
          <a:solidFill>
            <a:srgbClr val="ECF2FA"/>
          </a:solidFill>
          <a:ln w="9022">
            <a:solidFill>
              <a:srgbClr val="0759BE"/>
            </a:solidFill>
            <a:prstDash val="solid"/>
          </a:ln>
        </p:spPr>
      </p:sp>
      <p:sp>
        <p:nvSpPr>
          <p:cNvPr id="30" name="case.book.page.right.4"/>
          <p:cNvSpPr/>
          <p:nvPr/>
        </p:nvSpPr>
        <p:spPr>
          <a:xfrm>
            <a:off x="9105900" y="2365375"/>
            <a:ext cx="1962150" cy="1295929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06000" h="158000">
                <a:moveTo>
                  <a:pt x="0" y="35000"/>
                </a:moveTo>
                <a:lnTo>
                  <a:pt x="206000" y="0"/>
                </a:lnTo>
                <a:lnTo>
                  <a:pt x="206000" y="158000"/>
                </a:lnTo>
                <a:lnTo>
                  <a:pt x="0" y="147000"/>
                </a:lnTo>
                <a:close/>
              </a:path>
            </a:pathLst>
          </a:custGeom>
          <a:solidFill>
            <a:srgbClr val="FFFFFF"/>
          </a:solidFill>
          <a:ln w="9022">
            <a:solidFill>
              <a:srgbClr val="0759BE"/>
            </a:solidFill>
            <a:prstDash val="solid"/>
          </a:ln>
        </p:spPr>
      </p:sp>
      <p:sp>
        <p:nvSpPr>
          <p:cNvPr id="31" name="case.book.spine.5"/>
          <p:cNvSpPr/>
          <p:nvPr/>
        </p:nvSpPr>
        <p:spPr>
          <a:xfrm>
            <a:off x="8982075" y="2660650"/>
            <a:ext cx="95" cy="984250"/>
          </a:xfrm>
          <a:prstGeom prst="line">
            <a:avLst/>
          </a:prstGeom>
          <a:noFill/>
          <a:ln w="24606">
            <a:solidFill>
              <a:srgbClr val="074A9B"/>
            </a:solidFill>
            <a:prstDash val="solid"/>
          </a:ln>
        </p:spPr>
      </p:sp>
      <p:sp>
        <p:nvSpPr>
          <p:cNvPr id="32" name="case.book.label.6.261"/>
          <p:cNvSpPr txBox="1"/>
          <p:nvPr/>
        </p:nvSpPr>
        <p:spPr>
          <a:xfrm>
            <a:off x="7153275" y="2650596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问题</a:t>
            </a:r>
            <a:endParaRPr lang="zh-CN"/>
          </a:p>
        </p:txBody>
      </p:sp>
      <p:sp>
        <p:nvSpPr>
          <p:cNvPr id="33" name="case.book.label.7.262"/>
          <p:cNvSpPr txBox="1"/>
          <p:nvPr/>
        </p:nvSpPr>
        <p:spPr>
          <a:xfrm>
            <a:off x="9382125" y="2650596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解释</a:t>
            </a:r>
            <a:endParaRPr lang="zh-CN"/>
          </a:p>
        </p:txBody>
      </p:sp>
      <p:sp>
        <p:nvSpPr>
          <p:cNvPr id="34" name="case.book.leftText.8"/>
          <p:cNvSpPr/>
          <p:nvPr/>
        </p:nvSpPr>
        <p:spPr>
          <a:xfrm>
            <a:off x="7143750" y="3152775"/>
            <a:ext cx="1476375" cy="49213"/>
          </a:xfrm>
          <a:prstGeom prst="line">
            <a:avLst/>
          </a:prstGeom>
          <a:noFill/>
          <a:ln w="12303">
            <a:solidFill>
              <a:srgbClr val="A6B4C0"/>
            </a:solidFill>
            <a:prstDash val="solid"/>
          </a:ln>
        </p:spPr>
      </p:sp>
      <p:sp>
        <p:nvSpPr>
          <p:cNvPr id="35" name="case.book.rightText.9"/>
          <p:cNvSpPr/>
          <p:nvPr/>
        </p:nvSpPr>
        <p:spPr>
          <a:xfrm flipV="1">
            <a:off x="9344025" y="3152775"/>
            <a:ext cx="1476375" cy="49213"/>
          </a:xfrm>
          <a:prstGeom prst="line">
            <a:avLst/>
          </a:prstGeom>
          <a:noFill/>
          <a:ln w="12303">
            <a:solidFill>
              <a:srgbClr val="A6B4C0"/>
            </a:solidFill>
            <a:prstDash val="solid"/>
          </a:ln>
        </p:spPr>
      </p:sp>
      <p:sp>
        <p:nvSpPr>
          <p:cNvPr id="36" name="case.book.leftText.10"/>
          <p:cNvSpPr/>
          <p:nvPr/>
        </p:nvSpPr>
        <p:spPr>
          <a:xfrm>
            <a:off x="7143750" y="3300413"/>
            <a:ext cx="1476375" cy="49213"/>
          </a:xfrm>
          <a:prstGeom prst="line">
            <a:avLst/>
          </a:prstGeom>
          <a:noFill/>
          <a:ln w="12303">
            <a:solidFill>
              <a:srgbClr val="A6B4C0"/>
            </a:solidFill>
            <a:prstDash val="solid"/>
          </a:ln>
        </p:spPr>
      </p:sp>
      <p:sp>
        <p:nvSpPr>
          <p:cNvPr id="37" name="case.book.rightText.11"/>
          <p:cNvSpPr/>
          <p:nvPr/>
        </p:nvSpPr>
        <p:spPr>
          <a:xfrm flipV="1">
            <a:off x="9344025" y="3300413"/>
            <a:ext cx="1476375" cy="49213"/>
          </a:xfrm>
          <a:prstGeom prst="line">
            <a:avLst/>
          </a:prstGeom>
          <a:noFill/>
          <a:ln w="12303">
            <a:solidFill>
              <a:srgbClr val="A6B4C0"/>
            </a:solidFill>
            <a:prstDash val="solid"/>
          </a:ln>
        </p:spPr>
      </p:sp>
      <p:sp>
        <p:nvSpPr>
          <p:cNvPr id="38" name="case.book.leftText.12"/>
          <p:cNvSpPr/>
          <p:nvPr/>
        </p:nvSpPr>
        <p:spPr>
          <a:xfrm>
            <a:off x="7143750" y="3448050"/>
            <a:ext cx="1476375" cy="49213"/>
          </a:xfrm>
          <a:prstGeom prst="line">
            <a:avLst/>
          </a:prstGeom>
          <a:noFill/>
          <a:ln w="12303">
            <a:solidFill>
              <a:srgbClr val="A6B4C0"/>
            </a:solidFill>
            <a:prstDash val="solid"/>
          </a:ln>
        </p:spPr>
      </p:sp>
      <p:sp>
        <p:nvSpPr>
          <p:cNvPr id="39" name="case.book.rightText.13"/>
          <p:cNvSpPr/>
          <p:nvPr/>
        </p:nvSpPr>
        <p:spPr>
          <a:xfrm flipV="1">
            <a:off x="9344025" y="3448050"/>
            <a:ext cx="1476375" cy="49213"/>
          </a:xfrm>
          <a:prstGeom prst="line">
            <a:avLst/>
          </a:prstGeom>
          <a:noFill/>
          <a:ln w="12303">
            <a:solidFill>
              <a:srgbClr val="A6B4C0"/>
            </a:solidFill>
            <a:prstDash val="solid"/>
          </a:ln>
        </p:spPr>
      </p:sp>
      <p:sp>
        <p:nvSpPr>
          <p:cNvPr id="40" name="text.39.263"/>
          <p:cNvSpPr txBox="1"/>
          <p:nvPr/>
        </p:nvSpPr>
        <p:spPr>
          <a:xfrm>
            <a:off x="637222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双页对照：围绕同一问题安排两组内容</a:t>
            </a:r>
            <a:endParaRPr lang="zh-CN"/>
          </a:p>
        </p:txBody>
      </p:sp>
      <p:sp>
        <p:nvSpPr>
          <p:cNvPr id="41" name="comparison.case-frame.3"/>
          <p:cNvSpPr/>
          <p:nvPr/>
        </p:nvSpPr>
        <p:spPr>
          <a:xfrm>
            <a:off x="45720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42" name="text.41.264"/>
          <p:cNvSpPr txBox="1"/>
          <p:nvPr/>
        </p:nvSpPr>
        <p:spPr>
          <a:xfrm>
            <a:off x="55245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23</a:t>
            </a:r>
            <a:endParaRPr lang="zh-CN"/>
          </a:p>
        </p:txBody>
      </p:sp>
      <p:sp>
        <p:nvSpPr>
          <p:cNvPr id="43" name="text.42.265"/>
          <p:cNvSpPr txBox="1"/>
          <p:nvPr/>
        </p:nvSpPr>
        <p:spPr>
          <a:xfrm>
            <a:off x="89535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梯形秤盘的权衡</a:t>
            </a:r>
            <a:endParaRPr lang="zh-CN"/>
          </a:p>
        </p:txBody>
      </p:sp>
      <p:sp>
        <p:nvSpPr>
          <p:cNvPr id="44" name="text.43.266"/>
          <p:cNvSpPr txBox="1"/>
          <p:nvPr/>
        </p:nvSpPr>
        <p:spPr>
          <a:xfrm>
            <a:off x="531495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原创</a:t>
            </a:r>
            <a:endParaRPr lang="zh-CN"/>
          </a:p>
        </p:txBody>
      </p:sp>
      <p:sp>
        <p:nvSpPr>
          <p:cNvPr id="45" name="case.balance.support.1"/>
          <p:cNvSpPr/>
          <p:nvPr/>
        </p:nvSpPr>
        <p:spPr>
          <a:xfrm>
            <a:off x="2714625" y="5681398"/>
            <a:ext cx="990600" cy="49212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04000" h="60000">
                <a:moveTo>
                  <a:pt x="33800" y="0"/>
                </a:moveTo>
                <a:lnTo>
                  <a:pt x="70200" y="0"/>
                </a:lnTo>
                <a:lnTo>
                  <a:pt x="104000" y="60000"/>
                </a:lnTo>
                <a:lnTo>
                  <a:pt x="0" y="60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6" name="case.balance.beam.2"/>
          <p:cNvSpPr/>
          <p:nvPr/>
        </p:nvSpPr>
        <p:spPr>
          <a:xfrm>
            <a:off x="1181100" y="4910402"/>
            <a:ext cx="4057650" cy="82"/>
          </a:xfrm>
          <a:prstGeom prst="line">
            <a:avLst/>
          </a:prstGeom>
          <a:noFill/>
          <a:ln w="32808">
            <a:solidFill>
              <a:srgbClr val="074A9B"/>
            </a:solidFill>
            <a:prstDash val="solid"/>
          </a:ln>
        </p:spPr>
      </p:sp>
      <p:sp>
        <p:nvSpPr>
          <p:cNvPr id="47" name="case.balance.pivot.3"/>
          <p:cNvSpPr/>
          <p:nvPr/>
        </p:nvSpPr>
        <p:spPr>
          <a:xfrm>
            <a:off x="3095625" y="4820179"/>
            <a:ext cx="228600" cy="196850"/>
          </a:xfrm>
          <a:prstGeom prst="ellipse">
            <a:avLst/>
          </a:prstGeom>
          <a:solidFill>
            <a:srgbClr val="074A9B"/>
          </a:solidFill>
          <a:ln w="0">
            <a:noFill/>
            <a:prstDash val="solid"/>
          </a:ln>
        </p:spPr>
      </p:sp>
      <p:sp>
        <p:nvSpPr>
          <p:cNvPr id="48" name="case.balance.mast.4"/>
          <p:cNvSpPr/>
          <p:nvPr/>
        </p:nvSpPr>
        <p:spPr>
          <a:xfrm>
            <a:off x="3209925" y="4984221"/>
            <a:ext cx="95" cy="738188"/>
          </a:xfrm>
          <a:prstGeom prst="line">
            <a:avLst/>
          </a:prstGeom>
          <a:noFill/>
          <a:ln w="41010">
            <a:solidFill>
              <a:srgbClr val="074A9B"/>
            </a:solidFill>
            <a:prstDash val="solid"/>
          </a:ln>
        </p:spPr>
      </p:sp>
      <p:sp>
        <p:nvSpPr>
          <p:cNvPr id="49" name="case.balance.leftSling.5"/>
          <p:cNvSpPr/>
          <p:nvPr/>
        </p:nvSpPr>
        <p:spPr>
          <a:xfrm>
            <a:off x="1171575" y="4910402"/>
            <a:ext cx="95" cy="812006"/>
          </a:xfrm>
          <a:prstGeom prst="line">
            <a:avLst/>
          </a:prstGeom>
          <a:noFill/>
          <a:ln w="12303">
            <a:solidFill>
              <a:srgbClr val="0759BE"/>
            </a:solidFill>
            <a:prstDash val="solid"/>
          </a:ln>
        </p:spPr>
      </p:sp>
      <p:sp>
        <p:nvSpPr>
          <p:cNvPr id="50" name="case.balance.rightSling.6"/>
          <p:cNvSpPr/>
          <p:nvPr/>
        </p:nvSpPr>
        <p:spPr>
          <a:xfrm>
            <a:off x="2390775" y="4910402"/>
            <a:ext cx="95" cy="812006"/>
          </a:xfrm>
          <a:prstGeom prst="line">
            <a:avLst/>
          </a:prstGeom>
          <a:noFill/>
          <a:ln w="12303">
            <a:solidFill>
              <a:srgbClr val="0759BE"/>
            </a:solidFill>
            <a:prstDash val="solid"/>
          </a:ln>
        </p:spPr>
      </p:sp>
      <p:sp>
        <p:nvSpPr>
          <p:cNvPr id="51" name="case.balance.pan.7"/>
          <p:cNvSpPr/>
          <p:nvPr/>
        </p:nvSpPr>
        <p:spPr>
          <a:xfrm>
            <a:off x="1028700" y="5722408"/>
            <a:ext cx="1504950" cy="360892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58000" h="44000">
                <a:moveTo>
                  <a:pt x="0" y="0"/>
                </a:moveTo>
                <a:lnTo>
                  <a:pt x="158000" y="0"/>
                </a:lnTo>
                <a:lnTo>
                  <a:pt x="129560" y="44000"/>
                </a:lnTo>
                <a:lnTo>
                  <a:pt x="28440" y="44000"/>
                </a:lnTo>
                <a:close/>
              </a:path>
            </a:pathLst>
          </a:custGeom>
          <a:solidFill>
            <a:srgbClr val="BDD5F1"/>
          </a:solidFill>
          <a:ln w="9843">
            <a:solidFill>
              <a:srgbClr val="0759BE"/>
            </a:solidFill>
            <a:prstDash val="solid"/>
          </a:ln>
        </p:spPr>
      </p:sp>
      <p:sp>
        <p:nvSpPr>
          <p:cNvPr id="52" name="case.balance.label.8.267"/>
          <p:cNvSpPr txBox="1"/>
          <p:nvPr/>
        </p:nvSpPr>
        <p:spPr>
          <a:xfrm>
            <a:off x="1171575" y="5288492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成本</a:t>
            </a:r>
            <a:endParaRPr lang="zh-CN"/>
          </a:p>
        </p:txBody>
      </p:sp>
      <p:sp>
        <p:nvSpPr>
          <p:cNvPr id="53" name="case.balance.leftSling.9"/>
          <p:cNvSpPr/>
          <p:nvPr/>
        </p:nvSpPr>
        <p:spPr>
          <a:xfrm>
            <a:off x="4029075" y="4910402"/>
            <a:ext cx="95" cy="812006"/>
          </a:xfrm>
          <a:prstGeom prst="line">
            <a:avLst/>
          </a:prstGeom>
          <a:noFill/>
          <a:ln w="12303">
            <a:solidFill>
              <a:srgbClr val="0759BE"/>
            </a:solidFill>
            <a:prstDash val="solid"/>
          </a:ln>
        </p:spPr>
      </p:sp>
      <p:sp>
        <p:nvSpPr>
          <p:cNvPr id="54" name="case.balance.rightSling.10"/>
          <p:cNvSpPr/>
          <p:nvPr/>
        </p:nvSpPr>
        <p:spPr>
          <a:xfrm>
            <a:off x="5248275" y="4910402"/>
            <a:ext cx="95" cy="812006"/>
          </a:xfrm>
          <a:prstGeom prst="line">
            <a:avLst/>
          </a:prstGeom>
          <a:noFill/>
          <a:ln w="12303">
            <a:solidFill>
              <a:srgbClr val="0759BE"/>
            </a:solidFill>
            <a:prstDash val="solid"/>
          </a:ln>
        </p:spPr>
      </p:sp>
      <p:sp>
        <p:nvSpPr>
          <p:cNvPr id="55" name="case.balance.pan.11"/>
          <p:cNvSpPr/>
          <p:nvPr/>
        </p:nvSpPr>
        <p:spPr>
          <a:xfrm>
            <a:off x="3886200" y="5722408"/>
            <a:ext cx="1504950" cy="360892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58000" h="44000">
                <a:moveTo>
                  <a:pt x="0" y="0"/>
                </a:moveTo>
                <a:lnTo>
                  <a:pt x="158000" y="0"/>
                </a:lnTo>
                <a:lnTo>
                  <a:pt x="129560" y="44000"/>
                </a:lnTo>
                <a:lnTo>
                  <a:pt x="28440" y="44000"/>
                </a:lnTo>
                <a:close/>
              </a:path>
            </a:pathLst>
          </a:custGeom>
          <a:solidFill>
            <a:srgbClr val="BDD5F1"/>
          </a:solidFill>
          <a:ln w="9843">
            <a:solidFill>
              <a:srgbClr val="0759BE"/>
            </a:solidFill>
            <a:prstDash val="solid"/>
          </a:ln>
        </p:spPr>
      </p:sp>
      <p:sp>
        <p:nvSpPr>
          <p:cNvPr id="56" name="case.balance.label.12.268"/>
          <p:cNvSpPr txBox="1"/>
          <p:nvPr/>
        </p:nvSpPr>
        <p:spPr>
          <a:xfrm>
            <a:off x="4029075" y="5288492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收益</a:t>
            </a:r>
            <a:endParaRPr lang="zh-CN"/>
          </a:p>
        </p:txBody>
      </p:sp>
      <p:sp>
        <p:nvSpPr>
          <p:cNvPr id="57" name="text.56.269"/>
          <p:cNvSpPr txBox="1"/>
          <p:nvPr/>
        </p:nvSpPr>
        <p:spPr>
          <a:xfrm>
            <a:off x="60007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比较基准：两端使用同一尺度讨论取舍</a:t>
            </a:r>
            <a:endParaRPr lang="zh-CN"/>
          </a:p>
        </p:txBody>
      </p:sp>
      <p:sp>
        <p:nvSpPr>
          <p:cNvPr id="58" name="comparison.case-frame.4"/>
          <p:cNvSpPr/>
          <p:nvPr/>
        </p:nvSpPr>
        <p:spPr>
          <a:xfrm>
            <a:off x="622935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59" name="text.58.270"/>
          <p:cNvSpPr txBox="1"/>
          <p:nvPr/>
        </p:nvSpPr>
        <p:spPr>
          <a:xfrm>
            <a:off x="632460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24</a:t>
            </a:r>
            <a:endParaRPr lang="zh-CN"/>
          </a:p>
        </p:txBody>
      </p:sp>
      <p:sp>
        <p:nvSpPr>
          <p:cNvPr id="60" name="text.59.271"/>
          <p:cNvSpPr txBox="1"/>
          <p:nvPr/>
        </p:nvSpPr>
        <p:spPr>
          <a:xfrm>
            <a:off x="666750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共同屋顶下的模块</a:t>
            </a:r>
            <a:endParaRPr lang="zh-CN"/>
          </a:p>
        </p:txBody>
      </p:sp>
      <p:sp>
        <p:nvSpPr>
          <p:cNvPr id="61" name="text.60.272"/>
          <p:cNvSpPr txBox="1"/>
          <p:nvPr/>
        </p:nvSpPr>
        <p:spPr>
          <a:xfrm>
            <a:off x="1108710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原创</a:t>
            </a:r>
            <a:endParaRPr lang="zh-CN"/>
          </a:p>
        </p:txBody>
      </p:sp>
      <p:sp>
        <p:nvSpPr>
          <p:cNvPr id="62" name="case.modularBuilding.roof.1"/>
          <p:cNvSpPr/>
          <p:nvPr/>
        </p:nvSpPr>
        <p:spPr>
          <a:xfrm>
            <a:off x="7248525" y="4705350"/>
            <a:ext cx="3467100" cy="319881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364000" h="39000">
                <a:moveTo>
                  <a:pt x="54600" y="0"/>
                </a:moveTo>
                <a:lnTo>
                  <a:pt x="309400" y="0"/>
                </a:lnTo>
                <a:lnTo>
                  <a:pt x="364000" y="39000"/>
                </a:lnTo>
                <a:lnTo>
                  <a:pt x="0" y="39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63" name="case.modularBuilding.label.2.273"/>
          <p:cNvSpPr txBox="1"/>
          <p:nvPr/>
        </p:nvSpPr>
        <p:spPr>
          <a:xfrm>
            <a:off x="7934325" y="470879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共同使命</a:t>
            </a:r>
            <a:endParaRPr lang="zh-CN"/>
          </a:p>
        </p:txBody>
      </p:sp>
      <p:sp>
        <p:nvSpPr>
          <p:cNvPr id="64" name="case.modularBuilding.module.3"/>
          <p:cNvSpPr/>
          <p:nvPr/>
        </p:nvSpPr>
        <p:spPr>
          <a:xfrm>
            <a:off x="7391400" y="5140060"/>
            <a:ext cx="1352550" cy="39370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2000" h="48000">
                <a:moveTo>
                  <a:pt x="11360" y="0"/>
                </a:moveTo>
                <a:lnTo>
                  <a:pt x="130640" y="0"/>
                </a:lnTo>
                <a:lnTo>
                  <a:pt x="142000" y="48000"/>
                </a:lnTo>
                <a:lnTo>
                  <a:pt x="0" y="48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65" name="case.modularBuilding.label.4.274"/>
          <p:cNvSpPr txBox="1"/>
          <p:nvPr/>
        </p:nvSpPr>
        <p:spPr>
          <a:xfrm>
            <a:off x="7439025" y="517498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研究</a:t>
            </a:r>
            <a:endParaRPr lang="zh-CN"/>
          </a:p>
        </p:txBody>
      </p:sp>
      <p:sp>
        <p:nvSpPr>
          <p:cNvPr id="66" name="case.modularBuilding.module.5"/>
          <p:cNvSpPr/>
          <p:nvPr/>
        </p:nvSpPr>
        <p:spPr>
          <a:xfrm>
            <a:off x="9220200" y="5140060"/>
            <a:ext cx="1352550" cy="39370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2000" h="48000">
                <a:moveTo>
                  <a:pt x="11360" y="0"/>
                </a:moveTo>
                <a:lnTo>
                  <a:pt x="130640" y="0"/>
                </a:lnTo>
                <a:lnTo>
                  <a:pt x="142000" y="48000"/>
                </a:lnTo>
                <a:lnTo>
                  <a:pt x="0" y="4800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67" name="case.modularBuilding.label.6.275"/>
          <p:cNvSpPr txBox="1"/>
          <p:nvPr/>
        </p:nvSpPr>
        <p:spPr>
          <a:xfrm>
            <a:off x="9267825" y="517498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产品</a:t>
            </a:r>
            <a:endParaRPr lang="zh-CN"/>
          </a:p>
        </p:txBody>
      </p:sp>
      <p:sp>
        <p:nvSpPr>
          <p:cNvPr id="68" name="case.modularBuilding.module.7"/>
          <p:cNvSpPr/>
          <p:nvPr/>
        </p:nvSpPr>
        <p:spPr>
          <a:xfrm>
            <a:off x="7391400" y="5648590"/>
            <a:ext cx="1352550" cy="39370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2000" h="48000">
                <a:moveTo>
                  <a:pt x="11360" y="0"/>
                </a:moveTo>
                <a:lnTo>
                  <a:pt x="130640" y="0"/>
                </a:lnTo>
                <a:lnTo>
                  <a:pt x="142000" y="48000"/>
                </a:lnTo>
                <a:lnTo>
                  <a:pt x="0" y="48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69" name="case.modularBuilding.label.8.276"/>
          <p:cNvSpPr txBox="1"/>
          <p:nvPr/>
        </p:nvSpPr>
        <p:spPr>
          <a:xfrm>
            <a:off x="7439025" y="568351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运营</a:t>
            </a:r>
            <a:endParaRPr lang="zh-CN"/>
          </a:p>
        </p:txBody>
      </p:sp>
      <p:sp>
        <p:nvSpPr>
          <p:cNvPr id="70" name="case.modularBuilding.module.9"/>
          <p:cNvSpPr/>
          <p:nvPr/>
        </p:nvSpPr>
        <p:spPr>
          <a:xfrm>
            <a:off x="9220200" y="5648590"/>
            <a:ext cx="1352550" cy="39370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2000" h="48000">
                <a:moveTo>
                  <a:pt x="11360" y="0"/>
                </a:moveTo>
                <a:lnTo>
                  <a:pt x="130640" y="0"/>
                </a:lnTo>
                <a:lnTo>
                  <a:pt x="142000" y="48000"/>
                </a:lnTo>
                <a:lnTo>
                  <a:pt x="0" y="48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71" name="case.modularBuilding.label.10.277"/>
          <p:cNvSpPr txBox="1"/>
          <p:nvPr/>
        </p:nvSpPr>
        <p:spPr>
          <a:xfrm>
            <a:off x="9267825" y="568351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服务</a:t>
            </a:r>
            <a:endParaRPr lang="zh-CN"/>
          </a:p>
        </p:txBody>
      </p:sp>
      <p:sp>
        <p:nvSpPr>
          <p:cNvPr id="72" name="case.modularBuilding.foundation.11"/>
          <p:cNvSpPr/>
          <p:nvPr/>
        </p:nvSpPr>
        <p:spPr>
          <a:xfrm>
            <a:off x="7124700" y="6116108"/>
            <a:ext cx="3714750" cy="65617"/>
          </a:xfrm>
          <a:prstGeom prst="rect">
            <a:avLst/>
          </a:prstGeom>
          <a:solidFill>
            <a:srgbClr val="074A9B"/>
          </a:solidFill>
          <a:ln w="0">
            <a:noFill/>
            <a:prstDash val="solid"/>
          </a:ln>
        </p:spPr>
      </p:sp>
      <p:sp>
        <p:nvSpPr>
          <p:cNvPr id="73" name="text.72.278"/>
          <p:cNvSpPr txBox="1"/>
          <p:nvPr/>
        </p:nvSpPr>
        <p:spPr>
          <a:xfrm>
            <a:off x="637222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共同体系：使命覆盖模块，底座提供支撑</a:t>
            </a:r>
            <a:endParaRPr lang="zh-CN"/>
          </a:p>
        </p:txBody>
      </p:sp>
      <p:sp>
        <p:nvSpPr>
          <p:cNvPr id="74" name="footer.rule.472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75" name="footer.label.473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梯形创意参考</a:t>
            </a:r>
            <a:endParaRPr lang="zh-CN"/>
          </a:p>
        </p:txBody>
      </p:sp>
      <p:sp>
        <p:nvSpPr>
          <p:cNvPr id="76" name="footer.page.474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7 / 13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279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280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2.7</a:t>
            </a:r>
            <a:endParaRPr lang="zh-CN"/>
          </a:p>
        </p:txBody>
      </p:sp>
      <p:sp>
        <p:nvSpPr>
          <p:cNvPr id="4" name="header.gradient.281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282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旋转与拼接</a:t>
            </a:r>
            <a:endParaRPr lang="zh-CN"/>
          </a:p>
        </p:txBody>
      </p:sp>
      <p:sp>
        <p:nvSpPr>
          <p:cNvPr id="6" name="header.library.283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梯形创意图鉴</a:t>
            </a:r>
            <a:endParaRPr lang="zh-CN"/>
          </a:p>
        </p:txBody>
      </p:sp>
      <p:sp>
        <p:nvSpPr>
          <p:cNvPr id="7" name="info.lead.284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285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286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287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风车围绕转轴协作；拼接形成模块；嵌套划定范围；百叶展示揭示前后的状态。</a:t>
            </a:r>
            <a:endParaRPr lang="zh-CN"/>
          </a:p>
        </p:txBody>
      </p:sp>
      <p:sp>
        <p:nvSpPr>
          <p:cNvPr id="11" name="comparison.case-frame.1"/>
          <p:cNvSpPr/>
          <p:nvPr/>
        </p:nvSpPr>
        <p:spPr>
          <a:xfrm>
            <a:off x="45720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2" name="text.11.288"/>
          <p:cNvSpPr txBox="1"/>
          <p:nvPr/>
        </p:nvSpPr>
        <p:spPr>
          <a:xfrm>
            <a:off x="55245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25</a:t>
            </a:r>
            <a:endParaRPr lang="zh-CN"/>
          </a:p>
        </p:txBody>
      </p:sp>
      <p:sp>
        <p:nvSpPr>
          <p:cNvPr id="13" name="text.12.289"/>
          <p:cNvSpPr txBox="1"/>
          <p:nvPr/>
        </p:nvSpPr>
        <p:spPr>
          <a:xfrm>
            <a:off x="89535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四叶梯形风车</a:t>
            </a:r>
            <a:endParaRPr lang="zh-CN"/>
          </a:p>
        </p:txBody>
      </p:sp>
      <p:sp>
        <p:nvSpPr>
          <p:cNvPr id="14" name="text.13.290"/>
          <p:cNvSpPr txBox="1"/>
          <p:nvPr/>
        </p:nvSpPr>
        <p:spPr>
          <a:xfrm>
            <a:off x="531495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1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S04</a:t>
            </a:r>
            <a:endParaRPr lang="zh-CN"/>
          </a:p>
        </p:txBody>
      </p:sp>
      <p:sp>
        <p:nvSpPr>
          <p:cNvPr id="15" name="case.pinwheel.blade.1"/>
          <p:cNvSpPr/>
          <p:nvPr/>
        </p:nvSpPr>
        <p:spPr>
          <a:xfrm>
            <a:off x="3209925" y="3005138"/>
            <a:ext cx="857250" cy="43471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90000" h="53000">
                <a:moveTo>
                  <a:pt x="0" y="0"/>
                </a:moveTo>
                <a:lnTo>
                  <a:pt x="90000" y="0"/>
                </a:lnTo>
                <a:lnTo>
                  <a:pt x="90000" y="53000"/>
                </a:lnTo>
                <a:lnTo>
                  <a:pt x="38000" y="53000"/>
                </a:lnTo>
                <a:close/>
              </a:path>
            </a:pathLst>
          </a:custGeom>
          <a:solidFill>
            <a:srgbClr val="0759BE"/>
          </a:solidFill>
          <a:ln w="12303">
            <a:solidFill>
              <a:srgbClr val="FFFFFF"/>
            </a:solidFill>
            <a:prstDash val="solid"/>
          </a:ln>
        </p:spPr>
      </p:sp>
      <p:sp>
        <p:nvSpPr>
          <p:cNvPr id="16" name="case.pinwheel.label.2.291"/>
          <p:cNvSpPr txBox="1"/>
          <p:nvPr/>
        </p:nvSpPr>
        <p:spPr>
          <a:xfrm>
            <a:off x="3590925" y="3075517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研发</a:t>
            </a:r>
            <a:endParaRPr lang="zh-CN"/>
          </a:p>
        </p:txBody>
      </p:sp>
      <p:sp>
        <p:nvSpPr>
          <p:cNvPr id="17" name="case.pinwheel.blade.3"/>
          <p:cNvSpPr/>
          <p:nvPr/>
        </p:nvSpPr>
        <p:spPr>
          <a:xfrm>
            <a:off x="2705100" y="3005138"/>
            <a:ext cx="504825" cy="738188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53000" h="90000">
                <a:moveTo>
                  <a:pt x="53000" y="0"/>
                </a:moveTo>
                <a:lnTo>
                  <a:pt x="53000" y="90000"/>
                </a:lnTo>
                <a:lnTo>
                  <a:pt x="0" y="90000"/>
                </a:lnTo>
                <a:lnTo>
                  <a:pt x="0" y="38000"/>
                </a:lnTo>
                <a:close/>
              </a:path>
            </a:pathLst>
          </a:custGeom>
          <a:solidFill>
            <a:srgbClr val="357BD2"/>
          </a:solidFill>
          <a:ln w="12303">
            <a:solidFill>
              <a:srgbClr val="FFFFFF"/>
            </a:solidFill>
            <a:prstDash val="solid"/>
          </a:ln>
        </p:spPr>
      </p:sp>
      <p:sp>
        <p:nvSpPr>
          <p:cNvPr id="18" name="case.pinwheel.label.4.292"/>
          <p:cNvSpPr txBox="1"/>
          <p:nvPr/>
        </p:nvSpPr>
        <p:spPr>
          <a:xfrm>
            <a:off x="2733675" y="3387196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生产</a:t>
            </a:r>
            <a:endParaRPr lang="zh-CN"/>
          </a:p>
        </p:txBody>
      </p:sp>
      <p:sp>
        <p:nvSpPr>
          <p:cNvPr id="19" name="case.pinwheel.blade.5"/>
          <p:cNvSpPr/>
          <p:nvPr/>
        </p:nvSpPr>
        <p:spPr>
          <a:xfrm>
            <a:off x="2352675" y="2570427"/>
            <a:ext cx="857250" cy="43471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90000" h="53000">
                <a:moveTo>
                  <a:pt x="90000" y="53000"/>
                </a:moveTo>
                <a:lnTo>
                  <a:pt x="0" y="53000"/>
                </a:lnTo>
                <a:lnTo>
                  <a:pt x="0" y="0"/>
                </a:lnTo>
                <a:lnTo>
                  <a:pt x="52000" y="0"/>
                </a:lnTo>
                <a:close/>
              </a:path>
            </a:pathLst>
          </a:custGeom>
          <a:solidFill>
            <a:srgbClr val="74A5E1"/>
          </a:solidFill>
          <a:ln w="12303">
            <a:solidFill>
              <a:srgbClr val="FFFFFF"/>
            </a:solidFill>
            <a:prstDash val="solid"/>
          </a:ln>
        </p:spPr>
      </p:sp>
      <p:sp>
        <p:nvSpPr>
          <p:cNvPr id="20" name="case.pinwheel.label.6.293"/>
          <p:cNvSpPr txBox="1"/>
          <p:nvPr/>
        </p:nvSpPr>
        <p:spPr>
          <a:xfrm>
            <a:off x="2371725" y="2649008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交付</a:t>
            </a:r>
            <a:endParaRPr lang="zh-CN"/>
          </a:p>
        </p:txBody>
      </p:sp>
      <p:sp>
        <p:nvSpPr>
          <p:cNvPr id="21" name="case.pinwheel.blade.7"/>
          <p:cNvSpPr/>
          <p:nvPr/>
        </p:nvSpPr>
        <p:spPr>
          <a:xfrm>
            <a:off x="3209925" y="2266950"/>
            <a:ext cx="504825" cy="738188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53000" h="90000">
                <a:moveTo>
                  <a:pt x="0" y="90000"/>
                </a:moveTo>
                <a:lnTo>
                  <a:pt x="0" y="0"/>
                </a:lnTo>
                <a:lnTo>
                  <a:pt x="53000" y="0"/>
                </a:lnTo>
                <a:lnTo>
                  <a:pt x="53000" y="52000"/>
                </a:lnTo>
                <a:close/>
              </a:path>
            </a:pathLst>
          </a:custGeom>
          <a:solidFill>
            <a:srgbClr val="BDD5F1"/>
          </a:solidFill>
          <a:ln w="12303">
            <a:solidFill>
              <a:srgbClr val="FFFFFF"/>
            </a:solidFill>
            <a:prstDash val="solid"/>
          </a:ln>
        </p:spPr>
      </p:sp>
      <p:sp>
        <p:nvSpPr>
          <p:cNvPr id="22" name="case.pinwheel.label.8.294"/>
          <p:cNvSpPr txBox="1"/>
          <p:nvPr/>
        </p:nvSpPr>
        <p:spPr>
          <a:xfrm>
            <a:off x="3228975" y="2337329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反馈</a:t>
            </a:r>
            <a:endParaRPr lang="zh-CN"/>
          </a:p>
        </p:txBody>
      </p:sp>
      <p:sp>
        <p:nvSpPr>
          <p:cNvPr id="23" name="case.pinwheel.hub.9"/>
          <p:cNvSpPr/>
          <p:nvPr/>
        </p:nvSpPr>
        <p:spPr>
          <a:xfrm>
            <a:off x="3009900" y="2832894"/>
            <a:ext cx="400050" cy="344488"/>
          </a:xfrm>
          <a:prstGeom prst="ellipse">
            <a:avLst/>
          </a:prstGeom>
          <a:solidFill>
            <a:srgbClr val="FFFFFF"/>
          </a:solidFill>
          <a:ln w="11483">
            <a:solidFill>
              <a:srgbClr val="0759BE"/>
            </a:solidFill>
            <a:prstDash val="solid"/>
          </a:ln>
        </p:spPr>
      </p:sp>
      <p:sp>
        <p:nvSpPr>
          <p:cNvPr id="24" name="case.pinwheel.label.10.295"/>
          <p:cNvSpPr txBox="1"/>
          <p:nvPr/>
        </p:nvSpPr>
        <p:spPr>
          <a:xfrm>
            <a:off x="3000375" y="2862263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协作</a:t>
            </a:r>
            <a:endParaRPr lang="zh-CN"/>
          </a:p>
        </p:txBody>
      </p:sp>
      <p:sp>
        <p:nvSpPr>
          <p:cNvPr id="25" name="text.24.296"/>
          <p:cNvSpPr txBox="1"/>
          <p:nvPr/>
        </p:nvSpPr>
        <p:spPr>
          <a:xfrm>
            <a:off x="60007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并列驱动：各叶片围绕同一转轴协作</a:t>
            </a:r>
            <a:endParaRPr lang="zh-CN"/>
          </a:p>
        </p:txBody>
      </p:sp>
      <p:sp>
        <p:nvSpPr>
          <p:cNvPr id="26" name="comparison.case-frame.2"/>
          <p:cNvSpPr/>
          <p:nvPr/>
        </p:nvSpPr>
        <p:spPr>
          <a:xfrm>
            <a:off x="622935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27" name="text.26.297"/>
          <p:cNvSpPr txBox="1"/>
          <p:nvPr/>
        </p:nvSpPr>
        <p:spPr>
          <a:xfrm>
            <a:off x="632460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26</a:t>
            </a:r>
            <a:endParaRPr lang="zh-CN"/>
          </a:p>
        </p:txBody>
      </p:sp>
      <p:sp>
        <p:nvSpPr>
          <p:cNvPr id="28" name="text.27.298"/>
          <p:cNvSpPr txBox="1"/>
          <p:nvPr/>
        </p:nvSpPr>
        <p:spPr>
          <a:xfrm>
            <a:off x="666750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双梯形六边拼接</a:t>
            </a:r>
            <a:endParaRPr lang="zh-CN"/>
          </a:p>
        </p:txBody>
      </p:sp>
      <p:sp>
        <p:nvSpPr>
          <p:cNvPr id="29" name="text.28.299"/>
          <p:cNvSpPr txBox="1"/>
          <p:nvPr/>
        </p:nvSpPr>
        <p:spPr>
          <a:xfrm>
            <a:off x="1108710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2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S09</a:t>
            </a:r>
            <a:endParaRPr lang="zh-CN"/>
          </a:p>
        </p:txBody>
      </p:sp>
      <p:sp>
        <p:nvSpPr>
          <p:cNvPr id="30" name="case.tessellation.hex.top.1"/>
          <p:cNvSpPr/>
          <p:nvPr/>
        </p:nvSpPr>
        <p:spPr>
          <a:xfrm>
            <a:off x="7381875" y="2274958"/>
            <a:ext cx="1276350" cy="47591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34000" h="58024">
                <a:moveTo>
                  <a:pt x="33500" y="0"/>
                </a:moveTo>
                <a:lnTo>
                  <a:pt x="100500" y="0"/>
                </a:lnTo>
                <a:lnTo>
                  <a:pt x="134000" y="58024"/>
                </a:lnTo>
                <a:lnTo>
                  <a:pt x="0" y="58024"/>
                </a:lnTo>
                <a:close/>
              </a:path>
            </a:pathLst>
          </a:custGeom>
          <a:solidFill>
            <a:srgbClr val="357BD2"/>
          </a:solidFill>
          <a:ln w="10663">
            <a:solidFill>
              <a:srgbClr val="FFFFFF"/>
            </a:solidFill>
            <a:prstDash val="solid"/>
          </a:ln>
        </p:spPr>
      </p:sp>
      <p:sp>
        <p:nvSpPr>
          <p:cNvPr id="31" name="case.tessellation.hex.bottom.2"/>
          <p:cNvSpPr/>
          <p:nvPr/>
        </p:nvSpPr>
        <p:spPr>
          <a:xfrm>
            <a:off x="7381875" y="2750873"/>
            <a:ext cx="1276350" cy="47591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34000" h="58024">
                <a:moveTo>
                  <a:pt x="0" y="0"/>
                </a:moveTo>
                <a:lnTo>
                  <a:pt x="134000" y="0"/>
                </a:lnTo>
                <a:lnTo>
                  <a:pt x="100500" y="58024"/>
                </a:lnTo>
                <a:lnTo>
                  <a:pt x="33500" y="58024"/>
                </a:lnTo>
                <a:close/>
              </a:path>
            </a:pathLst>
          </a:custGeom>
          <a:solidFill>
            <a:srgbClr val="BDD5F1"/>
          </a:solidFill>
          <a:ln w="10663">
            <a:solidFill>
              <a:srgbClr val="FFFFFF"/>
            </a:solidFill>
            <a:prstDash val="solid"/>
          </a:ln>
        </p:spPr>
      </p:sp>
      <p:sp>
        <p:nvSpPr>
          <p:cNvPr id="32" name="case.tessellation.label.3.300"/>
          <p:cNvSpPr txBox="1"/>
          <p:nvPr/>
        </p:nvSpPr>
        <p:spPr>
          <a:xfrm>
            <a:off x="7553325" y="2344208"/>
            <a:ext cx="93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需求</a:t>
            </a:r>
            <a:endParaRPr lang="zh-CN"/>
          </a:p>
        </p:txBody>
      </p:sp>
      <p:sp>
        <p:nvSpPr>
          <p:cNvPr id="33" name="case.tessellation.label.4.301"/>
          <p:cNvSpPr txBox="1"/>
          <p:nvPr/>
        </p:nvSpPr>
        <p:spPr>
          <a:xfrm>
            <a:off x="7553325" y="2828131"/>
            <a:ext cx="93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边界</a:t>
            </a:r>
            <a:endParaRPr lang="zh-CN"/>
          </a:p>
        </p:txBody>
      </p:sp>
      <p:sp>
        <p:nvSpPr>
          <p:cNvPr id="34" name="case.tessellation.hex.top.5"/>
          <p:cNvSpPr/>
          <p:nvPr/>
        </p:nvSpPr>
        <p:spPr>
          <a:xfrm>
            <a:off x="8339138" y="2750873"/>
            <a:ext cx="1276350" cy="47591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34000" h="58024">
                <a:moveTo>
                  <a:pt x="33500" y="0"/>
                </a:moveTo>
                <a:lnTo>
                  <a:pt x="100500" y="0"/>
                </a:lnTo>
                <a:lnTo>
                  <a:pt x="134000" y="58024"/>
                </a:lnTo>
                <a:lnTo>
                  <a:pt x="0" y="58024"/>
                </a:lnTo>
                <a:close/>
              </a:path>
            </a:pathLst>
          </a:custGeom>
          <a:solidFill>
            <a:srgbClr val="0759BE"/>
          </a:solidFill>
          <a:ln w="10663">
            <a:solidFill>
              <a:srgbClr val="FFFFFF"/>
            </a:solidFill>
            <a:prstDash val="solid"/>
          </a:ln>
        </p:spPr>
      </p:sp>
      <p:sp>
        <p:nvSpPr>
          <p:cNvPr id="35" name="case.tessellation.hex.bottom.6"/>
          <p:cNvSpPr/>
          <p:nvPr/>
        </p:nvSpPr>
        <p:spPr>
          <a:xfrm>
            <a:off x="8339138" y="3226788"/>
            <a:ext cx="1276350" cy="47591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34000" h="58024">
                <a:moveTo>
                  <a:pt x="0" y="0"/>
                </a:moveTo>
                <a:lnTo>
                  <a:pt x="134000" y="0"/>
                </a:lnTo>
                <a:lnTo>
                  <a:pt x="100500" y="58024"/>
                </a:lnTo>
                <a:lnTo>
                  <a:pt x="33500" y="58024"/>
                </a:lnTo>
                <a:close/>
              </a:path>
            </a:pathLst>
          </a:custGeom>
          <a:solidFill>
            <a:srgbClr val="74A5E1"/>
          </a:solidFill>
          <a:ln w="10663">
            <a:solidFill>
              <a:srgbClr val="FFFFFF"/>
            </a:solidFill>
            <a:prstDash val="solid"/>
          </a:ln>
        </p:spPr>
      </p:sp>
      <p:sp>
        <p:nvSpPr>
          <p:cNvPr id="36" name="case.tessellation.label.7.302"/>
          <p:cNvSpPr txBox="1"/>
          <p:nvPr/>
        </p:nvSpPr>
        <p:spPr>
          <a:xfrm>
            <a:off x="8510588" y="2820124"/>
            <a:ext cx="93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方法</a:t>
            </a:r>
            <a:endParaRPr lang="zh-CN"/>
          </a:p>
        </p:txBody>
      </p:sp>
      <p:sp>
        <p:nvSpPr>
          <p:cNvPr id="37" name="case.tessellation.label.8.303"/>
          <p:cNvSpPr txBox="1"/>
          <p:nvPr/>
        </p:nvSpPr>
        <p:spPr>
          <a:xfrm>
            <a:off x="8510588" y="3304046"/>
            <a:ext cx="93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步骤</a:t>
            </a:r>
            <a:endParaRPr lang="zh-CN"/>
          </a:p>
        </p:txBody>
      </p:sp>
      <p:sp>
        <p:nvSpPr>
          <p:cNvPr id="38" name="case.tessellation.hex.top.9"/>
          <p:cNvSpPr/>
          <p:nvPr/>
        </p:nvSpPr>
        <p:spPr>
          <a:xfrm>
            <a:off x="9296400" y="2274958"/>
            <a:ext cx="1276350" cy="47591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34000" h="58024">
                <a:moveTo>
                  <a:pt x="33500" y="0"/>
                </a:moveTo>
                <a:lnTo>
                  <a:pt x="100500" y="0"/>
                </a:lnTo>
                <a:lnTo>
                  <a:pt x="134000" y="58024"/>
                </a:lnTo>
                <a:lnTo>
                  <a:pt x="0" y="58024"/>
                </a:lnTo>
                <a:close/>
              </a:path>
            </a:pathLst>
          </a:custGeom>
          <a:solidFill>
            <a:srgbClr val="357BD2"/>
          </a:solidFill>
          <a:ln w="10663">
            <a:solidFill>
              <a:srgbClr val="FFFFFF"/>
            </a:solidFill>
            <a:prstDash val="solid"/>
          </a:ln>
        </p:spPr>
      </p:sp>
      <p:sp>
        <p:nvSpPr>
          <p:cNvPr id="39" name="case.tessellation.hex.bottom.10"/>
          <p:cNvSpPr/>
          <p:nvPr/>
        </p:nvSpPr>
        <p:spPr>
          <a:xfrm>
            <a:off x="9296400" y="2750873"/>
            <a:ext cx="1276350" cy="47591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34000" h="58024">
                <a:moveTo>
                  <a:pt x="0" y="0"/>
                </a:moveTo>
                <a:lnTo>
                  <a:pt x="134000" y="0"/>
                </a:lnTo>
                <a:lnTo>
                  <a:pt x="100500" y="58024"/>
                </a:lnTo>
                <a:lnTo>
                  <a:pt x="33500" y="58024"/>
                </a:lnTo>
                <a:close/>
              </a:path>
            </a:pathLst>
          </a:custGeom>
          <a:solidFill>
            <a:srgbClr val="BDD5F1"/>
          </a:solidFill>
          <a:ln w="10663">
            <a:solidFill>
              <a:srgbClr val="FFFFFF"/>
            </a:solidFill>
            <a:prstDash val="solid"/>
          </a:ln>
        </p:spPr>
      </p:sp>
      <p:sp>
        <p:nvSpPr>
          <p:cNvPr id="40" name="case.tessellation.label.11.304"/>
          <p:cNvSpPr txBox="1"/>
          <p:nvPr/>
        </p:nvSpPr>
        <p:spPr>
          <a:xfrm>
            <a:off x="9467850" y="2344208"/>
            <a:ext cx="93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证据</a:t>
            </a:r>
            <a:endParaRPr lang="zh-CN"/>
          </a:p>
        </p:txBody>
      </p:sp>
      <p:sp>
        <p:nvSpPr>
          <p:cNvPr id="41" name="case.tessellation.label.12.305"/>
          <p:cNvSpPr txBox="1"/>
          <p:nvPr/>
        </p:nvSpPr>
        <p:spPr>
          <a:xfrm>
            <a:off x="9467850" y="2828131"/>
            <a:ext cx="93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结论</a:t>
            </a:r>
            <a:endParaRPr lang="zh-CN"/>
          </a:p>
        </p:txBody>
      </p:sp>
      <p:sp>
        <p:nvSpPr>
          <p:cNvPr id="42" name="text.41.306"/>
          <p:cNvSpPr txBox="1"/>
          <p:nvPr/>
        </p:nvSpPr>
        <p:spPr>
          <a:xfrm>
            <a:off x="637222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配对模块：两片合一，单元继续拼接</a:t>
            </a:r>
            <a:endParaRPr lang="zh-CN"/>
          </a:p>
        </p:txBody>
      </p:sp>
      <p:sp>
        <p:nvSpPr>
          <p:cNvPr id="43" name="comparison.case-frame.3"/>
          <p:cNvSpPr/>
          <p:nvPr/>
        </p:nvSpPr>
        <p:spPr>
          <a:xfrm>
            <a:off x="45720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44" name="text.43.307"/>
          <p:cNvSpPr txBox="1"/>
          <p:nvPr/>
        </p:nvSpPr>
        <p:spPr>
          <a:xfrm>
            <a:off x="55245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27</a:t>
            </a:r>
            <a:endParaRPr lang="zh-CN"/>
          </a:p>
        </p:txBody>
      </p:sp>
      <p:sp>
        <p:nvSpPr>
          <p:cNvPr id="45" name="text.44.308"/>
          <p:cNvSpPr txBox="1"/>
          <p:nvPr/>
        </p:nvSpPr>
        <p:spPr>
          <a:xfrm>
            <a:off x="89535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嵌套梯形范围</a:t>
            </a:r>
            <a:endParaRPr lang="zh-CN"/>
          </a:p>
        </p:txBody>
      </p:sp>
      <p:sp>
        <p:nvSpPr>
          <p:cNvPr id="46" name="text.45.309"/>
          <p:cNvSpPr txBox="1"/>
          <p:nvPr/>
        </p:nvSpPr>
        <p:spPr>
          <a:xfrm>
            <a:off x="531495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原创</a:t>
            </a:r>
            <a:endParaRPr lang="zh-CN"/>
          </a:p>
        </p:txBody>
      </p:sp>
      <p:sp>
        <p:nvSpPr>
          <p:cNvPr id="47" name="case.scope.outer.1"/>
          <p:cNvSpPr/>
          <p:nvPr/>
        </p:nvSpPr>
        <p:spPr>
          <a:xfrm>
            <a:off x="1304925" y="4721754"/>
            <a:ext cx="3810000" cy="144356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00000" h="176000">
                <a:moveTo>
                  <a:pt x="72000" y="0"/>
                </a:moveTo>
                <a:lnTo>
                  <a:pt x="328000" y="0"/>
                </a:lnTo>
                <a:lnTo>
                  <a:pt x="400000" y="176000"/>
                </a:lnTo>
                <a:lnTo>
                  <a:pt x="0" y="17600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48" name="case.scope.middle.2"/>
          <p:cNvSpPr/>
          <p:nvPr/>
        </p:nvSpPr>
        <p:spPr>
          <a:xfrm>
            <a:off x="1905000" y="5131858"/>
            <a:ext cx="2609850" cy="1033463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74000" h="126000">
                <a:moveTo>
                  <a:pt x="41100" y="0"/>
                </a:moveTo>
                <a:lnTo>
                  <a:pt x="232900" y="0"/>
                </a:lnTo>
                <a:lnTo>
                  <a:pt x="274000" y="126000"/>
                </a:lnTo>
                <a:lnTo>
                  <a:pt x="0" y="126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49" name="case.scope.inner.3"/>
          <p:cNvSpPr/>
          <p:nvPr/>
        </p:nvSpPr>
        <p:spPr>
          <a:xfrm>
            <a:off x="2514600" y="5582973"/>
            <a:ext cx="1390650" cy="582348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6000" h="71000">
                <a:moveTo>
                  <a:pt x="21900" y="0"/>
                </a:moveTo>
                <a:lnTo>
                  <a:pt x="124100" y="0"/>
                </a:lnTo>
                <a:lnTo>
                  <a:pt x="146000" y="71000"/>
                </a:lnTo>
                <a:lnTo>
                  <a:pt x="0" y="71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" name="case.scope.label.4.310"/>
          <p:cNvSpPr txBox="1"/>
          <p:nvPr/>
        </p:nvSpPr>
        <p:spPr>
          <a:xfrm>
            <a:off x="2257425" y="4756679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行业范围</a:t>
            </a:r>
            <a:endParaRPr lang="zh-CN"/>
          </a:p>
        </p:txBody>
      </p:sp>
      <p:sp>
        <p:nvSpPr>
          <p:cNvPr id="51" name="case.scope.label.5.311"/>
          <p:cNvSpPr txBox="1"/>
          <p:nvPr/>
        </p:nvSpPr>
        <p:spPr>
          <a:xfrm>
            <a:off x="2257425" y="519139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目标人群</a:t>
            </a:r>
            <a:endParaRPr lang="zh-CN"/>
          </a:p>
        </p:txBody>
      </p:sp>
      <p:sp>
        <p:nvSpPr>
          <p:cNvPr id="52" name="case.scope.label.6.312"/>
          <p:cNvSpPr txBox="1"/>
          <p:nvPr/>
        </p:nvSpPr>
        <p:spPr>
          <a:xfrm>
            <a:off x="2543175" y="5708121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当前项目</a:t>
            </a:r>
            <a:endParaRPr lang="zh-CN"/>
          </a:p>
        </p:txBody>
      </p:sp>
      <p:sp>
        <p:nvSpPr>
          <p:cNvPr id="53" name="text.52.313"/>
          <p:cNvSpPr txBox="1"/>
          <p:nvPr/>
        </p:nvSpPr>
        <p:spPr>
          <a:xfrm>
            <a:off x="60007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包含范围：内部项目属于外部集合</a:t>
            </a:r>
            <a:endParaRPr lang="zh-CN"/>
          </a:p>
        </p:txBody>
      </p:sp>
      <p:sp>
        <p:nvSpPr>
          <p:cNvPr id="54" name="comparison.case-frame.4"/>
          <p:cNvSpPr/>
          <p:nvPr/>
        </p:nvSpPr>
        <p:spPr>
          <a:xfrm>
            <a:off x="622935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55" name="text.54.314"/>
          <p:cNvSpPr txBox="1"/>
          <p:nvPr/>
        </p:nvSpPr>
        <p:spPr>
          <a:xfrm>
            <a:off x="632460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28</a:t>
            </a:r>
            <a:endParaRPr lang="zh-CN"/>
          </a:p>
        </p:txBody>
      </p:sp>
      <p:sp>
        <p:nvSpPr>
          <p:cNvPr id="56" name="text.55.315"/>
          <p:cNvSpPr txBox="1"/>
          <p:nvPr/>
        </p:nvSpPr>
        <p:spPr>
          <a:xfrm>
            <a:off x="666750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梯形百叶展开</a:t>
            </a:r>
            <a:endParaRPr lang="zh-CN"/>
          </a:p>
        </p:txBody>
      </p:sp>
      <p:sp>
        <p:nvSpPr>
          <p:cNvPr id="57" name="text.56.316"/>
          <p:cNvSpPr txBox="1"/>
          <p:nvPr/>
        </p:nvSpPr>
        <p:spPr>
          <a:xfrm>
            <a:off x="1108710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3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S03</a:t>
            </a:r>
            <a:endParaRPr lang="zh-CN"/>
          </a:p>
        </p:txBody>
      </p:sp>
      <p:sp>
        <p:nvSpPr>
          <p:cNvPr id="58" name="case.shutters.label.1.317"/>
          <p:cNvSpPr txBox="1"/>
          <p:nvPr/>
        </p:nvSpPr>
        <p:spPr>
          <a:xfrm>
            <a:off x="6953250" y="4684183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合拢</a:t>
            </a:r>
            <a:endParaRPr lang="zh-CN"/>
          </a:p>
        </p:txBody>
      </p:sp>
      <p:sp>
        <p:nvSpPr>
          <p:cNvPr id="59" name="case.shutters.label.2.318"/>
          <p:cNvSpPr txBox="1"/>
          <p:nvPr/>
        </p:nvSpPr>
        <p:spPr>
          <a:xfrm>
            <a:off x="9648825" y="4684183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展开</a:t>
            </a:r>
            <a:endParaRPr lang="zh-CN"/>
          </a:p>
        </p:txBody>
      </p:sp>
      <p:sp>
        <p:nvSpPr>
          <p:cNvPr id="60" name="case.shutters.closed.3"/>
          <p:cNvSpPr/>
          <p:nvPr/>
        </p:nvSpPr>
        <p:spPr>
          <a:xfrm>
            <a:off x="6867525" y="5058040"/>
            <a:ext cx="438150" cy="109087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6000" h="133000">
                <a:moveTo>
                  <a:pt x="4140" y="0"/>
                </a:moveTo>
                <a:lnTo>
                  <a:pt x="41860" y="0"/>
                </a:lnTo>
                <a:lnTo>
                  <a:pt x="46000" y="133000"/>
                </a:lnTo>
                <a:lnTo>
                  <a:pt x="0" y="133000"/>
                </a:lnTo>
                <a:close/>
              </a:path>
            </a:pathLst>
          </a:custGeom>
          <a:solidFill>
            <a:srgbClr val="0759BE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61" name="case.shutters.closed.4"/>
          <p:cNvSpPr/>
          <p:nvPr/>
        </p:nvSpPr>
        <p:spPr>
          <a:xfrm>
            <a:off x="7286625" y="5058040"/>
            <a:ext cx="438150" cy="109087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6000" h="133000">
                <a:moveTo>
                  <a:pt x="4140" y="0"/>
                </a:moveTo>
                <a:lnTo>
                  <a:pt x="41860" y="0"/>
                </a:lnTo>
                <a:lnTo>
                  <a:pt x="46000" y="133000"/>
                </a:lnTo>
                <a:lnTo>
                  <a:pt x="0" y="133000"/>
                </a:lnTo>
                <a:close/>
              </a:path>
            </a:pathLst>
          </a:custGeom>
          <a:solidFill>
            <a:srgbClr val="357BD2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62" name="case.shutters.closed.5"/>
          <p:cNvSpPr/>
          <p:nvPr/>
        </p:nvSpPr>
        <p:spPr>
          <a:xfrm>
            <a:off x="7705725" y="5058040"/>
            <a:ext cx="438150" cy="109087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6000" h="133000">
                <a:moveTo>
                  <a:pt x="4140" y="0"/>
                </a:moveTo>
                <a:lnTo>
                  <a:pt x="41860" y="0"/>
                </a:lnTo>
                <a:lnTo>
                  <a:pt x="46000" y="133000"/>
                </a:lnTo>
                <a:lnTo>
                  <a:pt x="0" y="133000"/>
                </a:lnTo>
                <a:close/>
              </a:path>
            </a:pathLst>
          </a:custGeom>
          <a:solidFill>
            <a:srgbClr val="74A5E1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63" name="case.shutters.closed.6"/>
          <p:cNvSpPr/>
          <p:nvPr/>
        </p:nvSpPr>
        <p:spPr>
          <a:xfrm>
            <a:off x="8124825" y="5058040"/>
            <a:ext cx="438150" cy="1090877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6000" h="133000">
                <a:moveTo>
                  <a:pt x="4140" y="0"/>
                </a:moveTo>
                <a:lnTo>
                  <a:pt x="41860" y="0"/>
                </a:lnTo>
                <a:lnTo>
                  <a:pt x="46000" y="133000"/>
                </a:lnTo>
                <a:lnTo>
                  <a:pt x="0" y="133000"/>
                </a:lnTo>
                <a:close/>
              </a:path>
            </a:pathLst>
          </a:custGeom>
          <a:solidFill>
            <a:srgbClr val="BDD5F1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64" name="case.shutters.next.7"/>
          <p:cNvSpPr/>
          <p:nvPr/>
        </p:nvSpPr>
        <p:spPr>
          <a:xfrm>
            <a:off x="8820150" y="5484548"/>
            <a:ext cx="400050" cy="213254"/>
          </a:xfrm>
          <a:prstGeom prst="rightArrow">
            <a:avLst/>
          </a:prstGeom>
          <a:solidFill>
            <a:srgbClr val="357596"/>
          </a:solidFill>
          <a:ln w="0">
            <a:noFill/>
            <a:prstDash val="solid"/>
          </a:ln>
        </p:spPr>
      </p:sp>
      <p:sp>
        <p:nvSpPr>
          <p:cNvPr id="65" name="case.shutters.open.8"/>
          <p:cNvSpPr/>
          <p:nvPr/>
        </p:nvSpPr>
        <p:spPr>
          <a:xfrm>
            <a:off x="9537192" y="5149974"/>
            <a:ext cx="945380" cy="100714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99253" h="122791">
                <a:moveTo>
                  <a:pt x="0" y="25057"/>
                </a:moveTo>
                <a:lnTo>
                  <a:pt x="28569" y="0"/>
                </a:lnTo>
                <a:lnTo>
                  <a:pt x="99253" y="110922"/>
                </a:lnTo>
                <a:lnTo>
                  <a:pt x="85720" y="122791"/>
                </a:lnTo>
                <a:close/>
              </a:path>
            </a:pathLst>
          </a:custGeom>
          <a:solidFill>
            <a:srgbClr val="0759BE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66" name="case.shutters.open.9"/>
          <p:cNvSpPr/>
          <p:nvPr/>
        </p:nvSpPr>
        <p:spPr>
          <a:xfrm>
            <a:off x="10011478" y="5046239"/>
            <a:ext cx="506970" cy="111088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53225" h="135439">
                <a:moveTo>
                  <a:pt x="0" y="10502"/>
                </a:moveTo>
                <a:lnTo>
                  <a:pt x="36520" y="0"/>
                </a:lnTo>
                <a:lnTo>
                  <a:pt x="53225" y="130464"/>
                </a:lnTo>
                <a:lnTo>
                  <a:pt x="35926" y="135439"/>
                </a:lnTo>
                <a:close/>
              </a:path>
            </a:pathLst>
          </a:custGeom>
          <a:solidFill>
            <a:srgbClr val="357BD2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67" name="case.shutters.open.10"/>
          <p:cNvSpPr/>
          <p:nvPr/>
        </p:nvSpPr>
        <p:spPr>
          <a:xfrm>
            <a:off x="10353675" y="5116548"/>
            <a:ext cx="623449" cy="107279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65454" h="130795">
                <a:moveTo>
                  <a:pt x="28370" y="0"/>
                </a:moveTo>
                <a:lnTo>
                  <a:pt x="65454" y="8293"/>
                </a:lnTo>
                <a:lnTo>
                  <a:pt x="17566" y="130795"/>
                </a:lnTo>
                <a:lnTo>
                  <a:pt x="0" y="126867"/>
                </a:lnTo>
                <a:close/>
              </a:path>
            </a:pathLst>
          </a:custGeom>
          <a:solidFill>
            <a:srgbClr val="74A5E1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68" name="case.shutters.open.11"/>
          <p:cNvSpPr/>
          <p:nvPr/>
        </p:nvSpPr>
        <p:spPr>
          <a:xfrm>
            <a:off x="10353675" y="5362561"/>
            <a:ext cx="1095467" cy="893013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15010" h="108876">
                <a:moveTo>
                  <a:pt x="86693" y="0"/>
                </a:moveTo>
                <a:lnTo>
                  <a:pt x="115010" y="25341"/>
                </a:lnTo>
                <a:lnTo>
                  <a:pt x="13413" y="108876"/>
                </a:lnTo>
                <a:lnTo>
                  <a:pt x="0" y="96873"/>
                </a:lnTo>
                <a:close/>
              </a:path>
            </a:pathLst>
          </a:custGeom>
          <a:solidFill>
            <a:srgbClr val="BDD5F1"/>
          </a:solidFill>
          <a:ln w="9843">
            <a:solidFill>
              <a:srgbClr val="FFFFFF"/>
            </a:solidFill>
            <a:prstDash val="solid"/>
          </a:ln>
        </p:spPr>
      </p:sp>
      <p:sp>
        <p:nvSpPr>
          <p:cNvPr id="69" name="text.68.319"/>
          <p:cNvSpPr txBox="1"/>
          <p:nvPr/>
        </p:nvSpPr>
        <p:spPr>
          <a:xfrm>
            <a:off x="637222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逐步揭示：合拢与展开保持对象对应</a:t>
            </a:r>
            <a:endParaRPr lang="zh-CN"/>
          </a:p>
        </p:txBody>
      </p:sp>
      <p:sp>
        <p:nvSpPr>
          <p:cNvPr id="70" name="footer.rule.475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71" name="footer.label.476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梯形创意参考</a:t>
            </a:r>
            <a:endParaRPr lang="zh-CN"/>
          </a:p>
        </p:txBody>
      </p:sp>
      <p:sp>
        <p:nvSpPr>
          <p:cNvPr id="72" name="footer.page.477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8 / 13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320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321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2.8</a:t>
            </a:r>
            <a:endParaRPr lang="zh-CN"/>
          </a:p>
        </p:txBody>
      </p:sp>
      <p:sp>
        <p:nvSpPr>
          <p:cNvPr id="4" name="header.gradient.322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323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页面与取景</a:t>
            </a:r>
            <a:endParaRPr lang="zh-CN"/>
          </a:p>
        </p:txBody>
      </p:sp>
      <p:sp>
        <p:nvSpPr>
          <p:cNvPr id="6" name="header.library.324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梯形创意图鉴</a:t>
            </a:r>
            <a:endParaRPr lang="zh-CN"/>
          </a:p>
        </p:txBody>
      </p:sp>
      <p:sp>
        <p:nvSpPr>
          <p:cNvPr id="7" name="info.lead.325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326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327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328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斜切分开视觉与解释；折页区分主文与补充；页签定位章节；画框建立前后层次。</a:t>
            </a:r>
            <a:endParaRPr lang="zh-CN"/>
          </a:p>
        </p:txBody>
      </p:sp>
      <p:sp>
        <p:nvSpPr>
          <p:cNvPr id="11" name="comparison.case-frame.1"/>
          <p:cNvSpPr/>
          <p:nvPr/>
        </p:nvSpPr>
        <p:spPr>
          <a:xfrm>
            <a:off x="45720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2" name="text.11.329"/>
          <p:cNvSpPr txBox="1"/>
          <p:nvPr/>
        </p:nvSpPr>
        <p:spPr>
          <a:xfrm>
            <a:off x="55245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29</a:t>
            </a:r>
            <a:endParaRPr lang="zh-CN"/>
          </a:p>
        </p:txBody>
      </p:sp>
      <p:sp>
        <p:nvSpPr>
          <p:cNvPr id="13" name="text.12.330"/>
          <p:cNvSpPr txBox="1"/>
          <p:nvPr/>
        </p:nvSpPr>
        <p:spPr>
          <a:xfrm>
            <a:off x="89535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斜切双区版式</a:t>
            </a:r>
            <a:endParaRPr lang="zh-CN"/>
          </a:p>
        </p:txBody>
      </p:sp>
      <p:sp>
        <p:nvSpPr>
          <p:cNvPr id="14" name="text.13.331"/>
          <p:cNvSpPr txBox="1"/>
          <p:nvPr/>
        </p:nvSpPr>
        <p:spPr>
          <a:xfrm>
            <a:off x="531495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1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S07</a:t>
            </a:r>
            <a:endParaRPr lang="zh-CN"/>
          </a:p>
        </p:txBody>
      </p:sp>
      <p:sp>
        <p:nvSpPr>
          <p:cNvPr id="15" name="case.splitLayout.visual.1"/>
          <p:cNvSpPr/>
          <p:nvPr/>
        </p:nvSpPr>
        <p:spPr>
          <a:xfrm>
            <a:off x="781050" y="2307960"/>
            <a:ext cx="2447925" cy="141896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57000" h="173000">
                <a:moveTo>
                  <a:pt x="0" y="0"/>
                </a:moveTo>
                <a:lnTo>
                  <a:pt x="257000" y="0"/>
                </a:lnTo>
                <a:lnTo>
                  <a:pt x="205000" y="173000"/>
                </a:lnTo>
                <a:lnTo>
                  <a:pt x="0" y="173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6" name="case.splitLayout.explanation.2"/>
          <p:cNvSpPr/>
          <p:nvPr/>
        </p:nvSpPr>
        <p:spPr>
          <a:xfrm>
            <a:off x="2924175" y="2307960"/>
            <a:ext cx="2714625" cy="141896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85000" h="173000">
                <a:moveTo>
                  <a:pt x="52000" y="0"/>
                </a:moveTo>
                <a:lnTo>
                  <a:pt x="285000" y="0"/>
                </a:lnTo>
                <a:lnTo>
                  <a:pt x="285000" y="173000"/>
                </a:lnTo>
                <a:lnTo>
                  <a:pt x="0" y="173000"/>
                </a:lnTo>
                <a:close/>
              </a:path>
            </a:pathLst>
          </a:custGeom>
          <a:solidFill>
            <a:srgbClr val="F2F7FB"/>
          </a:solidFill>
          <a:ln w="0">
            <a:noFill/>
            <a:prstDash val="solid"/>
          </a:ln>
        </p:spPr>
      </p:sp>
      <p:sp>
        <p:nvSpPr>
          <p:cNvPr id="17" name="case.splitLayout.subject.3"/>
          <p:cNvSpPr/>
          <p:nvPr/>
        </p:nvSpPr>
        <p:spPr>
          <a:xfrm>
            <a:off x="1428750" y="2554023"/>
            <a:ext cx="828675" cy="713581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8" name="case.splitLayout.label.4.332"/>
          <p:cNvSpPr txBox="1"/>
          <p:nvPr/>
        </p:nvSpPr>
        <p:spPr>
          <a:xfrm>
            <a:off x="1247775" y="3327135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案例</a:t>
            </a:r>
            <a:endParaRPr lang="zh-CN"/>
          </a:p>
        </p:txBody>
      </p:sp>
      <p:sp>
        <p:nvSpPr>
          <p:cNvPr id="19" name="case.splitLayout.label.5.333"/>
          <p:cNvSpPr txBox="1"/>
          <p:nvPr/>
        </p:nvSpPr>
        <p:spPr>
          <a:xfrm>
            <a:off x="3552825" y="2422922"/>
            <a:ext cx="18573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核心观点</a:t>
            </a:r>
            <a:endParaRPr lang="zh-CN"/>
          </a:p>
        </p:txBody>
      </p:sp>
      <p:sp>
        <p:nvSpPr>
          <p:cNvPr id="20" name="case.splitLayout.label.6.334"/>
          <p:cNvSpPr txBox="1"/>
          <p:nvPr/>
        </p:nvSpPr>
        <p:spPr>
          <a:xfrm>
            <a:off x="3429000" y="286094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斜边引导视线</a:t>
            </a:r>
            <a:endParaRPr lang="zh-CN"/>
          </a:p>
        </p:txBody>
      </p:sp>
      <p:sp>
        <p:nvSpPr>
          <p:cNvPr id="21" name="case.splitLayout.label.7.335"/>
          <p:cNvSpPr txBox="1"/>
          <p:nvPr/>
        </p:nvSpPr>
        <p:spPr>
          <a:xfrm>
            <a:off x="3314700" y="3221831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文字保持水平</a:t>
            </a:r>
            <a:endParaRPr lang="zh-CN"/>
          </a:p>
        </p:txBody>
      </p:sp>
      <p:sp>
        <p:nvSpPr>
          <p:cNvPr id="22" name="text.21.336"/>
          <p:cNvSpPr txBox="1"/>
          <p:nvPr/>
        </p:nvSpPr>
        <p:spPr>
          <a:xfrm>
            <a:off x="60007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页面分区：视觉与解释沿斜边转接</a:t>
            </a:r>
            <a:endParaRPr lang="zh-CN"/>
          </a:p>
        </p:txBody>
      </p:sp>
      <p:sp>
        <p:nvSpPr>
          <p:cNvPr id="23" name="comparison.case-frame.2"/>
          <p:cNvSpPr/>
          <p:nvPr/>
        </p:nvSpPr>
        <p:spPr>
          <a:xfrm>
            <a:off x="6229350" y="18097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24" name="text.23.337"/>
          <p:cNvSpPr txBox="1"/>
          <p:nvPr/>
        </p:nvSpPr>
        <p:spPr>
          <a:xfrm>
            <a:off x="6324600" y="18764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30</a:t>
            </a:r>
            <a:endParaRPr lang="zh-CN"/>
          </a:p>
        </p:txBody>
      </p:sp>
      <p:sp>
        <p:nvSpPr>
          <p:cNvPr id="25" name="text.24.338"/>
          <p:cNvSpPr txBox="1"/>
          <p:nvPr/>
        </p:nvSpPr>
        <p:spPr>
          <a:xfrm>
            <a:off x="6667500" y="18478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侧边折页与书签</a:t>
            </a:r>
            <a:endParaRPr lang="zh-CN"/>
          </a:p>
        </p:txBody>
      </p:sp>
      <p:sp>
        <p:nvSpPr>
          <p:cNvPr id="26" name="text.25.339"/>
          <p:cNvSpPr txBox="1"/>
          <p:nvPr/>
        </p:nvSpPr>
        <p:spPr>
          <a:xfrm>
            <a:off x="11087100" y="19050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2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S03</a:t>
            </a:r>
            <a:endParaRPr lang="zh-CN"/>
          </a:p>
        </p:txBody>
      </p:sp>
      <p:sp>
        <p:nvSpPr>
          <p:cNvPr id="27" name="case.foldedCorner.document.1"/>
          <p:cNvSpPr/>
          <p:nvPr/>
        </p:nvSpPr>
        <p:spPr>
          <a:xfrm>
            <a:off x="7105650" y="2299758"/>
            <a:ext cx="3381375" cy="1418960"/>
          </a:xfrm>
          <a:prstGeom prst="rect">
            <a:avLst/>
          </a:prstGeom>
          <a:solidFill>
            <a:srgbClr val="FFFFFF"/>
          </a:solidFill>
          <a:ln w="10663">
            <a:solidFill>
              <a:srgbClr val="0759BE"/>
            </a:solidFill>
            <a:prstDash val="solid"/>
          </a:ln>
        </p:spPr>
      </p:sp>
      <p:sp>
        <p:nvSpPr>
          <p:cNvPr id="28" name="case.foldedCorner.fold.2"/>
          <p:cNvSpPr/>
          <p:nvPr/>
        </p:nvSpPr>
        <p:spPr>
          <a:xfrm>
            <a:off x="10487025" y="2299758"/>
            <a:ext cx="476250" cy="141896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50000" h="173000">
                <a:moveTo>
                  <a:pt x="0" y="0"/>
                </a:moveTo>
                <a:lnTo>
                  <a:pt x="50000" y="26000"/>
                </a:lnTo>
                <a:lnTo>
                  <a:pt x="50000" y="147000"/>
                </a:lnTo>
                <a:lnTo>
                  <a:pt x="0" y="173000"/>
                </a:lnTo>
                <a:close/>
              </a:path>
            </a:pathLst>
          </a:custGeom>
          <a:solidFill>
            <a:srgbClr val="BDD5F1"/>
          </a:solidFill>
          <a:ln w="10663">
            <a:solidFill>
              <a:srgbClr val="0759BE"/>
            </a:solidFill>
            <a:prstDash val="solid"/>
          </a:ln>
        </p:spPr>
      </p:sp>
      <p:sp>
        <p:nvSpPr>
          <p:cNvPr id="29" name="case.foldedCorner.crease.3"/>
          <p:cNvSpPr/>
          <p:nvPr/>
        </p:nvSpPr>
        <p:spPr>
          <a:xfrm>
            <a:off x="10487025" y="2299758"/>
            <a:ext cx="95" cy="1418960"/>
          </a:xfrm>
          <a:prstGeom prst="line">
            <a:avLst/>
          </a:prstGeom>
          <a:noFill/>
          <a:ln w="8202">
            <a:solidFill>
              <a:srgbClr val="0759BE"/>
            </a:solidFill>
            <a:prstDash val="solid"/>
          </a:ln>
        </p:spPr>
      </p:sp>
      <p:sp>
        <p:nvSpPr>
          <p:cNvPr id="30" name="case.foldedCorner.label.4.340"/>
          <p:cNvSpPr txBox="1"/>
          <p:nvPr/>
        </p:nvSpPr>
        <p:spPr>
          <a:xfrm>
            <a:off x="7343775" y="2404533"/>
            <a:ext cx="2809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研究结论</a:t>
            </a:r>
            <a:endParaRPr lang="zh-CN"/>
          </a:p>
        </p:txBody>
      </p:sp>
      <p:sp>
        <p:nvSpPr>
          <p:cNvPr id="31" name="case.foldedCorner.label.5.341"/>
          <p:cNvSpPr txBox="1"/>
          <p:nvPr/>
        </p:nvSpPr>
        <p:spPr>
          <a:xfrm>
            <a:off x="7343775" y="2877344"/>
            <a:ext cx="2809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关键发现</a:t>
            </a:r>
            <a:endParaRPr lang="zh-CN"/>
          </a:p>
        </p:txBody>
      </p:sp>
      <p:sp>
        <p:nvSpPr>
          <p:cNvPr id="32" name="case.foldedCorner.bodyLine.6"/>
          <p:cNvSpPr/>
          <p:nvPr/>
        </p:nvSpPr>
        <p:spPr>
          <a:xfrm>
            <a:off x="7343775" y="3292210"/>
            <a:ext cx="2781300" cy="82"/>
          </a:xfrm>
          <a:prstGeom prst="line">
            <a:avLst/>
          </a:prstGeom>
          <a:noFill/>
          <a:ln w="13123">
            <a:solidFill>
              <a:srgbClr val="A6B4C0"/>
            </a:solidFill>
            <a:prstDash val="solid"/>
          </a:ln>
        </p:spPr>
      </p:sp>
      <p:sp>
        <p:nvSpPr>
          <p:cNvPr id="33" name="case.foldedCorner.bodyLine.7"/>
          <p:cNvSpPr/>
          <p:nvPr/>
        </p:nvSpPr>
        <p:spPr>
          <a:xfrm>
            <a:off x="7343775" y="3472656"/>
            <a:ext cx="2400300" cy="82"/>
          </a:xfrm>
          <a:prstGeom prst="line">
            <a:avLst/>
          </a:prstGeom>
          <a:noFill/>
          <a:ln w="13123">
            <a:solidFill>
              <a:srgbClr val="A6B4C0"/>
            </a:solidFill>
            <a:prstDash val="solid"/>
          </a:ln>
        </p:spPr>
      </p:sp>
      <p:sp>
        <p:nvSpPr>
          <p:cNvPr id="34" name="case.foldedCorner.label.8.342"/>
          <p:cNvSpPr txBox="1"/>
          <p:nvPr/>
        </p:nvSpPr>
        <p:spPr>
          <a:xfrm>
            <a:off x="10525125" y="2869142"/>
            <a:ext cx="4095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补充</a:t>
            </a:r>
            <a:endParaRPr lang="zh-CN"/>
          </a:p>
        </p:txBody>
      </p:sp>
      <p:sp>
        <p:nvSpPr>
          <p:cNvPr id="35" name="text.34.343"/>
          <p:cNvSpPr txBox="1"/>
          <p:nvPr/>
        </p:nvSpPr>
        <p:spPr>
          <a:xfrm>
            <a:off x="6372225" y="38004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主次分层：侧边折片承载补充材料</a:t>
            </a:r>
            <a:endParaRPr lang="zh-CN"/>
          </a:p>
        </p:txBody>
      </p:sp>
      <p:sp>
        <p:nvSpPr>
          <p:cNvPr id="36" name="comparison.case-frame.3"/>
          <p:cNvSpPr/>
          <p:nvPr/>
        </p:nvSpPr>
        <p:spPr>
          <a:xfrm>
            <a:off x="45720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37" name="text.36.344"/>
          <p:cNvSpPr txBox="1"/>
          <p:nvPr/>
        </p:nvSpPr>
        <p:spPr>
          <a:xfrm>
            <a:off x="55245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31</a:t>
            </a:r>
            <a:endParaRPr lang="zh-CN"/>
          </a:p>
        </p:txBody>
      </p:sp>
      <p:sp>
        <p:nvSpPr>
          <p:cNvPr id="38" name="text.37.345"/>
          <p:cNvSpPr txBox="1"/>
          <p:nvPr/>
        </p:nvSpPr>
        <p:spPr>
          <a:xfrm>
            <a:off x="89535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梯形章节页签</a:t>
            </a:r>
            <a:endParaRPr lang="zh-CN"/>
          </a:p>
        </p:txBody>
      </p:sp>
      <p:sp>
        <p:nvSpPr>
          <p:cNvPr id="39" name="text.38.346"/>
          <p:cNvSpPr txBox="1"/>
          <p:nvPr/>
        </p:nvSpPr>
        <p:spPr>
          <a:xfrm>
            <a:off x="531495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3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S13</a:t>
            </a:r>
            <a:endParaRPr lang="zh-CN"/>
          </a:p>
        </p:txBody>
      </p:sp>
      <p:sp>
        <p:nvSpPr>
          <p:cNvPr id="40" name="case.tabs.content.1"/>
          <p:cNvSpPr/>
          <p:nvPr/>
        </p:nvSpPr>
        <p:spPr>
          <a:xfrm>
            <a:off x="800100" y="5172869"/>
            <a:ext cx="4819650" cy="992452"/>
          </a:xfrm>
          <a:prstGeom prst="rect">
            <a:avLst/>
          </a:prstGeom>
          <a:solidFill>
            <a:srgbClr val="FFFFFF"/>
          </a:solidFill>
          <a:ln w="9843">
            <a:solidFill>
              <a:srgbClr val="0759BE"/>
            </a:solidFill>
            <a:prstDash val="solid"/>
          </a:ln>
        </p:spPr>
      </p:sp>
      <p:sp>
        <p:nvSpPr>
          <p:cNvPr id="41" name="case.tabs.tab.2"/>
          <p:cNvSpPr/>
          <p:nvPr/>
        </p:nvSpPr>
        <p:spPr>
          <a:xfrm>
            <a:off x="752475" y="4705350"/>
            <a:ext cx="1266825" cy="483923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33000" h="59000">
                <a:moveTo>
                  <a:pt x="14630" y="0"/>
                </a:moveTo>
                <a:lnTo>
                  <a:pt x="118370" y="0"/>
                </a:lnTo>
                <a:lnTo>
                  <a:pt x="133000" y="59000"/>
                </a:lnTo>
                <a:lnTo>
                  <a:pt x="0" y="59000"/>
                </a:lnTo>
                <a:close/>
              </a:path>
            </a:pathLst>
          </a:custGeom>
          <a:solidFill>
            <a:srgbClr val="BDD5F1"/>
          </a:solidFill>
          <a:ln w="11483">
            <a:solidFill>
              <a:srgbClr val="FFFFFF"/>
            </a:solidFill>
            <a:prstDash val="solid"/>
          </a:ln>
        </p:spPr>
      </p:sp>
      <p:sp>
        <p:nvSpPr>
          <p:cNvPr id="42" name="case.tabs.label.3.347"/>
          <p:cNvSpPr txBox="1"/>
          <p:nvPr/>
        </p:nvSpPr>
        <p:spPr>
          <a:xfrm>
            <a:off x="819150" y="4799013"/>
            <a:ext cx="11334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背景</a:t>
            </a:r>
            <a:endParaRPr lang="zh-CN"/>
          </a:p>
        </p:txBody>
      </p:sp>
      <p:sp>
        <p:nvSpPr>
          <p:cNvPr id="43" name="case.tabs.tab.4"/>
          <p:cNvSpPr/>
          <p:nvPr/>
        </p:nvSpPr>
        <p:spPr>
          <a:xfrm>
            <a:off x="1962150" y="4705350"/>
            <a:ext cx="1266825" cy="483923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33000" h="59000">
                <a:moveTo>
                  <a:pt x="14630" y="0"/>
                </a:moveTo>
                <a:lnTo>
                  <a:pt x="118370" y="0"/>
                </a:lnTo>
                <a:lnTo>
                  <a:pt x="133000" y="59000"/>
                </a:lnTo>
                <a:lnTo>
                  <a:pt x="0" y="59000"/>
                </a:lnTo>
                <a:close/>
              </a:path>
            </a:pathLst>
          </a:custGeom>
          <a:solidFill>
            <a:srgbClr val="0759BE"/>
          </a:solidFill>
          <a:ln w="11483">
            <a:solidFill>
              <a:srgbClr val="FFFFFF"/>
            </a:solidFill>
            <a:prstDash val="solid"/>
          </a:ln>
        </p:spPr>
      </p:sp>
      <p:sp>
        <p:nvSpPr>
          <p:cNvPr id="44" name="case.tabs.label.5.348"/>
          <p:cNvSpPr txBox="1"/>
          <p:nvPr/>
        </p:nvSpPr>
        <p:spPr>
          <a:xfrm>
            <a:off x="2028825" y="4799013"/>
            <a:ext cx="11334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方法</a:t>
            </a:r>
            <a:endParaRPr lang="zh-CN"/>
          </a:p>
        </p:txBody>
      </p:sp>
      <p:sp>
        <p:nvSpPr>
          <p:cNvPr id="45" name="case.tabs.tab.6"/>
          <p:cNvSpPr/>
          <p:nvPr/>
        </p:nvSpPr>
        <p:spPr>
          <a:xfrm>
            <a:off x="3171825" y="4705350"/>
            <a:ext cx="1266825" cy="483923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33000" h="59000">
                <a:moveTo>
                  <a:pt x="14630" y="0"/>
                </a:moveTo>
                <a:lnTo>
                  <a:pt x="118370" y="0"/>
                </a:lnTo>
                <a:lnTo>
                  <a:pt x="133000" y="59000"/>
                </a:lnTo>
                <a:lnTo>
                  <a:pt x="0" y="59000"/>
                </a:lnTo>
                <a:close/>
              </a:path>
            </a:pathLst>
          </a:custGeom>
          <a:solidFill>
            <a:srgbClr val="BDD5F1"/>
          </a:solidFill>
          <a:ln w="11483">
            <a:solidFill>
              <a:srgbClr val="FFFFFF"/>
            </a:solidFill>
            <a:prstDash val="solid"/>
          </a:ln>
        </p:spPr>
      </p:sp>
      <p:sp>
        <p:nvSpPr>
          <p:cNvPr id="46" name="case.tabs.label.7.349"/>
          <p:cNvSpPr txBox="1"/>
          <p:nvPr/>
        </p:nvSpPr>
        <p:spPr>
          <a:xfrm>
            <a:off x="3238500" y="4799013"/>
            <a:ext cx="11334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结果</a:t>
            </a:r>
            <a:endParaRPr lang="zh-CN"/>
          </a:p>
        </p:txBody>
      </p:sp>
      <p:sp>
        <p:nvSpPr>
          <p:cNvPr id="47" name="case.tabs.tab.8"/>
          <p:cNvSpPr/>
          <p:nvPr/>
        </p:nvSpPr>
        <p:spPr>
          <a:xfrm>
            <a:off x="4381500" y="4705350"/>
            <a:ext cx="1266825" cy="483923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33000" h="59000">
                <a:moveTo>
                  <a:pt x="14630" y="0"/>
                </a:moveTo>
                <a:lnTo>
                  <a:pt x="118370" y="0"/>
                </a:lnTo>
                <a:lnTo>
                  <a:pt x="133000" y="59000"/>
                </a:lnTo>
                <a:lnTo>
                  <a:pt x="0" y="59000"/>
                </a:lnTo>
                <a:close/>
              </a:path>
            </a:pathLst>
          </a:custGeom>
          <a:solidFill>
            <a:srgbClr val="BDD5F1"/>
          </a:solidFill>
          <a:ln w="11483">
            <a:solidFill>
              <a:srgbClr val="FFFFFF"/>
            </a:solidFill>
            <a:prstDash val="solid"/>
          </a:ln>
        </p:spPr>
      </p:sp>
      <p:sp>
        <p:nvSpPr>
          <p:cNvPr id="48" name="case.tabs.label.9.350"/>
          <p:cNvSpPr txBox="1"/>
          <p:nvPr/>
        </p:nvSpPr>
        <p:spPr>
          <a:xfrm>
            <a:off x="4448175" y="4799013"/>
            <a:ext cx="11334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讨论</a:t>
            </a:r>
            <a:endParaRPr lang="zh-CN"/>
          </a:p>
        </p:txBody>
      </p:sp>
      <p:sp>
        <p:nvSpPr>
          <p:cNvPr id="49" name="case.tabs.label.10.351"/>
          <p:cNvSpPr txBox="1"/>
          <p:nvPr/>
        </p:nvSpPr>
        <p:spPr>
          <a:xfrm>
            <a:off x="1104900" y="5327518"/>
            <a:ext cx="4210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第二章：方法设计</a:t>
            </a:r>
            <a:endParaRPr lang="zh-CN"/>
          </a:p>
        </p:txBody>
      </p:sp>
      <p:sp>
        <p:nvSpPr>
          <p:cNvPr id="50" name="case.tabs.label.11.352"/>
          <p:cNvSpPr txBox="1"/>
          <p:nvPr/>
        </p:nvSpPr>
        <p:spPr>
          <a:xfrm>
            <a:off x="1104900" y="5758656"/>
            <a:ext cx="421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当前章节展开主要论证</a:t>
            </a:r>
            <a:endParaRPr lang="zh-CN"/>
          </a:p>
        </p:txBody>
      </p:sp>
      <p:sp>
        <p:nvSpPr>
          <p:cNvPr id="51" name="text.50.353"/>
          <p:cNvSpPr txBox="1"/>
          <p:nvPr/>
        </p:nvSpPr>
        <p:spPr>
          <a:xfrm>
            <a:off x="60007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章节位置：深色页签指认当前内容</a:t>
            </a:r>
            <a:endParaRPr lang="zh-CN"/>
          </a:p>
        </p:txBody>
      </p:sp>
      <p:sp>
        <p:nvSpPr>
          <p:cNvPr id="52" name="comparison.case-frame.4"/>
          <p:cNvSpPr/>
          <p:nvPr/>
        </p:nvSpPr>
        <p:spPr>
          <a:xfrm>
            <a:off x="6229350" y="4248150"/>
            <a:ext cx="5505450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53" name="text.52.354"/>
          <p:cNvSpPr txBox="1"/>
          <p:nvPr/>
        </p:nvSpPr>
        <p:spPr>
          <a:xfrm>
            <a:off x="6324600" y="4314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32</a:t>
            </a:r>
            <a:endParaRPr lang="zh-CN"/>
          </a:p>
        </p:txBody>
      </p:sp>
      <p:sp>
        <p:nvSpPr>
          <p:cNvPr id="54" name="text.53.355"/>
          <p:cNvSpPr txBox="1"/>
          <p:nvPr/>
        </p:nvSpPr>
        <p:spPr>
          <a:xfrm>
            <a:off x="6667500" y="4286250"/>
            <a:ext cx="436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梯形取景与出界</a:t>
            </a:r>
            <a:endParaRPr lang="zh-CN"/>
          </a:p>
        </p:txBody>
      </p:sp>
      <p:sp>
        <p:nvSpPr>
          <p:cNvPr id="55" name="text.54.356"/>
          <p:cNvSpPr txBox="1"/>
          <p:nvPr/>
        </p:nvSpPr>
        <p:spPr>
          <a:xfrm>
            <a:off x="11087100" y="4343400"/>
            <a:ext cx="533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hlinkClick r:id="sourceLink4"/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S06</a:t>
            </a:r>
            <a:endParaRPr lang="zh-CN"/>
          </a:p>
        </p:txBody>
      </p:sp>
      <p:sp>
        <p:nvSpPr>
          <p:cNvPr id="56" name="case.framePop.outer.1"/>
          <p:cNvSpPr/>
          <p:nvPr/>
        </p:nvSpPr>
        <p:spPr>
          <a:xfrm>
            <a:off x="6953250" y="5435335"/>
            <a:ext cx="4057650" cy="72998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26000" h="89000">
                <a:moveTo>
                  <a:pt x="38340" y="0"/>
                </a:moveTo>
                <a:lnTo>
                  <a:pt x="387660" y="0"/>
                </a:lnTo>
                <a:lnTo>
                  <a:pt x="426000" y="89000"/>
                </a:lnTo>
                <a:lnTo>
                  <a:pt x="0" y="89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7" name="case.framePop.inner.2"/>
          <p:cNvSpPr/>
          <p:nvPr/>
        </p:nvSpPr>
        <p:spPr>
          <a:xfrm>
            <a:off x="7058025" y="5509154"/>
            <a:ext cx="3848100" cy="565944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04000" h="69000">
                <a:moveTo>
                  <a:pt x="36360" y="0"/>
                </a:moveTo>
                <a:lnTo>
                  <a:pt x="367640" y="0"/>
                </a:lnTo>
                <a:lnTo>
                  <a:pt x="404000" y="69000"/>
                </a:lnTo>
                <a:lnTo>
                  <a:pt x="0" y="69000"/>
                </a:lnTo>
                <a:close/>
              </a:path>
            </a:pathLst>
          </a:custGeom>
          <a:solidFill>
            <a:srgbClr val="ECF2FA"/>
          </a:solidFill>
          <a:ln w="0">
            <a:noFill/>
            <a:prstDash val="solid"/>
          </a:ln>
        </p:spPr>
      </p:sp>
      <p:sp>
        <p:nvSpPr>
          <p:cNvPr id="58" name="case.framePop.landscape.left.3"/>
          <p:cNvSpPr/>
          <p:nvPr/>
        </p:nvSpPr>
        <p:spPr>
          <a:xfrm>
            <a:off x="7324725" y="5779823"/>
            <a:ext cx="1371600" cy="25426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144000" h="31000">
                <a:moveTo>
                  <a:pt x="37440" y="0"/>
                </a:moveTo>
                <a:lnTo>
                  <a:pt x="106560" y="0"/>
                </a:lnTo>
                <a:lnTo>
                  <a:pt x="144000" y="31000"/>
                </a:lnTo>
                <a:lnTo>
                  <a:pt x="0" y="31000"/>
                </a:lnTo>
                <a:close/>
              </a:path>
            </a:pathLst>
          </a:custGeom>
          <a:solidFill>
            <a:srgbClr val="BDD5F1"/>
          </a:solidFill>
          <a:ln w="0">
            <a:noFill/>
            <a:prstDash val="solid"/>
          </a:ln>
        </p:spPr>
      </p:sp>
      <p:sp>
        <p:nvSpPr>
          <p:cNvPr id="59" name="case.framePop.landscape.right.4"/>
          <p:cNvSpPr/>
          <p:nvPr/>
        </p:nvSpPr>
        <p:spPr>
          <a:xfrm>
            <a:off x="9658350" y="5681398"/>
            <a:ext cx="942975" cy="352690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99000" h="43000">
                <a:moveTo>
                  <a:pt x="23760" y="0"/>
                </a:moveTo>
                <a:lnTo>
                  <a:pt x="75240" y="0"/>
                </a:lnTo>
                <a:lnTo>
                  <a:pt x="99000" y="43000"/>
                </a:lnTo>
                <a:lnTo>
                  <a:pt x="0" y="43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60" name="case.framePop.subject.5"/>
          <p:cNvSpPr/>
          <p:nvPr/>
        </p:nvSpPr>
        <p:spPr>
          <a:xfrm>
            <a:off x="8467725" y="4705350"/>
            <a:ext cx="1028700" cy="951442"/>
          </a:xfrm>
          <a:prstGeom prst="ellipse">
            <a:avLst/>
          </a:prstGeom>
          <a:solidFill>
            <a:srgbClr val="074A9B"/>
          </a:solidFill>
          <a:ln w="0">
            <a:noFill/>
            <a:prstDash val="solid"/>
          </a:ln>
        </p:spPr>
      </p:sp>
      <p:sp>
        <p:nvSpPr>
          <p:cNvPr id="61" name="case.framePop.label.6.357"/>
          <p:cNvSpPr txBox="1"/>
          <p:nvPr/>
        </p:nvSpPr>
        <p:spPr>
          <a:xfrm>
            <a:off x="8543925" y="4975490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成果</a:t>
            </a:r>
            <a:endParaRPr lang="zh-CN"/>
          </a:p>
        </p:txBody>
      </p:sp>
      <p:sp>
        <p:nvSpPr>
          <p:cNvPr id="62" name="case.framePop.label.7.358"/>
          <p:cNvSpPr txBox="1"/>
          <p:nvPr/>
        </p:nvSpPr>
        <p:spPr>
          <a:xfrm>
            <a:off x="7877175" y="5765535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主体越过画框</a:t>
            </a:r>
            <a:endParaRPr lang="zh-CN"/>
          </a:p>
        </p:txBody>
      </p:sp>
      <p:sp>
        <p:nvSpPr>
          <p:cNvPr id="63" name="text.62.359"/>
          <p:cNvSpPr txBox="1"/>
          <p:nvPr/>
        </p:nvSpPr>
        <p:spPr>
          <a:xfrm>
            <a:off x="6372225" y="623887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前后层次：重点对象越过透视画框</a:t>
            </a:r>
            <a:endParaRPr lang="zh-CN"/>
          </a:p>
        </p:txBody>
      </p:sp>
      <p:sp>
        <p:nvSpPr>
          <p:cNvPr id="64" name="footer.rule.478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5" name="footer.label.479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梯形创意参考</a:t>
            </a:r>
            <a:endParaRPr lang="zh-CN"/>
          </a:p>
        </p:txBody>
      </p:sp>
      <p:sp>
        <p:nvSpPr>
          <p:cNvPr id="66" name="footer.page.480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9 / 13</a:t>
            </a:r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360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361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3</a:t>
            </a:r>
            <a:endParaRPr lang="zh-CN"/>
          </a:p>
        </p:txBody>
      </p:sp>
      <p:sp>
        <p:nvSpPr>
          <p:cNvPr id="4" name="header.gradient.362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363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分组与层级的平滑变化</a:t>
            </a:r>
            <a:endParaRPr lang="zh-CN"/>
          </a:p>
        </p:txBody>
      </p:sp>
      <p:sp>
        <p:nvSpPr>
          <p:cNvPr id="6" name="header.library.364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梯形创意图鉴</a:t>
            </a:r>
            <a:endParaRPr lang="zh-CN"/>
          </a:p>
        </p:txBody>
      </p:sp>
      <p:sp>
        <p:nvSpPr>
          <p:cNvPr id="7" name="info.lead.365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366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367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368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同一组三片梯形，改变底边长度后由等宽分组转为层级结构。</a:t>
            </a:r>
            <a:endParaRPr lang="zh-CN"/>
          </a:p>
        </p:txBody>
      </p:sp>
      <p:sp>
        <p:nvSpPr>
          <p:cNvPr id="11" name="morph.panel.explanation"/>
          <p:cNvSpPr/>
          <p:nvPr/>
        </p:nvSpPr>
        <p:spPr>
          <a:xfrm>
            <a:off x="457200" y="1809750"/>
            <a:ext cx="3143250" cy="470535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2" name="morph.panel.diagram"/>
          <p:cNvSpPr/>
          <p:nvPr/>
        </p:nvSpPr>
        <p:spPr>
          <a:xfrm>
            <a:off x="3810000" y="1809750"/>
            <a:ext cx="7924800" cy="470535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3" name="text.12.369"/>
          <p:cNvSpPr txBox="1"/>
          <p:nvPr/>
        </p:nvSpPr>
        <p:spPr>
          <a:xfrm>
            <a:off x="762000" y="2476500"/>
            <a:ext cx="2667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状态 A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24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等宽分组</a:t>
            </a:r>
            <a:endParaRPr lang="zh-CN"/>
          </a:p>
        </p:txBody>
      </p:sp>
      <p:sp>
        <p:nvSpPr>
          <p:cNvPr id="14" name="text.13.370"/>
          <p:cNvSpPr txBox="1"/>
          <p:nvPr/>
        </p:nvSpPr>
        <p:spPr>
          <a:xfrm>
            <a:off x="762000" y="3857625"/>
            <a:ext cx="2667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放映第 10–11 页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18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观察底边宽度的变化</a:t>
            </a:r>
            <a:endParaRPr lang="zh-CN"/>
          </a:p>
        </p:txBody>
      </p:sp>
      <p:sp>
        <p:nvSpPr>
          <p:cNvPr id="15" name="!!trapezoid.level.0"/>
          <p:cNvSpPr/>
          <p:nvPr/>
        </p:nvSpPr>
        <p:spPr>
          <a:xfrm>
            <a:off x="5495925" y="2266950"/>
            <a:ext cx="4000500" cy="80962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20000" h="85000">
                <a:moveTo>
                  <a:pt x="46200" y="0"/>
                </a:moveTo>
                <a:lnTo>
                  <a:pt x="373800" y="0"/>
                </a:lnTo>
                <a:lnTo>
                  <a:pt x="420000" y="85000"/>
                </a:lnTo>
                <a:lnTo>
                  <a:pt x="0" y="85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6" name="!!trapezoid.label.0"/>
          <p:cNvSpPr txBox="1"/>
          <p:nvPr/>
        </p:nvSpPr>
        <p:spPr>
          <a:xfrm>
            <a:off x="5638800" y="2447925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战略目标</a:t>
            </a:r>
            <a:endParaRPr lang="zh-CN"/>
          </a:p>
        </p:txBody>
      </p:sp>
      <p:sp>
        <p:nvSpPr>
          <p:cNvPr id="17" name="!!trapezoid.level.1"/>
          <p:cNvSpPr/>
          <p:nvPr/>
        </p:nvSpPr>
        <p:spPr>
          <a:xfrm>
            <a:off x="5495925" y="3467100"/>
            <a:ext cx="4000500" cy="80962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20000" h="85000">
                <a:moveTo>
                  <a:pt x="46200" y="0"/>
                </a:moveTo>
                <a:lnTo>
                  <a:pt x="373800" y="0"/>
                </a:lnTo>
                <a:lnTo>
                  <a:pt x="420000" y="85000"/>
                </a:lnTo>
                <a:lnTo>
                  <a:pt x="0" y="8500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18" name="!!trapezoid.label.1"/>
          <p:cNvSpPr txBox="1"/>
          <p:nvPr/>
        </p:nvSpPr>
        <p:spPr>
          <a:xfrm>
            <a:off x="5638800" y="3648075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业务流程</a:t>
            </a:r>
            <a:endParaRPr lang="zh-CN"/>
          </a:p>
        </p:txBody>
      </p:sp>
      <p:sp>
        <p:nvSpPr>
          <p:cNvPr id="19" name="!!trapezoid.level.2"/>
          <p:cNvSpPr/>
          <p:nvPr/>
        </p:nvSpPr>
        <p:spPr>
          <a:xfrm>
            <a:off x="5495925" y="4667250"/>
            <a:ext cx="4000500" cy="80962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20000" h="85000">
                <a:moveTo>
                  <a:pt x="46200" y="0"/>
                </a:moveTo>
                <a:lnTo>
                  <a:pt x="373800" y="0"/>
                </a:lnTo>
                <a:lnTo>
                  <a:pt x="420000" y="85000"/>
                </a:lnTo>
                <a:lnTo>
                  <a:pt x="0" y="85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20" name="!!trapezoid.label.2"/>
          <p:cNvSpPr txBox="1"/>
          <p:nvPr/>
        </p:nvSpPr>
        <p:spPr>
          <a:xfrm>
            <a:off x="5638800" y="4848225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数据基础</a:t>
            </a:r>
            <a:endParaRPr lang="zh-CN"/>
          </a:p>
        </p:txBody>
      </p:sp>
      <p:sp>
        <p:nvSpPr>
          <p:cNvPr id="21" name="footer.rule.481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22" name="footer.label.482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梯形创意参考</a:t>
            </a:r>
            <a:endParaRPr lang="zh-CN"/>
          </a:p>
        </p:txBody>
      </p:sp>
      <p:sp>
        <p:nvSpPr>
          <p:cNvPr id="23" name="footer.page.483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10 / 13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374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375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3</a:t>
            </a:r>
            <a:endParaRPr lang="zh-CN"/>
          </a:p>
        </p:txBody>
      </p:sp>
      <p:sp>
        <p:nvSpPr>
          <p:cNvPr id="4" name="header.gradient.376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377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分组与层级的平滑变化</a:t>
            </a:r>
            <a:endParaRPr lang="zh-CN"/>
          </a:p>
        </p:txBody>
      </p:sp>
      <p:sp>
        <p:nvSpPr>
          <p:cNvPr id="6" name="header.library.378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梯形创意图鉴</a:t>
            </a:r>
            <a:endParaRPr lang="zh-CN"/>
          </a:p>
        </p:txBody>
      </p:sp>
      <p:sp>
        <p:nvSpPr>
          <p:cNvPr id="7" name="info.lead.379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380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381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382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同一组三片梯形，改变底边长度后由等宽分组转为层级结构。</a:t>
            </a:r>
            <a:endParaRPr lang="zh-CN"/>
          </a:p>
        </p:txBody>
      </p:sp>
      <p:sp>
        <p:nvSpPr>
          <p:cNvPr id="11" name="morph.panel.explanation"/>
          <p:cNvSpPr/>
          <p:nvPr/>
        </p:nvSpPr>
        <p:spPr>
          <a:xfrm>
            <a:off x="457200" y="1809750"/>
            <a:ext cx="3143250" cy="470535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2" name="morph.panel.diagram"/>
          <p:cNvSpPr/>
          <p:nvPr/>
        </p:nvSpPr>
        <p:spPr>
          <a:xfrm>
            <a:off x="3810000" y="1809750"/>
            <a:ext cx="7924800" cy="470535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3" name="text.12.383"/>
          <p:cNvSpPr txBox="1"/>
          <p:nvPr/>
        </p:nvSpPr>
        <p:spPr>
          <a:xfrm>
            <a:off x="762000" y="2476500"/>
            <a:ext cx="2667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状态 B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24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层级结构</a:t>
            </a:r>
            <a:endParaRPr lang="zh-CN"/>
          </a:p>
        </p:txBody>
      </p:sp>
      <p:sp>
        <p:nvSpPr>
          <p:cNvPr id="14" name="text.13.384"/>
          <p:cNvSpPr txBox="1"/>
          <p:nvPr/>
        </p:nvSpPr>
        <p:spPr>
          <a:xfrm>
            <a:off x="762000" y="3857625"/>
            <a:ext cx="2667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放映第 10–11 页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187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观察底边宽度的变化</a:t>
            </a:r>
            <a:endParaRPr lang="zh-CN"/>
          </a:p>
        </p:txBody>
      </p:sp>
      <p:sp>
        <p:nvSpPr>
          <p:cNvPr id="15" name="!!trapezoid.level.0"/>
          <p:cNvSpPr/>
          <p:nvPr/>
        </p:nvSpPr>
        <p:spPr>
          <a:xfrm>
            <a:off x="6257925" y="2266950"/>
            <a:ext cx="2476500" cy="80962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260000" h="85000">
                <a:moveTo>
                  <a:pt x="47000" y="0"/>
                </a:moveTo>
                <a:lnTo>
                  <a:pt x="213000" y="0"/>
                </a:lnTo>
                <a:lnTo>
                  <a:pt x="260000" y="85000"/>
                </a:lnTo>
                <a:lnTo>
                  <a:pt x="0" y="85000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6" name="!!trapezoid.label.0"/>
          <p:cNvSpPr txBox="1"/>
          <p:nvPr/>
        </p:nvSpPr>
        <p:spPr>
          <a:xfrm>
            <a:off x="6400800" y="2447925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战略目标</a:t>
            </a:r>
            <a:endParaRPr lang="zh-CN"/>
          </a:p>
        </p:txBody>
      </p:sp>
      <p:sp>
        <p:nvSpPr>
          <p:cNvPr id="17" name="!!trapezoid.level.1"/>
          <p:cNvSpPr/>
          <p:nvPr/>
        </p:nvSpPr>
        <p:spPr>
          <a:xfrm>
            <a:off x="5495925" y="3467100"/>
            <a:ext cx="4000500" cy="80962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420000" h="85000">
                <a:moveTo>
                  <a:pt x="47000" y="0"/>
                </a:moveTo>
                <a:lnTo>
                  <a:pt x="373000" y="0"/>
                </a:lnTo>
                <a:lnTo>
                  <a:pt x="420000" y="85000"/>
                </a:lnTo>
                <a:lnTo>
                  <a:pt x="0" y="85000"/>
                </a:lnTo>
                <a:close/>
              </a:path>
            </a:pathLst>
          </a:custGeom>
          <a:solidFill>
            <a:srgbClr val="357BD2"/>
          </a:solidFill>
          <a:ln w="0">
            <a:noFill/>
            <a:prstDash val="solid"/>
          </a:ln>
        </p:spPr>
      </p:sp>
      <p:sp>
        <p:nvSpPr>
          <p:cNvPr id="18" name="!!trapezoid.label.1"/>
          <p:cNvSpPr txBox="1"/>
          <p:nvPr/>
        </p:nvSpPr>
        <p:spPr>
          <a:xfrm>
            <a:off x="5638800" y="3648075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业务流程</a:t>
            </a:r>
            <a:endParaRPr lang="zh-CN"/>
          </a:p>
        </p:txBody>
      </p:sp>
      <p:sp>
        <p:nvSpPr>
          <p:cNvPr id="19" name="!!trapezoid.level.2"/>
          <p:cNvSpPr/>
          <p:nvPr/>
        </p:nvSpPr>
        <p:spPr>
          <a:xfrm>
            <a:off x="4733925" y="4667250"/>
            <a:ext cx="5524500" cy="809625"/>
          </a:xfrm>
          <a:custGeom>
            <a:avLst/>
            <a:gdLst/>
            <a:ahLst/>
            <a:cxnLst>
              <a:cxn ang="16200000">
                <a:pos x="hc" y="0"/>
              </a:cxn>
              <a:cxn ang="10800000">
                <a:pos x="0" y="vc"/>
              </a:cxn>
              <a:cxn ang="5400000">
                <a:pos x="hc" y="h"/>
              </a:cxn>
              <a:cxn ang="0">
                <a:pos x="w" y="vc"/>
              </a:cxn>
            </a:cxnLst>
            <a:rect l="0" t="0" r="w" b="h"/>
            <a:pathLst>
              <a:path w="580000" h="85000">
                <a:moveTo>
                  <a:pt x="47000" y="0"/>
                </a:moveTo>
                <a:lnTo>
                  <a:pt x="533000" y="0"/>
                </a:lnTo>
                <a:lnTo>
                  <a:pt x="580000" y="85000"/>
                </a:lnTo>
                <a:lnTo>
                  <a:pt x="0" y="85000"/>
                </a:lnTo>
                <a:close/>
              </a:path>
            </a:pathLst>
          </a:custGeom>
          <a:solidFill>
            <a:srgbClr val="74A5E1"/>
          </a:solidFill>
          <a:ln w="0">
            <a:noFill/>
            <a:prstDash val="solid"/>
          </a:ln>
        </p:spPr>
      </p:sp>
      <p:sp>
        <p:nvSpPr>
          <p:cNvPr id="20" name="!!trapezoid.label.2"/>
          <p:cNvSpPr txBox="1"/>
          <p:nvPr/>
        </p:nvSpPr>
        <p:spPr>
          <a:xfrm>
            <a:off x="4876800" y="4848225"/>
            <a:ext cx="523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数据基础</a:t>
            </a:r>
            <a:endParaRPr lang="zh-CN"/>
          </a:p>
        </p:txBody>
      </p:sp>
      <p:sp>
        <p:nvSpPr>
          <p:cNvPr id="21" name="footer.rule.484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22" name="footer.label.485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梯形创意参考</a:t>
            </a:r>
            <a:endParaRPr lang="zh-CN"/>
          </a:p>
        </p:txBody>
      </p:sp>
      <p:sp>
        <p:nvSpPr>
          <p:cNvPr id="23" name="footer.page.486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11 / 13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388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389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4.1</a:t>
            </a:r>
            <a:endParaRPr lang="zh-CN"/>
          </a:p>
        </p:txBody>
      </p:sp>
      <p:sp>
        <p:nvSpPr>
          <p:cNvPr id="4" name="header.gradient.390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391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调研来源与延展</a:t>
            </a:r>
            <a:endParaRPr lang="zh-CN"/>
          </a:p>
        </p:txBody>
      </p:sp>
      <p:sp>
        <p:nvSpPr>
          <p:cNvPr id="6" name="header.library.392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梯形创意图鉴</a:t>
            </a:r>
            <a:endParaRPr lang="zh-CN"/>
          </a:p>
        </p:txBody>
      </p:sp>
      <p:sp>
        <p:nvSpPr>
          <p:cNvPr id="7" name="info.lead.393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394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395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396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本册参考14个设计来源及2份微软说明。标题可点击；每例备注说明借鉴与延展的范围。</a:t>
            </a:r>
            <a:endParaRPr lang="zh-CN"/>
          </a:p>
        </p:txBody>
      </p:sp>
      <p:sp>
        <p:nvSpPr>
          <p:cNvPr id="11" name="sources.panel.left"/>
          <p:cNvSpPr/>
          <p:nvPr/>
        </p:nvSpPr>
        <p:spPr>
          <a:xfrm>
            <a:off x="457200" y="1809750"/>
            <a:ext cx="5505450" cy="470535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2" name="sources.panel.right"/>
          <p:cNvSpPr/>
          <p:nvPr/>
        </p:nvSpPr>
        <p:spPr>
          <a:xfrm>
            <a:off x="6229350" y="1809750"/>
            <a:ext cx="5505450" cy="470535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3" name="text.12.397"/>
          <p:cNvSpPr txBox="1"/>
          <p:nvPr/>
        </p:nvSpPr>
        <p:spPr>
          <a:xfrm>
            <a:off x="666750" y="20193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1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S01　梯形聚光灯</a:t>
            </a:r>
            <a:endParaRPr lang="zh-CN"/>
          </a:p>
        </p:txBody>
      </p:sp>
      <p:sp>
        <p:nvSpPr>
          <p:cNvPr id="14" name="text.13.398"/>
          <p:cNvSpPr txBox="1"/>
          <p:nvPr/>
        </p:nvSpPr>
        <p:spPr>
          <a:xfrm>
            <a:off x="666750" y="24193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</p:txBody>
      </p:sp>
      <p:sp>
        <p:nvSpPr>
          <p:cNvPr id="15" name="text.14.399"/>
          <p:cNvSpPr txBox="1"/>
          <p:nvPr/>
        </p:nvSpPr>
        <p:spPr>
          <a:xfrm>
            <a:off x="666750" y="27051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www.presentation-process.com</a:t>
            </a:r>
            <a:endParaRPr lang="zh-CN"/>
          </a:p>
        </p:txBody>
      </p:sp>
      <p:sp>
        <p:nvSpPr>
          <p:cNvPr id="16" name="text.15.400"/>
          <p:cNvSpPr txBox="1"/>
          <p:nvPr/>
        </p:nvSpPr>
        <p:spPr>
          <a:xfrm>
            <a:off x="666750" y="30861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2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S02　梯形购物袋</a:t>
            </a:r>
            <a:endParaRPr lang="zh-CN"/>
          </a:p>
        </p:txBody>
      </p:sp>
      <p:sp>
        <p:nvSpPr>
          <p:cNvPr id="17" name="text.16.401"/>
          <p:cNvSpPr txBox="1"/>
          <p:nvPr/>
        </p:nvSpPr>
        <p:spPr>
          <a:xfrm>
            <a:off x="666750" y="34861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</p:txBody>
      </p:sp>
      <p:sp>
        <p:nvSpPr>
          <p:cNvPr id="18" name="text.17.402"/>
          <p:cNvSpPr txBox="1"/>
          <p:nvPr/>
        </p:nvSpPr>
        <p:spPr>
          <a:xfrm>
            <a:off x="666750" y="37719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www.presentation-process.com</a:t>
            </a:r>
            <a:endParaRPr lang="zh-CN"/>
          </a:p>
        </p:txBody>
      </p:sp>
      <p:sp>
        <p:nvSpPr>
          <p:cNvPr id="19" name="text.18.403"/>
          <p:cNvSpPr txBox="1"/>
          <p:nvPr/>
        </p:nvSpPr>
        <p:spPr>
          <a:xfrm>
            <a:off x="666750" y="41529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3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S03　梯形折纸边角</a:t>
            </a:r>
            <a:endParaRPr lang="zh-CN"/>
          </a:p>
        </p:txBody>
      </p:sp>
      <p:sp>
        <p:nvSpPr>
          <p:cNvPr id="20" name="text.19.404"/>
          <p:cNvSpPr txBox="1"/>
          <p:nvPr/>
        </p:nvSpPr>
        <p:spPr>
          <a:xfrm>
            <a:off x="666750" y="45529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</p:txBody>
      </p:sp>
      <p:sp>
        <p:nvSpPr>
          <p:cNvPr id="21" name="text.20.405"/>
          <p:cNvSpPr txBox="1"/>
          <p:nvPr/>
        </p:nvSpPr>
        <p:spPr>
          <a:xfrm>
            <a:off x="666750" y="48387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www.presentation-process.com</a:t>
            </a:r>
            <a:endParaRPr lang="zh-CN"/>
          </a:p>
        </p:txBody>
      </p:sp>
      <p:sp>
        <p:nvSpPr>
          <p:cNvPr id="22" name="text.21.406"/>
          <p:cNvSpPr txBox="1"/>
          <p:nvPr/>
        </p:nvSpPr>
        <p:spPr>
          <a:xfrm>
            <a:off x="666750" y="52197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4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S04　梯形螺旋桨</a:t>
            </a:r>
            <a:endParaRPr lang="zh-CN"/>
          </a:p>
        </p:txBody>
      </p:sp>
      <p:sp>
        <p:nvSpPr>
          <p:cNvPr id="23" name="text.22.407"/>
          <p:cNvSpPr txBox="1"/>
          <p:nvPr/>
        </p:nvSpPr>
        <p:spPr>
          <a:xfrm>
            <a:off x="666750" y="56197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</p:txBody>
      </p:sp>
      <p:sp>
        <p:nvSpPr>
          <p:cNvPr id="24" name="text.23.408"/>
          <p:cNvSpPr txBox="1"/>
          <p:nvPr/>
        </p:nvSpPr>
        <p:spPr>
          <a:xfrm>
            <a:off x="666750" y="59055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www.presentation-process.com</a:t>
            </a:r>
            <a:endParaRPr lang="zh-CN"/>
          </a:p>
        </p:txBody>
      </p:sp>
      <p:sp>
        <p:nvSpPr>
          <p:cNvPr id="25" name="text.24.409"/>
          <p:cNvSpPr txBox="1"/>
          <p:nvPr/>
        </p:nvSpPr>
        <p:spPr>
          <a:xfrm>
            <a:off x="6467475" y="20193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5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S05　梯形透视道路</a:t>
            </a:r>
            <a:endParaRPr lang="zh-CN"/>
          </a:p>
        </p:txBody>
      </p:sp>
      <p:sp>
        <p:nvSpPr>
          <p:cNvPr id="26" name="text.25.410"/>
          <p:cNvSpPr txBox="1"/>
          <p:nvPr/>
        </p:nvSpPr>
        <p:spPr>
          <a:xfrm>
            <a:off x="6467475" y="24193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</p:txBody>
      </p:sp>
      <p:sp>
        <p:nvSpPr>
          <p:cNvPr id="27" name="text.26.411"/>
          <p:cNvSpPr txBox="1"/>
          <p:nvPr/>
        </p:nvSpPr>
        <p:spPr>
          <a:xfrm>
            <a:off x="6467475" y="27051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www.presentation-process.com</a:t>
            </a:r>
            <a:endParaRPr lang="zh-CN"/>
          </a:p>
        </p:txBody>
      </p:sp>
      <p:sp>
        <p:nvSpPr>
          <p:cNvPr id="28" name="text.27.412"/>
          <p:cNvSpPr txBox="1"/>
          <p:nvPr/>
        </p:nvSpPr>
        <p:spPr>
          <a:xfrm>
            <a:off x="6467475" y="30861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6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S06　透视地面</a:t>
            </a:r>
            <a:endParaRPr lang="zh-CN"/>
          </a:p>
        </p:txBody>
      </p:sp>
      <p:sp>
        <p:nvSpPr>
          <p:cNvPr id="29" name="text.28.413"/>
          <p:cNvSpPr txBox="1"/>
          <p:nvPr/>
        </p:nvSpPr>
        <p:spPr>
          <a:xfrm>
            <a:off x="6467475" y="34861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 Process</a:t>
            </a:r>
            <a:endParaRPr lang="zh-CN"/>
          </a:p>
        </p:txBody>
      </p:sp>
      <p:sp>
        <p:nvSpPr>
          <p:cNvPr id="30" name="text.29.414"/>
          <p:cNvSpPr txBox="1"/>
          <p:nvPr/>
        </p:nvSpPr>
        <p:spPr>
          <a:xfrm>
            <a:off x="6467475" y="37719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www.presentation-process.com</a:t>
            </a:r>
            <a:endParaRPr lang="zh-CN"/>
          </a:p>
        </p:txBody>
      </p:sp>
      <p:sp>
        <p:nvSpPr>
          <p:cNvPr id="31" name="text.30.415"/>
          <p:cNvSpPr txBox="1"/>
          <p:nvPr/>
        </p:nvSpPr>
        <p:spPr>
          <a:xfrm>
            <a:off x="6467475" y="41529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7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S07　透视文字框</a:t>
            </a:r>
            <a:endParaRPr lang="zh-CN"/>
          </a:p>
        </p:txBody>
      </p:sp>
      <p:sp>
        <p:nvSpPr>
          <p:cNvPr id="32" name="text.31.416"/>
          <p:cNvSpPr txBox="1"/>
          <p:nvPr/>
        </p:nvSpPr>
        <p:spPr>
          <a:xfrm>
            <a:off x="6467475" y="45529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PresentationGO</a:t>
            </a:r>
            <a:endParaRPr lang="zh-CN"/>
          </a:p>
        </p:txBody>
      </p:sp>
      <p:sp>
        <p:nvSpPr>
          <p:cNvPr id="33" name="text.32.417"/>
          <p:cNvSpPr txBox="1"/>
          <p:nvPr/>
        </p:nvSpPr>
        <p:spPr>
          <a:xfrm>
            <a:off x="6467475" y="48387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www.presentationgo.com</a:t>
            </a:r>
            <a:endParaRPr lang="zh-CN"/>
          </a:p>
        </p:txBody>
      </p:sp>
      <p:sp>
        <p:nvSpPr>
          <p:cNvPr id="34" name="text.33.418"/>
          <p:cNvSpPr txBox="1"/>
          <p:nvPr/>
        </p:nvSpPr>
        <p:spPr>
          <a:xfrm>
            <a:off x="6467475" y="52197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8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S08　六梯形环绕</a:t>
            </a:r>
            <a:endParaRPr lang="zh-CN"/>
          </a:p>
        </p:txBody>
      </p:sp>
      <p:sp>
        <p:nvSpPr>
          <p:cNvPr id="35" name="text.34.419"/>
          <p:cNvSpPr txBox="1"/>
          <p:nvPr/>
        </p:nvSpPr>
        <p:spPr>
          <a:xfrm>
            <a:off x="6467475" y="56197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PresentationGO</a:t>
            </a:r>
            <a:endParaRPr lang="zh-CN"/>
          </a:p>
        </p:txBody>
      </p:sp>
      <p:sp>
        <p:nvSpPr>
          <p:cNvPr id="36" name="text.35.420"/>
          <p:cNvSpPr txBox="1"/>
          <p:nvPr/>
        </p:nvSpPr>
        <p:spPr>
          <a:xfrm>
            <a:off x="6467475" y="59055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www.presentationgo.com</a:t>
            </a:r>
            <a:endParaRPr lang="zh-CN"/>
          </a:p>
        </p:txBody>
      </p:sp>
      <p:sp>
        <p:nvSpPr>
          <p:cNvPr id="37" name="footer.rule.487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38" name="footer.label.488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梯形创意参考</a:t>
            </a:r>
            <a:endParaRPr lang="zh-CN"/>
          </a:p>
        </p:txBody>
      </p:sp>
      <p:sp>
        <p:nvSpPr>
          <p:cNvPr id="39" name="footer.page.489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12 / 13</a:t>
            </a:r>
            <a:endParaRPr 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421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422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4.2</a:t>
            </a:r>
            <a:endParaRPr lang="zh-CN"/>
          </a:p>
        </p:txBody>
      </p:sp>
      <p:sp>
        <p:nvSpPr>
          <p:cNvPr id="4" name="header.gradient.423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424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调研来源与延展</a:t>
            </a:r>
            <a:endParaRPr lang="zh-CN"/>
          </a:p>
        </p:txBody>
      </p:sp>
      <p:sp>
        <p:nvSpPr>
          <p:cNvPr id="6" name="header.library.425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梯形创意图鉴</a:t>
            </a:r>
            <a:endParaRPr lang="zh-CN"/>
          </a:p>
        </p:txBody>
      </p:sp>
      <p:sp>
        <p:nvSpPr>
          <p:cNvPr id="7" name="info.lead.426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427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428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429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本册参考14个设计来源及2份微软说明。标题可点击；每例备注说明借鉴与延展的范围。</a:t>
            </a:r>
            <a:endParaRPr lang="zh-CN"/>
          </a:p>
        </p:txBody>
      </p:sp>
      <p:sp>
        <p:nvSpPr>
          <p:cNvPr id="11" name="sources.panel.left"/>
          <p:cNvSpPr/>
          <p:nvPr/>
        </p:nvSpPr>
        <p:spPr>
          <a:xfrm>
            <a:off x="457200" y="1809750"/>
            <a:ext cx="5505450" cy="470535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2" name="sources.panel.right"/>
          <p:cNvSpPr/>
          <p:nvPr/>
        </p:nvSpPr>
        <p:spPr>
          <a:xfrm>
            <a:off x="6229350" y="1809750"/>
            <a:ext cx="5505450" cy="4705350"/>
          </a:xfrm>
          <a:prstGeom prst="rect">
            <a:avLst/>
          </a:prstGeom>
          <a:solidFill>
            <a:srgbClr val="FFFFFF"/>
          </a:solidFill>
          <a:ln w="11430">
            <a:solidFill>
              <a:srgbClr val="A6B4C0"/>
            </a:solidFill>
            <a:prstDash val="solid"/>
          </a:ln>
        </p:spPr>
      </p:sp>
      <p:sp>
        <p:nvSpPr>
          <p:cNvPr id="13" name="text.12.430"/>
          <p:cNvSpPr txBox="1"/>
          <p:nvPr/>
        </p:nvSpPr>
        <p:spPr>
          <a:xfrm>
            <a:off x="666750" y="20193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1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S09　分段折纸</a:t>
            </a:r>
            <a:endParaRPr lang="zh-CN"/>
          </a:p>
        </p:txBody>
      </p:sp>
      <p:sp>
        <p:nvSpPr>
          <p:cNvPr id="14" name="text.13.431"/>
          <p:cNvSpPr txBox="1"/>
          <p:nvPr/>
        </p:nvSpPr>
        <p:spPr>
          <a:xfrm>
            <a:off x="666750" y="24193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PresentationGO</a:t>
            </a:r>
            <a:endParaRPr lang="zh-CN"/>
          </a:p>
        </p:txBody>
      </p:sp>
      <p:sp>
        <p:nvSpPr>
          <p:cNvPr id="15" name="text.14.432"/>
          <p:cNvSpPr txBox="1"/>
          <p:nvPr/>
        </p:nvSpPr>
        <p:spPr>
          <a:xfrm>
            <a:off x="666750" y="27051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www.presentationgo.com</a:t>
            </a:r>
            <a:endParaRPr lang="zh-CN"/>
          </a:p>
        </p:txBody>
      </p:sp>
      <p:sp>
        <p:nvSpPr>
          <p:cNvPr id="16" name="text.15.433"/>
          <p:cNvSpPr txBox="1"/>
          <p:nvPr/>
        </p:nvSpPr>
        <p:spPr>
          <a:xfrm>
            <a:off x="666750" y="30861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2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S10　透视平台</a:t>
            </a:r>
            <a:endParaRPr lang="zh-CN"/>
          </a:p>
        </p:txBody>
      </p:sp>
      <p:sp>
        <p:nvSpPr>
          <p:cNvPr id="17" name="text.16.434"/>
          <p:cNvSpPr txBox="1"/>
          <p:nvPr/>
        </p:nvSpPr>
        <p:spPr>
          <a:xfrm>
            <a:off x="666750" y="34861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SlideModel</a:t>
            </a:r>
            <a:endParaRPr lang="zh-CN"/>
          </a:p>
        </p:txBody>
      </p:sp>
      <p:sp>
        <p:nvSpPr>
          <p:cNvPr id="18" name="text.17.435"/>
          <p:cNvSpPr txBox="1"/>
          <p:nvPr/>
        </p:nvSpPr>
        <p:spPr>
          <a:xfrm>
            <a:off x="666750" y="37719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slidemodel.com</a:t>
            </a:r>
            <a:endParaRPr lang="zh-CN"/>
          </a:p>
        </p:txBody>
      </p:sp>
      <p:sp>
        <p:nvSpPr>
          <p:cNvPr id="19" name="text.18.436"/>
          <p:cNvSpPr txBox="1"/>
          <p:nvPr/>
        </p:nvSpPr>
        <p:spPr>
          <a:xfrm>
            <a:off x="666750" y="41529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3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S11　桥梁隐喻</a:t>
            </a:r>
            <a:endParaRPr lang="zh-CN"/>
          </a:p>
        </p:txBody>
      </p:sp>
      <p:sp>
        <p:nvSpPr>
          <p:cNvPr id="20" name="text.19.437"/>
          <p:cNvSpPr txBox="1"/>
          <p:nvPr/>
        </p:nvSpPr>
        <p:spPr>
          <a:xfrm>
            <a:off x="666750" y="45529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SlideModel</a:t>
            </a:r>
            <a:endParaRPr lang="zh-CN"/>
          </a:p>
        </p:txBody>
      </p:sp>
      <p:sp>
        <p:nvSpPr>
          <p:cNvPr id="21" name="text.20.438"/>
          <p:cNvSpPr txBox="1"/>
          <p:nvPr/>
        </p:nvSpPr>
        <p:spPr>
          <a:xfrm>
            <a:off x="666750" y="48387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slidemodel.com</a:t>
            </a:r>
            <a:endParaRPr lang="zh-CN"/>
          </a:p>
        </p:txBody>
      </p:sp>
      <p:sp>
        <p:nvSpPr>
          <p:cNvPr id="22" name="text.21.439"/>
          <p:cNvSpPr txBox="1"/>
          <p:nvPr/>
        </p:nvSpPr>
        <p:spPr>
          <a:xfrm>
            <a:off x="666750" y="52197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4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S12　打开的书</a:t>
            </a:r>
            <a:endParaRPr lang="zh-CN"/>
          </a:p>
        </p:txBody>
      </p:sp>
      <p:sp>
        <p:nvSpPr>
          <p:cNvPr id="23" name="text.22.440"/>
          <p:cNvSpPr txBox="1"/>
          <p:nvPr/>
        </p:nvSpPr>
        <p:spPr>
          <a:xfrm>
            <a:off x="666750" y="56197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Indezine / Julie Terberg</a:t>
            </a:r>
            <a:endParaRPr lang="zh-CN"/>
          </a:p>
        </p:txBody>
      </p:sp>
      <p:sp>
        <p:nvSpPr>
          <p:cNvPr id="24" name="text.23.441"/>
          <p:cNvSpPr txBox="1"/>
          <p:nvPr/>
        </p:nvSpPr>
        <p:spPr>
          <a:xfrm>
            <a:off x="666750" y="59055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www.indezine.com</a:t>
            </a:r>
            <a:endParaRPr lang="zh-CN"/>
          </a:p>
        </p:txBody>
      </p:sp>
      <p:sp>
        <p:nvSpPr>
          <p:cNvPr id="25" name="text.24.442"/>
          <p:cNvSpPr txBox="1"/>
          <p:nvPr/>
        </p:nvSpPr>
        <p:spPr>
          <a:xfrm>
            <a:off x="6467475" y="20193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5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S13　梯形页签</a:t>
            </a:r>
            <a:endParaRPr lang="zh-CN"/>
          </a:p>
        </p:txBody>
      </p:sp>
      <p:sp>
        <p:nvSpPr>
          <p:cNvPr id="26" name="text.25.443"/>
          <p:cNvSpPr txBox="1"/>
          <p:nvPr/>
        </p:nvSpPr>
        <p:spPr>
          <a:xfrm>
            <a:off x="6467475" y="24193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Lea Verou</a:t>
            </a:r>
            <a:endParaRPr lang="zh-CN"/>
          </a:p>
        </p:txBody>
      </p:sp>
      <p:sp>
        <p:nvSpPr>
          <p:cNvPr id="27" name="text.26.444"/>
          <p:cNvSpPr txBox="1"/>
          <p:nvPr/>
        </p:nvSpPr>
        <p:spPr>
          <a:xfrm>
            <a:off x="6467475" y="27051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lea.verou.me</a:t>
            </a:r>
            <a:endParaRPr lang="zh-CN"/>
          </a:p>
        </p:txBody>
      </p:sp>
      <p:sp>
        <p:nvSpPr>
          <p:cNvPr id="28" name="text.27.445"/>
          <p:cNvSpPr txBox="1"/>
          <p:nvPr/>
        </p:nvSpPr>
        <p:spPr>
          <a:xfrm>
            <a:off x="6467475" y="30861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6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S14　分段漏斗</a:t>
            </a:r>
            <a:endParaRPr lang="zh-CN"/>
          </a:p>
        </p:txBody>
      </p:sp>
      <p:sp>
        <p:nvSpPr>
          <p:cNvPr id="29" name="text.28.446"/>
          <p:cNvSpPr txBox="1"/>
          <p:nvPr/>
        </p:nvSpPr>
        <p:spPr>
          <a:xfrm>
            <a:off x="6467475" y="34861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ShapeChef / Andreas</a:t>
            </a:r>
            <a:endParaRPr lang="zh-CN"/>
          </a:p>
        </p:txBody>
      </p:sp>
      <p:sp>
        <p:nvSpPr>
          <p:cNvPr id="30" name="text.29.447"/>
          <p:cNvSpPr txBox="1"/>
          <p:nvPr/>
        </p:nvSpPr>
        <p:spPr>
          <a:xfrm>
            <a:off x="6467475" y="37719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www.shapechef.com</a:t>
            </a:r>
            <a:endParaRPr lang="zh-CN"/>
          </a:p>
        </p:txBody>
      </p:sp>
      <p:sp>
        <p:nvSpPr>
          <p:cNvPr id="31" name="text.30.448"/>
          <p:cNvSpPr txBox="1"/>
          <p:nvPr/>
        </p:nvSpPr>
        <p:spPr>
          <a:xfrm>
            <a:off x="6467475" y="41529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7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S15　合并形状与编辑顶点</a:t>
            </a:r>
            <a:endParaRPr lang="zh-CN"/>
          </a:p>
        </p:txBody>
      </p:sp>
      <p:sp>
        <p:nvSpPr>
          <p:cNvPr id="32" name="text.31.449"/>
          <p:cNvSpPr txBox="1"/>
          <p:nvPr/>
        </p:nvSpPr>
        <p:spPr>
          <a:xfrm>
            <a:off x="6467475" y="45529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 Support</a:t>
            </a:r>
            <a:endParaRPr lang="zh-CN"/>
          </a:p>
        </p:txBody>
      </p:sp>
      <p:sp>
        <p:nvSpPr>
          <p:cNvPr id="33" name="text.32.450"/>
          <p:cNvSpPr txBox="1"/>
          <p:nvPr/>
        </p:nvSpPr>
        <p:spPr>
          <a:xfrm>
            <a:off x="6467475" y="48387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support.microsoft.com</a:t>
            </a:r>
            <a:endParaRPr lang="zh-CN"/>
          </a:p>
        </p:txBody>
      </p:sp>
      <p:sp>
        <p:nvSpPr>
          <p:cNvPr id="34" name="text.33.451"/>
          <p:cNvSpPr txBox="1"/>
          <p:nvPr/>
        </p:nvSpPr>
        <p:spPr>
          <a:xfrm>
            <a:off x="6467475" y="52197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hlinkClick r:id="sourceLink8"/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S16　平滑转场与对象匹配</a:t>
            </a:r>
            <a:endParaRPr lang="zh-CN"/>
          </a:p>
        </p:txBody>
      </p:sp>
      <p:sp>
        <p:nvSpPr>
          <p:cNvPr id="35" name="text.34.452"/>
          <p:cNvSpPr txBox="1"/>
          <p:nvPr/>
        </p:nvSpPr>
        <p:spPr>
          <a:xfrm>
            <a:off x="6467475" y="56197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 Support</a:t>
            </a:r>
            <a:endParaRPr lang="zh-CN"/>
          </a:p>
        </p:txBody>
      </p:sp>
      <p:sp>
        <p:nvSpPr>
          <p:cNvPr id="36" name="text.35.453"/>
          <p:cNvSpPr txBox="1"/>
          <p:nvPr/>
        </p:nvSpPr>
        <p:spPr>
          <a:xfrm>
            <a:off x="6467475" y="59055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support.microsoft.com</a:t>
            </a:r>
            <a:endParaRPr lang="zh-CN"/>
          </a:p>
        </p:txBody>
      </p:sp>
      <p:sp>
        <p:nvSpPr>
          <p:cNvPr id="37" name="footer.rule.490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38" name="footer.label.491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梯形创意参考</a:t>
            </a:r>
            <a:endParaRPr lang="zh-CN"/>
          </a:p>
        </p:txBody>
      </p:sp>
      <p:sp>
        <p:nvSpPr>
          <p:cNvPr id="39" name="footer.page.492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13 / 13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